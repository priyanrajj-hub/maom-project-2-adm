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537b51c-ab81-25b8-ee00-03157f0bcb92}">
          <p14:sldIdLst>
            <p14:sldId id="256"/>
            <p14:sldId id="257"/>
            <p14:sldId id="258"/>
            <p14:sldId id="259"/>
          </p14:sldIdLst>
        </p14:section>
        <p14:section name="Lesson" id="{a431071e-0109-7b37-262b-b21608005ee6}">
          <p14:sldIdLst>
            <p14:sldId id="260"/>
            <p14:sldId id="261"/>
            <p14:sldId id="262"/>
            <p14:sldId id="263"/>
            <p14:sldId id="264"/>
            <p14:sldId id="265"/>
          </p14:sldIdLst>
        </p14:section>
        <p14:section name="Key facts" id="{539b9bbf-5cdf-7c1e-fef0-fb62b1a0aac7}">
          <p14:sldIdLst>
            <p14:sldId id="266"/>
            <p14:sldId id="267"/>
            <p14:sldId id="268"/>
            <p14:sldId id="269"/>
            <p14:sldId id="270"/>
            <p14:sldId id="271"/>
            <p14:sldId id="272"/>
            <p14:sldId id="273"/>
          </p14:sldIdLst>
        </p14:section>
        <p14:section name="Review" id="{bebf3b57-1e50-19e7-d922-ffe455fbb3b1}">
          <p14:sldIdLst>
            <p14:sldId id="274"/>
            <p14:sldId id="275"/>
            <p14:sldId id="276"/>
            <p14:sldId id="277"/>
            <p14:sldId id="278"/>
            <p14:sldId id="279"/>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Teacher's script for the whole chapter (summary):
The chapter asks us to pause and ponder the deeper purpose of our many goals. It first corrects a popular notion: Sanātana Dharma is not against money-making, fame or a good life; it is not against building a flourishing business with branches worldwide. The Taittirīya Upaniṣad prescribes the Avāhanti homa for four things in this order: dhana-prāpti (obtaining wealth), citta-śuddhi (purity of mind), jñāna-prāpti (knowledge) and śiṣya-prāpti (students with whom to share it).
The order matters: money comes first because it is needed to perform karma and even karma yoga and to work for society's well-being; the wealth must then be used so that it leads to a pure mind, and with a pure mind we obtain knowledge, then teach others to preserve the paramparā (tradition). Even having children preserves the paramparā: they extend the parents. The Upaniṣad says 'tato me śriyam āvaha', 'after that bring Lakṣmī to me'; 'after' here means after gaining intelligence, meaning worldly literacy before setting goals, because money is dangerous in the hands of an unintelligent person and prosperity to an unwise man causes evil. So one needs knowledge of dharmaśāstra, which tells what to use money for and what not. The book also warns about giving children excess pocket money: they lack the maturity to spend purposefully and may fall into cigarettes, drugs or alcohol, especially under peer pressure and declining moral values. Sanātana Dharma calls for earning and spending through Dharma; treating money as Lakṣmī Devī brings judiciousness. The Vedic view is earning plenty and giving plenty.
Modern success: school excellence, a prestigious university (even Harvard), going abroad, a business, a house; for a poor man, a tea shop, vegetable shop or pushcart. Society reinforces these: parental love equated with school performance, jobs decided by university brand rather than skill, medals and trophies, car emblems, credit-card colours and university crests. We compete rather than collaborate, trample others and forsake togetherness, disregard faith, compassion, love, integrity, politeness, truthfulness and loyalty, cannot accept or manage failure, and treat money, possessions and fame as the only yardsticks. Society then compartmentalises people as prince or pauper.
The Ṛṣis declared four things to achieve: Dharma, Artha, Kāma, Mokṣa, and the book gives the correct sequence: as ordinary humans we have kāma (desire), which should not damage our health: healthy food, thoughts and habits, healthy body, mind and intellect, 'a sound mind in a sound body', the best instrument for action. With this we gain success, fame and money (artha), use it for dharmic purposes, and ultimately reach mokṣa. For now, let mokṣa mean inner independence, peace and happiness: being able to relax and enjoy life. Many people instead drag their lives as a burden, helpless in old age, confined to apartments or care homes, with the past gushing in, the future filled with anxiety and no present. We need to create space within.
Today a graduate of top institutions gets the idea that the goal of life is kāma: fulfil all desires without discernment (big car, house, screens). To get kāma needs artha, and for money people justify any means, calling it 'Dharma these days' (e.g. taking bribes because everyone does). But adharma has consequences: enjoyment, happiness, peace and mokṣa go out the door. Here Mahābhārata becomes relevant: no literary work compares; it exposes every aspect of life and dharma: how to live, what victory and failure are, who you are, what the goal is. It shows that all victories and accomplishments ultimately come to nothing.
Vyāsa summarised the Itihāsa in four closing verses called Bhārata Sāvitrī, traditionally said to give the same benefit as reading the whole Mahābhārata. Meaning: countless fathers, mothers, sons and wives come and go in saṃsāra, an endless flux; there are innumerable reasons to rejoice and as many to fear; the fool suffers daily, the wise stay calm; Vyāsa cries out with raised arms yet no one listens; Dharma leads to Artha and Kāma, yet it is neglected; never abandon Dharma for pleasure, fear, greed or even to save one's life; happiness and sorrow are fleeting, only Dharma and the soul are eternal, and the body that holds the soul is not everlasting.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idea: Sanātana Dharma is not against wealth: the Avāhanti homa lists wealth, purity of mind, knowledge and students in order; the right sequence of goals is kāma (healthy desire) → artha → dharma → mokṣa (inner peace), and Vyāsa's four Bhārata Sāvitrī verses sum up the Itihāsa: never give up Dharma.
Full chapter summary:
The chapter asks us to pause and ponder the deeper purpose of our many goals. It first corrects a popular notion: Sanātana Dharma is not against money-making, fame or a good life; it is not against building a flourishing business with branches worldwide. The Taittirīya Upaniṣad prescribes the Avāhanti homa for four things in this order: dhana-prāpti (obtaining wealth), citta-śuddhi (purity of mind), jñāna-prāpti (knowledge) and śiṣya-prāpti (students with whom to share it).
The order matters: money comes first because it is needed to perform karma and even karma yoga and to work for society's well-being; the wealth must then be used so that it leads to a pure mind, and with a pure mind we obtain knowledge, then teach others to preserve the paramparā (tradition). Even having children preserves the paramparā: they extend the parents. The Upaniṣad says 'tato me śriyam āvaha', 'after that bring Lakṣmī to me'; 'after' here means after gaining intelligence, meaning worldly literacy before setting goals, because money is dangerous in the hands of an unintelligent person and prosperity to an unwise man causes evil. So one needs knowledge of dharmaśāstra, which tells what to use money for and what not. The book also warns about giving children excess pocket money: they lack the maturity to spend purposefully and may fall into cigarettes, drugs or alcohol, especially under peer pressure and declining moral values. Sanātana Dharma calls for earning and spending through Dharma; treating money as Lakṣmī Devī brings judiciousness. The Vedic view is earning plenty and giving plenty.
Modern success: school excellence, a prestigious university (even Harvard), going abroad, a business, a house; for a poor man, a tea shop, vegetable shop or pushcart. Society reinforces these: parental love equated with school performance, jobs decided by university brand rather than skill, medals and trophies, car emblems, credit-card colours and university crests. We compete rather than collaborate, trample others and forsake togetherness, disregard faith, compassion, love, integrity, politeness, truthfulness and loyalty, cannot accept or manage failure, and treat money, possessions and fame as the only yardsticks. Society then compartmentalises people as prince or pauper.
The Ṛṣis declared four things to achieve: Dharma, Artha, Kāma, Mokṣa, and the book gives the correct sequence: as ordinary humans we have kāma (desire), which should not damage our health: healthy food, thoughts and habits, healthy body, mind and intellect, 'a sound mind in a sound body', the best instrument for action. With this we gain success, fame and money (artha), use it for dharmic purposes, and ultimately reach mokṣa. For now, let mokṣa mean inner independence, peace and happiness: being able to relax and enjoy life. Many people instead drag their lives as a burden, helpless in old age, confined to apartments or care homes, with the past gushing in, the future filled with anxiety and no present. We need to create space within.
Today a graduate of top institutions gets the idea that the goal of life is kāma: fulfil all desires without discernment (big car, house, screens). To get kāma needs artha, and for money people justify any means, calling it 'Dharma these days' (e.g. taking bribes because everyone does). But adharma has consequences: enjoyment, happiness, peace and mokṣa go out the door. Here Mahābhārata becomes relevant: no literary work compares; it exposes every aspect of life and dharma: how to live, what victory and failure are, who you are, what the goal is. It shows that all victories and accomplishments ultimately come to nothing.
Vyāsa summarised the Itihāsa in four closing verses called Bhārata Sāvitrī, traditionally said to give the same benefit as reading the whole Mahābhārata. Meaning: countless fathers, mothers, sons and wives come and go in saṃsāra, an endless flux; there are innumerable reasons to rejoice and as many to fear; the fool suffers daily, the wise stay calm; Vyāsa cries out with raised arms yet no one listens; Dharma leads to Artha and Kāma, yet it is neglected; never abandon Dharma for pleasure, fear, greed or even to save one's life; happiness and sorrow are fleeting, only Dharma and the soul are eternal, and the body that holds the soul is not everlasting.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 minutes (think-pair-share) before revealing.
Model answer: No. The Avāhanti homa in the Taittirīya Upaniṣad seeks wealth, purity of mind, knowledge and students, in that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storyline of the chapter in this order. Each numbered box is one teaching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Wealth and Sanātana Dharma
- Misconception: Dharma opposes wealth, fame, business. Reality: not against any of them.
- Avāhanti homa (Taittirīya Upaniṣad) for 4 things in order: 1 dhana-prāpti, 2 citta-śuddhi, 3 jñāna-prāpti, 4 śiṣya-prāpti.
- Why money first: needed for karma, karma yoga, and social well-being.
Check for understanding: Is Sanātana Dharma against wealth? Explain with the Avāhanti homa.
Model answer: No. The Avāhanti homa in the Taittirīya Upaniṣad seeks wealth, purity of mind, knowledge and students, in that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Order and purpose
- Wealth → pure mind → knowledge → teach to preserve paramparā (children also preserve paramparā).
- 'Tato me śriyam āvaha': wealth after intelligence (worldly literacy).
- Money is dangerous for the unintelligent; need dharmaśāstra to know uses.
- Pocket money warning: excess leads to cigarettes, drugs, alcohol; Lakṣmī Devī view brings judiciousness; earn plenty, give plenty.
Check for understanding: Why is wealth mentioned first in the Avāhanti homa?
Model answer: Money is needed to perform karma and even karma yoga and to work for society's well-being.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Modern ideas of success
- Top university, going abroad, business, house; poor man's dream: tea shop, vegetable shop, pushcart.
- Parental love tied to school performance; university brand over skill; medals, car emblems, card colours.
- Outcome: compete not collaborate; neglect faith, compassion, love, integrity, politeness, truthfulness, loyalty; cannot handle failure; prince vs pauper labels.
Check for understanding: What does 'tato me śriyam āvaha' signify?
Model answer: Lakṣmī should be brought after gaining intelligence, because prosperity to the unwise causes evil; one should know dharmaśāstra on how to use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 The correct sequence
- Kāma (desire) kept healthy: sound mind in sound body.
- Artha: success, fame, money from a sound instrument.
- Dharma: use wealth for dharmic purposes.
- Mokṣa: for now inner independence, peace, happiness.
- Opposite today: dragging life as a burden; old age in flat or care home; past gushes, future anxious, no present.
Check for understanding: What does the chapter caution about pocket money for children?
Model answer: Excess money without maturity may lead to harmful habits such as smoking, drugs and alcohol; Dharma teaches earning and spending judiciously.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Where society goes wrong
- Graduates think the goal is Kāma (big car, house, screens) without discernment.
- Justify any means: bribes 'are Dharma these days'.
- Adharma's consequence: enjoyment, happiness, peace, mokṣa lost.
Check for understanding: How does the chapter criticise modern notions of success?
Model answer: Success is tied to degrees, brands, titles and possessions, promoting competition over collaboration and neglect of faith, compassion, integrity and truthfulness.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 Mahābhārata's answer: Bhārata Sāvitrī
- MB teaches how to live, victory, failure, who you are, the goal; worldly wins amount to nothing.
- Bhārata Sāvitrī = 4 closing verses; reading = benefit of whole MB.
- Message: people come and go; joys and fears abound; Vyāsa cries out; Dharma yields Artha and Kāma; never abandon Dharma; Dharma and soul eternal; body not.
Check for understanding: State the correct sequence of life goals given by the chapter.
Model answer: Healthy kāma, then artha earned through a sound body and mind, used for dharma, leading to mokṣa as inner independence and peace.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explain each term in their own words before showing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explain each term in their own words before showing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memorise these figures; they are frequently asked in exams.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each name on the map of the story; ask who/what/why.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Sanskrit aloud slowly; students repeat; then discuss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Sanskrit aloud slowly; students repeat; then discuss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for a compare-and-contrast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for a compare-and-contrast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revision sheet: ask students to redraw it from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invent their own mnemonics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No. The Avāhanti homa in the Taittirīya Upaniṣad seeks wealth, purity of mind, knowledge and students, in that order.
Q2. Money is needed to perform karma and even karma yoga and to work for society's well-being.
Q3. Lakṣmī should be brought after gaining intelligence, because prosperity to the unwise causes evil; one should know dharmaśāstra on how to use money.
Q4. Excess money without maturity may lead to harmful habits such as smoking, drugs and alcohol; Dharma teaches earning and spending judiciously.
Q5. Success is tied to degrees, brands, titles and possessions, promoting competition over collaboration and neglect of faith, compassion, integrity and truthfulness.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Q6. Healthy kāma, then artha earned through a sound body and mind, used for dharma, leading to mokṣa as inner independence and peace.
Q7. Desires are pursued without discernment, ends justify means (e.g. bribery called Dharma), and happiness, peace and mokṣa are lost.
Q8. Four closing verses by Vyāsa summarising Mahābhārata; reading them is said to give the benefit of the whole epic.
Q9. People and relationships come and go; joys and fears abound; Dharma leads to artha and kāma; never abandon Dharma for desire, fear, greed or life; happiness and sorrow are transient while Dharma and the soul are eternal.
Q10. It addresses how to live, what victory and failure are, who we are and the goal, showing that worldly accomplishments ultimately count for nothing without Dharma.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left part aloud; students answer; reveal the right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warm-up question and let students answer it now.
Model answer: No. The Avāhanti homa in the Taittirīya Upaniṣad seeks wealth, purity of mind, knowledge and students, in that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2B0F1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4828032"/>
            <a:ext cx="6858000" cy="228600"/>
          </a:xfrm>
          <a:prstGeom prst="rect">
            <a:avLst/>
          </a:prstGeom>
          <a:noFill/>
          <a:ln/>
        </p:spPr>
        <p:txBody>
          <a:bodyPr wrap="square" lIns="0" tIns="0" rIns="0" bIns="0" rtlCol="0" anchor="ctr"/>
          <a:lstStyle/>
          <a:p>
            <a:pPr indent="0" marL="0">
              <a:buNone/>
            </a:pPr>
            <a:r>
              <a:rPr lang="en-US" sz="900" dirty="0">
                <a:solidFill>
                  <a:srgbClr val="9A8A8A"/>
                </a:solidFill>
                <a:latin typeface="Calibri" pitchFamily="34" charset="0"/>
                <a:ea typeface="Calibri" pitchFamily="34" charset="-122"/>
                <a:cs typeface="Calibri" pitchFamily="34" charset="-120"/>
              </a:rPr>
              <a:t>Chapter 15 · The Goal of Life</a:t>
            </a:r>
            <a:endParaRPr lang="en-US" sz="900" dirty="0"/>
          </a:p>
        </p:txBody>
      </p:sp>
      <p:sp>
        <p:nvSpPr>
          <p:cNvPr id="3" name="Text 1"/>
          <p:cNvSpPr/>
          <p:nvPr>
            <p:ph idx="101" type="title" hasCustomPrompt="1"/>
          </p:nvPr>
        </p:nvSpPr>
        <p:spPr>
          <a:xfrm>
            <a:off x="365760" y="201168"/>
            <a:ext cx="8412480" cy="640080"/>
          </a:xfrm>
          <a:prstGeom prst="rect">
            <a:avLst/>
          </a:prstGeom>
          <a:noFill/>
          <a:ln/>
        </p:spPr>
        <p:txBody>
          <a:bodyPr wrap="square" rtlCol="0"/>
          <a:lstStyle>
            <a:lvl1pPr indent="0" marL="0">
              <a:buNone/>
              <a:defRPr lang="en-US" b="1" dirty="0">
                <a:solidFill>
                  <a:srgbClr val="8C2F1B"/>
                </a:solidFill>
                <a:latin typeface="Cambria" pitchFamily="34" charset="0"/>
                <a:ea typeface="Cambria" pitchFamily="34" charset="-122"/>
                <a:cs typeface="Cambria" pitchFamily="34" charset="-120"/>
              </a:defRPr>
            </a:lvl1pPr>
          </a:lstStyle>
          <a:p>
            <a:pPr indent="0" marL="0">
              <a:buNone/>
            </a:pPr>
            <a:endParaRPr lang="en-US"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C">
    <p:bg>
      <p:bgPr>
        <a:solidFill>
          <a:srgbClr val="2B0F1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65760" y="201168"/>
            <a:ext cx="8412480" cy="640080"/>
          </a:xfrm>
          <a:prstGeom prst="rect">
            <a:avLst/>
          </a:prstGeom>
          <a:noFill/>
          <a:ln/>
        </p:spPr>
        <p:txBody>
          <a:bodyPr wrap="square" rtlCol="0"/>
          <a:lstStyle>
            <a:lvl1pPr indent="0" marL="0">
              <a:buNone/>
              <a:defRPr lang="en-US" b="1" dirty="0">
                <a:solidFill>
                  <a:srgbClr val="F2B632"/>
                </a:solidFill>
                <a:latin typeface="Cambria" pitchFamily="34" charset="0"/>
                <a:ea typeface="Cambria" pitchFamily="34" charset="-122"/>
                <a:cs typeface="Cambria" pitchFamily="34" charset="-120"/>
              </a:defRPr>
            </a:lvl1pPr>
          </a:lstStyle>
          <a:p>
            <a:pPr indent="0" marL="0">
              <a:buNone/>
            </a:pPr>
            <a:endParaRPr lang="en-US"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BFA9A9"/>
                </a:solidFill>
                <a:latin typeface="Calibri"/>
                <a:ea typeface="Calibri"/>
                <a:cs typeface="Calibri"/>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 art" descr="/tmp/img/ch15_cover.png">    </p:cNvPr>
          <p:cNvPicPr>
            <a:picLocks noChangeAspect="1"/>
          </p:cNvPicPr>
          <p:nvPr/>
        </p:nvPicPr>
        <p:blipFill>
          <a:blip r:embed="rId1"/>
          <a:stretch>
            <a:fillRect/>
          </a:stretch>
        </p:blipFill>
        <p:spPr>
          <a:xfrm>
            <a:off x="5669280" y="777240"/>
            <a:ext cx="3291840" cy="3291840"/>
          </a:xfrm>
          <a:prstGeom prst="rect">
            <a:avLst/>
          </a:prstGeom>
        </p:spPr>
      </p:pic>
      <p:sp>
        <p:nvSpPr>
          <p:cNvPr id="3" name="Text 0"/>
          <p:cNvSpPr txBox="1"/>
          <p:nvPr/>
        </p:nvSpPr>
        <p:spPr>
          <a:xfrm>
            <a:off x="548640" y="914400"/>
            <a:ext cx="4937760" cy="365760"/>
          </a:xfrm>
          <a:prstGeom prst="rect">
            <a:avLst/>
          </a:prstGeom>
          <a:noFill/>
          <a:ln/>
        </p:spPr>
        <p:txBody>
          <a:bodyPr wrap="square" lIns="0" tIns="0" rIns="0" bIns="0" rtlCol="0" anchor="ctr"/>
          <a:lstStyle/>
          <a:p>
            <a:pPr indent="0" marL="0">
              <a:buNone/>
            </a:pPr>
            <a:r>
              <a:rPr lang="en-US" sz="1600" b="1" spc="600" kern="0" dirty="0">
                <a:solidFill>
                  <a:srgbClr val="F2B632"/>
                </a:solidFill>
                <a:latin typeface="Calibri" pitchFamily="34" charset="0"/>
                <a:ea typeface="Calibri" pitchFamily="34" charset="-122"/>
                <a:cs typeface="Calibri" pitchFamily="34" charset="-120"/>
              </a:rPr>
              <a:t>CHAPTER 15</a:t>
            </a:r>
            <a:endParaRPr lang="en-US" sz="1600" dirty="0"/>
          </a:p>
        </p:txBody>
      </p:sp>
      <p:sp>
        <p:nvSpPr>
          <p:cNvPr id="4" name="Text 1"/>
          <p:cNvSpPr txBox="1"/>
          <p:nvPr/>
        </p:nvSpPr>
        <p:spPr>
          <a:xfrm>
            <a:off x="548640" y="1325880"/>
            <a:ext cx="4937760" cy="173736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The Goal of Life</a:t>
            </a:r>
            <a:endParaRPr lang="en-US" sz="3600" dirty="0"/>
          </a:p>
        </p:txBody>
      </p:sp>
      <p:sp>
        <p:nvSpPr>
          <p:cNvPr id="5" name="Text 2"/>
          <p:cNvSpPr txBox="1"/>
          <p:nvPr/>
        </p:nvSpPr>
        <p:spPr>
          <a:xfrm>
            <a:off x="548640" y="3154680"/>
            <a:ext cx="4937760" cy="320040"/>
          </a:xfrm>
          <a:prstGeom prst="rect">
            <a:avLst/>
          </a:prstGeom>
          <a:noFill/>
          <a:ln/>
        </p:spPr>
        <p:txBody>
          <a:bodyPr wrap="square" lIns="0" tIns="0" rIns="0" bIns="0" rtlCol="0" anchor="ctr"/>
          <a:lstStyle/>
          <a:p>
            <a:pPr indent="0" marL="0">
              <a:buNone/>
            </a:pPr>
            <a:r>
              <a:rPr lang="en-US" sz="1500" i="1" dirty="0">
                <a:solidFill>
                  <a:srgbClr val="F6D9A0"/>
                </a:solidFill>
                <a:latin typeface="Cambria" pitchFamily="34" charset="0"/>
                <a:ea typeface="Cambria" pitchFamily="34" charset="-122"/>
                <a:cs typeface="Cambria" pitchFamily="34" charset="-120"/>
              </a:rPr>
              <a:t>Strategic Lessons from Mahābhārata</a:t>
            </a:r>
            <a:endParaRPr lang="en-US" sz="1500" dirty="0"/>
          </a:p>
        </p:txBody>
      </p:sp>
      <p:sp>
        <p:nvSpPr>
          <p:cNvPr id="6" name="Text 3"/>
          <p:cNvSpPr txBox="1"/>
          <p:nvPr/>
        </p:nvSpPr>
        <p:spPr>
          <a:xfrm>
            <a:off x="548640" y="3520440"/>
            <a:ext cx="4937760" cy="274320"/>
          </a:xfrm>
          <a:prstGeom prst="rect">
            <a:avLst/>
          </a:prstGeom>
          <a:noFill/>
          <a:ln/>
        </p:spPr>
        <p:txBody>
          <a:bodyPr wrap="square" lIns="0" tIns="0" rIns="0" bIns="0" rtlCol="0" anchor="ctr"/>
          <a:lstStyle/>
          <a:p>
            <a:pPr indent="0" marL="0">
              <a:buNone/>
            </a:pPr>
            <a:r>
              <a:rPr lang="en-US" sz="1200" dirty="0">
                <a:solidFill>
                  <a:srgbClr val="CDB8B8"/>
                </a:solidFill>
                <a:latin typeface="Calibri" pitchFamily="34" charset="0"/>
                <a:ea typeface="Calibri" pitchFamily="34" charset="-122"/>
                <a:cs typeface="Calibri" pitchFamily="34" charset="-120"/>
              </a:rPr>
              <a:t>Teaching deck · Book pages 187 to 193</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What students will learn</a:t>
            </a:r>
            <a:endParaRPr lang="en-US" sz="2600" dirty="0"/>
          </a:p>
        </p:txBody>
      </p:sp>
      <p:sp>
        <p:nvSpPr>
          <p:cNvPr id="4" name="Objective card 1"/>
          <p:cNvSpPr/>
          <p:nvPr/>
        </p:nvSpPr>
        <p:spPr>
          <a:xfrm>
            <a:off x="365760" y="1005840"/>
            <a:ext cx="8412480" cy="640080"/>
          </a:xfrm>
          <a:prstGeom prst="roundRect">
            <a:avLst>
              <a:gd name="adj" fmla="val 11429"/>
            </a:avLst>
          </a:prstGeom>
          <a:solidFill>
            <a:srgbClr val="FFF4D6"/>
          </a:solidFill>
          <a:ln w="9525">
            <a:solidFill>
              <a:srgbClr val="EAD9C4"/>
            </a:solidFill>
            <a:prstDash val="solid"/>
          </a:ln>
        </p:spPr>
      </p:sp>
      <p:sp>
        <p:nvSpPr>
          <p:cNvPr id="5" name="Number 1"/>
          <p:cNvSpPr/>
          <p:nvPr/>
        </p:nvSpPr>
        <p:spPr>
          <a:xfrm>
            <a:off x="502920" y="1143000"/>
            <a:ext cx="365760" cy="365760"/>
          </a:xfrm>
          <a:prstGeom prst="ellipse">
            <a:avLst/>
          </a:prstGeom>
          <a:solidFill>
            <a:srgbClr val="8C2F1B"/>
          </a:solidFill>
          <a:ln w="12700">
            <a:solidFill>
              <a:srgbClr val="8C2F1B"/>
            </a:solidFill>
            <a:prstDash val="solid"/>
          </a:ln>
        </p:spPr>
      </p:sp>
      <p:sp>
        <p:nvSpPr>
          <p:cNvPr id="6" name="Text 3"/>
          <p:cNvSpPr txBox="1"/>
          <p:nvPr/>
        </p:nvSpPr>
        <p:spPr>
          <a:xfrm>
            <a:off x="502920" y="11430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4"/>
          <p:cNvSpPr txBox="1"/>
          <p:nvPr/>
        </p:nvSpPr>
        <p:spPr>
          <a:xfrm>
            <a:off x="1005840" y="1005840"/>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Taittirīya Upaniṣad – Avāhanti homa seeks 4 things in order: dhana-prāpti, citta-śuddhi, jñāna-prāpti, śiṣya-prāpti.</a:t>
            </a:r>
            <a:endParaRPr lang="en-US" sz="1400" dirty="0"/>
          </a:p>
        </p:txBody>
      </p:sp>
      <p:sp>
        <p:nvSpPr>
          <p:cNvPr id="8" name="Objective card 2"/>
          <p:cNvSpPr/>
          <p:nvPr/>
        </p:nvSpPr>
        <p:spPr>
          <a:xfrm>
            <a:off x="365760" y="1719072"/>
            <a:ext cx="8412480" cy="640080"/>
          </a:xfrm>
          <a:prstGeom prst="roundRect">
            <a:avLst>
              <a:gd name="adj" fmla="val 11429"/>
            </a:avLst>
          </a:prstGeom>
          <a:solidFill>
            <a:srgbClr val="FFF4D6"/>
          </a:solidFill>
          <a:ln w="9525">
            <a:solidFill>
              <a:srgbClr val="EAD9C4"/>
            </a:solidFill>
            <a:prstDash val="solid"/>
          </a:ln>
        </p:spPr>
      </p:sp>
      <p:sp>
        <p:nvSpPr>
          <p:cNvPr id="9" name="Number 2"/>
          <p:cNvSpPr/>
          <p:nvPr/>
        </p:nvSpPr>
        <p:spPr>
          <a:xfrm>
            <a:off x="502920" y="1856232"/>
            <a:ext cx="365760" cy="365760"/>
          </a:xfrm>
          <a:prstGeom prst="ellipse">
            <a:avLst/>
          </a:prstGeom>
          <a:solidFill>
            <a:srgbClr val="E07B00"/>
          </a:solidFill>
          <a:ln w="12700">
            <a:solidFill>
              <a:srgbClr val="E07B00"/>
            </a:solidFill>
            <a:prstDash val="solid"/>
          </a:ln>
        </p:spPr>
      </p:sp>
      <p:sp>
        <p:nvSpPr>
          <p:cNvPr id="10" name="Text 7"/>
          <p:cNvSpPr txBox="1"/>
          <p:nvPr/>
        </p:nvSpPr>
        <p:spPr>
          <a:xfrm>
            <a:off x="502920" y="18562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8"/>
          <p:cNvSpPr txBox="1"/>
          <p:nvPr/>
        </p:nvSpPr>
        <p:spPr>
          <a:xfrm>
            <a:off x="1005840" y="1719072"/>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'Tato me śriyam āvaha': wealth only after intelligence/dharmaśāstra knowledge – money is dangerous in the hands of the unintelligent.</a:t>
            </a:r>
            <a:endParaRPr lang="en-US" sz="1400" dirty="0"/>
          </a:p>
        </p:txBody>
      </p:sp>
      <p:sp>
        <p:nvSpPr>
          <p:cNvPr id="12" name="Objective card 3"/>
          <p:cNvSpPr/>
          <p:nvPr/>
        </p:nvSpPr>
        <p:spPr>
          <a:xfrm>
            <a:off x="365760" y="2432304"/>
            <a:ext cx="8412480" cy="640080"/>
          </a:xfrm>
          <a:prstGeom prst="roundRect">
            <a:avLst>
              <a:gd name="adj" fmla="val 11429"/>
            </a:avLst>
          </a:prstGeom>
          <a:solidFill>
            <a:srgbClr val="FFF4D6"/>
          </a:solidFill>
          <a:ln w="9525">
            <a:solidFill>
              <a:srgbClr val="EAD9C4"/>
            </a:solidFill>
            <a:prstDash val="solid"/>
          </a:ln>
        </p:spPr>
      </p:sp>
      <p:sp>
        <p:nvSpPr>
          <p:cNvPr id="13" name="Number 3"/>
          <p:cNvSpPr/>
          <p:nvPr/>
        </p:nvSpPr>
        <p:spPr>
          <a:xfrm>
            <a:off x="502920" y="2569464"/>
            <a:ext cx="365760" cy="365760"/>
          </a:xfrm>
          <a:prstGeom prst="ellipse">
            <a:avLst/>
          </a:prstGeom>
          <a:solidFill>
            <a:srgbClr val="2E7D32"/>
          </a:solidFill>
          <a:ln w="12700">
            <a:solidFill>
              <a:srgbClr val="2E7D32"/>
            </a:solidFill>
            <a:prstDash val="solid"/>
          </a:ln>
        </p:spPr>
      </p:sp>
      <p:sp>
        <p:nvSpPr>
          <p:cNvPr id="14" name="Text 11"/>
          <p:cNvSpPr txBox="1"/>
          <p:nvPr/>
        </p:nvSpPr>
        <p:spPr>
          <a:xfrm>
            <a:off x="502920" y="25694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5" name="Text 12"/>
          <p:cNvSpPr txBox="1"/>
          <p:nvPr/>
        </p:nvSpPr>
        <p:spPr>
          <a:xfrm>
            <a:off x="1005840" y="2432304"/>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Correct sequence: Kāma (healthy) → Artha → Dharma → Mokṣa (inner independence, peace); today the goal is just Kāma with ends justified.</a:t>
            </a:r>
            <a:endParaRPr lang="en-US" sz="1400" dirty="0"/>
          </a:p>
        </p:txBody>
      </p:sp>
      <p:sp>
        <p:nvSpPr>
          <p:cNvPr id="16" name="Objective card 4"/>
          <p:cNvSpPr/>
          <p:nvPr/>
        </p:nvSpPr>
        <p:spPr>
          <a:xfrm>
            <a:off x="365760" y="3145536"/>
            <a:ext cx="8412480" cy="640080"/>
          </a:xfrm>
          <a:prstGeom prst="roundRect">
            <a:avLst>
              <a:gd name="adj" fmla="val 11429"/>
            </a:avLst>
          </a:prstGeom>
          <a:solidFill>
            <a:srgbClr val="FFF4D6"/>
          </a:solidFill>
          <a:ln w="9525">
            <a:solidFill>
              <a:srgbClr val="EAD9C4"/>
            </a:solidFill>
            <a:prstDash val="solid"/>
          </a:ln>
        </p:spPr>
      </p:sp>
      <p:sp>
        <p:nvSpPr>
          <p:cNvPr id="17" name="Number 4"/>
          <p:cNvSpPr/>
          <p:nvPr/>
        </p:nvSpPr>
        <p:spPr>
          <a:xfrm>
            <a:off x="502920" y="3282696"/>
            <a:ext cx="365760" cy="365760"/>
          </a:xfrm>
          <a:prstGeom prst="ellipse">
            <a:avLst/>
          </a:prstGeom>
          <a:solidFill>
            <a:srgbClr val="6A1B9A"/>
          </a:solidFill>
          <a:ln w="12700">
            <a:solidFill>
              <a:srgbClr val="6A1B9A"/>
            </a:solidFill>
            <a:prstDash val="solid"/>
          </a:ln>
        </p:spPr>
      </p:sp>
      <p:sp>
        <p:nvSpPr>
          <p:cNvPr id="18" name="Text 15"/>
          <p:cNvSpPr txBox="1"/>
          <p:nvPr/>
        </p:nvSpPr>
        <p:spPr>
          <a:xfrm>
            <a:off x="502920" y="32826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9" name="Text 16"/>
          <p:cNvSpPr txBox="1"/>
          <p:nvPr/>
        </p:nvSpPr>
        <p:spPr>
          <a:xfrm>
            <a:off x="1005840" y="3145536"/>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Society's yardsticks (degrees, cars, titles) breed competition over collaboration.</a:t>
            </a:r>
            <a:endParaRPr lang="en-US" sz="1400" dirty="0"/>
          </a:p>
        </p:txBody>
      </p:sp>
      <p:sp>
        <p:nvSpPr>
          <p:cNvPr id="20" name="Objective card 5"/>
          <p:cNvSpPr/>
          <p:nvPr/>
        </p:nvSpPr>
        <p:spPr>
          <a:xfrm>
            <a:off x="365760" y="3858768"/>
            <a:ext cx="8412480" cy="640080"/>
          </a:xfrm>
          <a:prstGeom prst="roundRect">
            <a:avLst>
              <a:gd name="adj" fmla="val 11429"/>
            </a:avLst>
          </a:prstGeom>
          <a:solidFill>
            <a:srgbClr val="FFF4D6"/>
          </a:solidFill>
          <a:ln w="9525">
            <a:solidFill>
              <a:srgbClr val="EAD9C4"/>
            </a:solidFill>
            <a:prstDash val="solid"/>
          </a:ln>
        </p:spPr>
      </p:sp>
      <p:sp>
        <p:nvSpPr>
          <p:cNvPr id="21" name="Number 5"/>
          <p:cNvSpPr/>
          <p:nvPr/>
        </p:nvSpPr>
        <p:spPr>
          <a:xfrm>
            <a:off x="502920" y="3995928"/>
            <a:ext cx="365760" cy="365760"/>
          </a:xfrm>
          <a:prstGeom prst="ellipse">
            <a:avLst/>
          </a:prstGeom>
          <a:solidFill>
            <a:srgbClr val="1565C0"/>
          </a:solidFill>
          <a:ln w="12700">
            <a:solidFill>
              <a:srgbClr val="1565C0"/>
            </a:solidFill>
            <a:prstDash val="solid"/>
          </a:ln>
        </p:spPr>
      </p:sp>
      <p:sp>
        <p:nvSpPr>
          <p:cNvPr id="22" name="Text 19"/>
          <p:cNvSpPr txBox="1"/>
          <p:nvPr/>
        </p:nvSpPr>
        <p:spPr>
          <a:xfrm>
            <a:off x="502920" y="39959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3" name="Text 20"/>
          <p:cNvSpPr txBox="1"/>
          <p:nvPr/>
        </p:nvSpPr>
        <p:spPr>
          <a:xfrm>
            <a:off x="1005840" y="3858768"/>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Bhārata Sāvitrī: 4 verses at the end of MB; reading them = benefit of the whole epic; key: Dharma is eternal, never abandon it.</a:t>
            </a:r>
            <a:endParaRPr lang="en-US" sz="14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Warm-up: think first</a:t>
            </a:r>
            <a:endParaRPr lang="en-US" sz="2600" dirty="0"/>
          </a:p>
        </p:txBody>
      </p:sp>
      <p:sp>
        <p:nvSpPr>
          <p:cNvPr id="4" name="Question mark circle"/>
          <p:cNvSpPr/>
          <p:nvPr/>
        </p:nvSpPr>
        <p:spPr>
          <a:xfrm>
            <a:off x="548640" y="1325880"/>
            <a:ext cx="2103120" cy="2103120"/>
          </a:xfrm>
          <a:prstGeom prst="ellipse">
            <a:avLst/>
          </a:prstGeom>
          <a:solidFill>
            <a:srgbClr val="8C2F1B"/>
          </a:solidFill>
          <a:ln w="38100">
            <a:solidFill>
              <a:srgbClr val="F2B632"/>
            </a:solidFill>
            <a:prstDash val="solid"/>
          </a:ln>
        </p:spPr>
      </p:sp>
      <p:sp>
        <p:nvSpPr>
          <p:cNvPr id="5" name="Text 2"/>
          <p:cNvSpPr txBox="1"/>
          <p:nvPr/>
        </p:nvSpPr>
        <p:spPr>
          <a:xfrm>
            <a:off x="548640" y="1325880"/>
            <a:ext cx="2103120" cy="2103120"/>
          </a:xfrm>
          <a:prstGeom prst="rect">
            <a:avLst/>
          </a:prstGeom>
          <a:noFill/>
          <a:ln/>
        </p:spPr>
        <p:txBody>
          <a:bodyPr wrap="square" lIns="0" tIns="0" rIns="0" bIns="0" rtlCol="0" anchor="ctr"/>
          <a:lstStyle/>
          <a:p>
            <a:pPr algn="ctr" indent="0" marL="0">
              <a:buNone/>
            </a:pPr>
            <a:r>
              <a:rPr lang="en-US" sz="11000" b="1" dirty="0">
                <a:solidFill>
                  <a:srgbClr val="F2B632"/>
                </a:solidFill>
                <a:latin typeface="Cambria" pitchFamily="34" charset="0"/>
                <a:ea typeface="Cambria" pitchFamily="34" charset="-122"/>
                <a:cs typeface="Cambria" pitchFamily="34" charset="-120"/>
              </a:rPr>
              <a:t>?</a:t>
            </a:r>
            <a:endParaRPr lang="en-US" sz="11000" dirty="0"/>
          </a:p>
        </p:txBody>
      </p:sp>
      <p:sp>
        <p:nvSpPr>
          <p:cNvPr id="6" name="Warm-up card"/>
          <p:cNvSpPr/>
          <p:nvPr/>
        </p:nvSpPr>
        <p:spPr>
          <a:xfrm>
            <a:off x="3017520" y="1188720"/>
            <a:ext cx="5760720" cy="2377440"/>
          </a:xfrm>
          <a:prstGeom prst="roundRect">
            <a:avLst>
              <a:gd name="adj" fmla="val 3846"/>
            </a:avLst>
          </a:prstGeom>
          <a:solidFill>
            <a:srgbClr val="FFF4D6"/>
          </a:solidFill>
          <a:ln w="12700">
            <a:solidFill>
              <a:srgbClr val="EAD9C4"/>
            </a:solidFill>
            <a:prstDash val="solid"/>
          </a:ln>
        </p:spPr>
      </p:sp>
      <p:sp>
        <p:nvSpPr>
          <p:cNvPr id="7" name="Text 4"/>
          <p:cNvSpPr txBox="1"/>
          <p:nvPr/>
        </p:nvSpPr>
        <p:spPr>
          <a:xfrm>
            <a:off x="3246120" y="1188720"/>
            <a:ext cx="5303520" cy="2377440"/>
          </a:xfrm>
          <a:prstGeom prst="rect">
            <a:avLst/>
          </a:prstGeom>
          <a:noFill/>
          <a:ln/>
        </p:spPr>
        <p:txBody>
          <a:bodyPr wrap="square" lIns="0" tIns="0" rIns="0" bIns="0" rtlCol="0" anchor="ctr"/>
          <a:lstStyle/>
          <a:p>
            <a:pPr indent="0" marL="0">
              <a:buNone/>
            </a:pPr>
            <a:r>
              <a:rPr lang="en-US" sz="2400" b="1" dirty="0">
                <a:solidFill>
                  <a:srgbClr val="2A2A2A"/>
                </a:solidFill>
                <a:latin typeface="Cambria" pitchFamily="34" charset="0"/>
                <a:ea typeface="Cambria" pitchFamily="34" charset="-122"/>
                <a:cs typeface="Cambria" pitchFamily="34" charset="-120"/>
              </a:rPr>
              <a:t>Is Sanātana Dharma against wealth? Explain with the Avāhanti homa.</a:t>
            </a:r>
            <a:endParaRPr lang="en-US" sz="2400" dirty="0"/>
          </a:p>
        </p:txBody>
      </p:sp>
      <p:sp>
        <p:nvSpPr>
          <p:cNvPr id="8" name="Text 5"/>
          <p:cNvSpPr txBox="1"/>
          <p:nvPr/>
        </p:nvSpPr>
        <p:spPr>
          <a:xfrm>
            <a:off x="548640" y="3840480"/>
            <a:ext cx="8229600" cy="457200"/>
          </a:xfrm>
          <a:prstGeom prst="rect">
            <a:avLst/>
          </a:prstGeom>
          <a:noFill/>
          <a:ln/>
        </p:spPr>
        <p:txBody>
          <a:bodyPr wrap="square" lIns="0" tIns="0" rIns="0" bIns="0" rtlCol="0" anchor="ctr"/>
          <a:lstStyle/>
          <a:p>
            <a:pPr indent="0" marL="0">
              <a:buNone/>
            </a:pPr>
            <a:r>
              <a:rPr lang="en-US" sz="1400" i="1" dirty="0">
                <a:solidFill>
                  <a:srgbClr val="7A6A6A"/>
                </a:solidFill>
              </a:rPr>
              <a:t>Discuss with your partner for 2 minutes. We will return to this at the end of the lesson.</a:t>
            </a:r>
            <a:endParaRPr lang="en-US" sz="14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Lesson roadmap</a:t>
            </a:r>
            <a:endParaRPr lang="en-US" sz="2600" dirty="0"/>
          </a:p>
        </p:txBody>
      </p:sp>
      <p:pic>
        <p:nvPicPr>
          <p:cNvPr id="4" name="Roadmap diagram" descr="Chapter roadmap">    </p:cNvPr>
          <p:cNvPicPr>
            <a:picLocks noChangeAspect="1"/>
          </p:cNvPicPr>
          <p:nvPr/>
        </p:nvPicPr>
        <p:blipFill>
          <a:blip r:embed="rId1"/>
          <a:stretch>
            <a:fillRect/>
          </a:stretch>
        </p:blipFill>
        <p:spPr>
          <a:xfrm>
            <a:off x="711724" y="1051560"/>
            <a:ext cx="7720553" cy="3566160"/>
          </a:xfrm>
          <a:prstGeom prst="rect">
            <a:avLst/>
          </a:prstGeom>
        </p:spPr>
      </p:pic>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Wealth and Sanātana Dharma</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Current section"/>
          <p:cNvSpPr/>
          <p:nvPr/>
        </p:nvSpPr>
        <p:spPr>
          <a:xfrm>
            <a:off x="457200" y="1389888"/>
            <a:ext cx="2286000" cy="356616"/>
          </a:xfrm>
          <a:prstGeom prst="roundRect">
            <a:avLst>
              <a:gd name="adj" fmla="val 12821"/>
            </a:avLst>
          </a:prstGeom>
          <a:solidFill>
            <a:srgbClr val="F2B632"/>
          </a:solidFill>
          <a:ln w="12700">
            <a:solidFill>
              <a:srgbClr val="F2B632"/>
            </a:solidFill>
            <a:prstDash val="solid"/>
          </a:ln>
        </p:spPr>
      </p:sp>
      <p:sp>
        <p:nvSpPr>
          <p:cNvPr id="7" name="Text 4"/>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A  Wealth and Sanātana Dharma</a:t>
            </a:r>
            <a:endParaRPr lang="en-US" sz="1050" dirty="0"/>
          </a:p>
        </p:txBody>
      </p:sp>
      <p:sp>
        <p:nvSpPr>
          <p:cNvPr id="8" name="Text 5"/>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Order and purpose</a:t>
            </a:r>
            <a:endParaRPr lang="en-US" sz="1050" dirty="0"/>
          </a:p>
        </p:txBody>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Modern ideas of success</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The correct sequence</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Where society goes wrong</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Mahābhārata's answer: Bhār…</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8C2F1B"/>
          </a:solidFill>
          <a:ln w="12700">
            <a:solidFill>
              <a:srgbClr val="8C2F1B"/>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A</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Misconception: Dharma opposes wealth, fame, business. Reality: not against any of them.</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Avāhanti homa (Taittirīya Upaniṣad) for 4 things in order: 1 dhana-prāpti, 2 citta-śuddhi, 3 jñāna-prāpti, 4 śiṣya-prāpti.</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Why money first: needed for karma, karma yoga, and social well-being.</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Order and purpose</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Wealth and Sanātana Dharma</a:t>
            </a:r>
            <a:endParaRPr lang="en-US" sz="1050" dirty="0"/>
          </a:p>
        </p:txBody>
      </p:sp>
      <p:sp>
        <p:nvSpPr>
          <p:cNvPr id="7" name="Current section"/>
          <p:cNvSpPr/>
          <p:nvPr/>
        </p:nvSpPr>
        <p:spPr>
          <a:xfrm>
            <a:off x="457200" y="1773936"/>
            <a:ext cx="2286000" cy="356616"/>
          </a:xfrm>
          <a:prstGeom prst="roundRect">
            <a:avLst>
              <a:gd name="adj" fmla="val 12821"/>
            </a:avLst>
          </a:prstGeom>
          <a:solidFill>
            <a:srgbClr val="F2B632"/>
          </a:solidFill>
          <a:ln w="12700">
            <a:solidFill>
              <a:srgbClr val="F2B632"/>
            </a:solidFill>
            <a:prstDash val="solid"/>
          </a:ln>
        </p:spPr>
      </p:sp>
      <p:sp>
        <p:nvSpPr>
          <p:cNvPr id="8" name="Text 5"/>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B  Order and purpose</a:t>
            </a:r>
            <a:endParaRPr lang="en-US" sz="1050" dirty="0"/>
          </a:p>
        </p:txBody>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Modern ideas of success</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The correct sequence</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Where society goes wrong</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Mahābhārata's answer: Bhār…</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E07B00"/>
          </a:solidFill>
          <a:ln w="12700">
            <a:solidFill>
              <a:srgbClr val="E07B00"/>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B</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Wealth → pure mind → knowledge → teach to preserve paramparā (children also preserve paramparā).</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'Tato me śriyam āvaha': wealth after intelligence (worldly literacy).</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Money is dangerous for the unintelligent; need dharmaśāstra to know uses.</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Pocket money warning: excess leads to cigarettes, drugs, alcohol; Lakṣmī Devī view brings judiciousness; earn plenty, give plenty.</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Modern ideas of success</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Wealth and Sanātana Dharma</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Order and purpose</a:t>
            </a:r>
            <a:endParaRPr lang="en-US" sz="1050" dirty="0"/>
          </a:p>
        </p:txBody>
      </p:sp>
      <p:sp>
        <p:nvSpPr>
          <p:cNvPr id="8" name="Current section"/>
          <p:cNvSpPr/>
          <p:nvPr/>
        </p:nvSpPr>
        <p:spPr>
          <a:xfrm>
            <a:off x="457200" y="2157984"/>
            <a:ext cx="2286000" cy="356616"/>
          </a:xfrm>
          <a:prstGeom prst="roundRect">
            <a:avLst>
              <a:gd name="adj" fmla="val 12821"/>
            </a:avLst>
          </a:prstGeom>
          <a:solidFill>
            <a:srgbClr val="F2B632"/>
          </a:solidFill>
          <a:ln w="12700">
            <a:solidFill>
              <a:srgbClr val="F2B632"/>
            </a:solidFill>
            <a:prstDash val="solid"/>
          </a:ln>
        </p:spPr>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C  Modern ideas of success</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The correct sequence</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Where society goes wrong</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Mahābhārata's answer: Bhār…</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2E7D32"/>
          </a:solidFill>
          <a:ln w="12700">
            <a:solidFill>
              <a:srgbClr val="2E7D32"/>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C</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Top university, going abroad, business, house; poor man's dream: tea shop, vegetable shop, pushcart.</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Parental love tied to school performance; university brand over skill; medals, car emblems, card colours.</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Outcome: compete not collaborate; neglect faith, compassion, love, integrity, politeness, truthfulness, loyalty; cannot handle failure; prince vs pauper labels.</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The correct sequence</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Wealth and Sanātana Dharma</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Order and purpose</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Modern ideas of success</a:t>
            </a:r>
            <a:endParaRPr lang="en-US" sz="1050" dirty="0"/>
          </a:p>
        </p:txBody>
      </p:sp>
      <p:sp>
        <p:nvSpPr>
          <p:cNvPr id="9" name="Current section"/>
          <p:cNvSpPr/>
          <p:nvPr/>
        </p:nvSpPr>
        <p:spPr>
          <a:xfrm>
            <a:off x="457200" y="2542032"/>
            <a:ext cx="2286000" cy="356616"/>
          </a:xfrm>
          <a:prstGeom prst="roundRect">
            <a:avLst>
              <a:gd name="adj" fmla="val 12821"/>
            </a:avLst>
          </a:prstGeom>
          <a:solidFill>
            <a:srgbClr val="F2B632"/>
          </a:solidFill>
          <a:ln w="12700">
            <a:solidFill>
              <a:srgbClr val="F2B632"/>
            </a:solidFill>
            <a:prstDash val="solid"/>
          </a:ln>
        </p:spPr>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D  The correct sequence</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Where society goes wrong</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Mahābhārata's answer: Bhār…</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6A1B9A"/>
          </a:solidFill>
          <a:ln w="12700">
            <a:solidFill>
              <a:srgbClr val="6A1B9A"/>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D</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Kāma (desire) kept healthy: sound mind in sound body.</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Artha: success, fame, money from a sound instrument.</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Dharma: use wealth for dharmic purposes.</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Mokṣa: for now inner independence, peace, happiness.</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Opposite today: dragging life as a burden; old age in flat or care home; past gushes, future anxious, no present.</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Where society goes wrong</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Wealth and Sanātana Dharma</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Order and purpose</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Modern ideas of success</a:t>
            </a:r>
            <a:endParaRPr lang="en-US" sz="1050" dirty="0"/>
          </a:p>
        </p:txBody>
      </p:sp>
      <p:sp>
        <p:nvSpPr>
          <p:cNvPr id="9" name="Text 6"/>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The correct sequence</a:t>
            </a:r>
            <a:endParaRPr lang="en-US" sz="1050" dirty="0"/>
          </a:p>
        </p:txBody>
      </p:sp>
      <p:sp>
        <p:nvSpPr>
          <p:cNvPr id="10" name="Current section"/>
          <p:cNvSpPr/>
          <p:nvPr/>
        </p:nvSpPr>
        <p:spPr>
          <a:xfrm>
            <a:off x="457200" y="2926080"/>
            <a:ext cx="2286000" cy="356616"/>
          </a:xfrm>
          <a:prstGeom prst="roundRect">
            <a:avLst>
              <a:gd name="adj" fmla="val 12821"/>
            </a:avLst>
          </a:prstGeom>
          <a:solidFill>
            <a:srgbClr val="F2B632"/>
          </a:solidFill>
          <a:ln w="12700">
            <a:solidFill>
              <a:srgbClr val="F2B632"/>
            </a:solidFill>
            <a:prstDash val="solid"/>
          </a:ln>
        </p:spPr>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E  Where society goes wrong</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Mahābhārata's answer: Bhār…</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1565C0"/>
          </a:solidFill>
          <a:ln w="12700">
            <a:solidFill>
              <a:srgbClr val="1565C0"/>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E</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Graduates think the goal is Kāma (big car, house, screens) without discernment.</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Justify any means: bribes 'are Dharma these days'.</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Adharma's consequence: enjoyment, happiness, peace, mokṣa lost.</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200" b="1" dirty="0">
                <a:solidFill>
                  <a:srgbClr val="8C2F1B"/>
                </a:solidFill>
                <a:latin typeface="Cambria" pitchFamily="34" charset="0"/>
                <a:ea typeface="Cambria" pitchFamily="34" charset="-122"/>
                <a:cs typeface="Cambria" pitchFamily="34" charset="-120"/>
              </a:rPr>
              <a:t>Mahābhārata's answer: Bhārata Sāvitrī</a:t>
            </a:r>
            <a:endParaRPr lang="en-US" sz="22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Wealth and Sanātana Dharma</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Order and purpose</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Modern ideas of success</a:t>
            </a:r>
            <a:endParaRPr lang="en-US" sz="1050" dirty="0"/>
          </a:p>
        </p:txBody>
      </p:sp>
      <p:sp>
        <p:nvSpPr>
          <p:cNvPr id="9" name="Text 6"/>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The correct sequence</a:t>
            </a:r>
            <a:endParaRPr lang="en-US" sz="1050" dirty="0"/>
          </a:p>
        </p:txBody>
      </p:sp>
      <p:sp>
        <p:nvSpPr>
          <p:cNvPr id="10" name="Text 7"/>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Where society goes wrong</a:t>
            </a:r>
            <a:endParaRPr lang="en-US" sz="1050" dirty="0"/>
          </a:p>
        </p:txBody>
      </p:sp>
      <p:sp>
        <p:nvSpPr>
          <p:cNvPr id="11" name="Current section"/>
          <p:cNvSpPr/>
          <p:nvPr/>
        </p:nvSpPr>
        <p:spPr>
          <a:xfrm>
            <a:off x="457200" y="3310128"/>
            <a:ext cx="2286000" cy="356616"/>
          </a:xfrm>
          <a:prstGeom prst="roundRect">
            <a:avLst>
              <a:gd name="adj" fmla="val 12821"/>
            </a:avLst>
          </a:prstGeom>
          <a:solidFill>
            <a:srgbClr val="F2B632"/>
          </a:solidFill>
          <a:ln w="12700">
            <a:solidFill>
              <a:srgbClr val="F2B632"/>
            </a:solidFill>
            <a:prstDash val="solid"/>
          </a:ln>
        </p:spPr>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F  Mahābhārata's answer: Bhār…</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00796B"/>
          </a:solidFill>
          <a:ln w="12700">
            <a:solidFill>
              <a:srgbClr val="00796B"/>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F</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MB teaches how to live, victory, failure, who you are, the goal; worldly wins amount to nothing.</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Bhārata Sāvitrī = 4 closing verses; reading = benefit of whole MB.</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Message: people come and go; joys and fears abound; Vyāsa cries out; Dharma yields Artha and Kāma; never abandon Dharma; Dharma and soul eternal; body not.</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terms to know (1/2)</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194560"/>
                <a:gridCol w="621792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Term</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Meaning and why it matters</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Avāhanti homa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Sādhanā in the Taittirīya Upaniṣad performed for wealth, mental purity, knowledge and students.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Dhana-prāpti</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Obtaining wealth.</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Citta-śuddhi</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Purity of mind; a dharmic mind.</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Jñāna-prāpti</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Obtaining knowledge.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Śiṣya-prāpti</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Obtaining students to share knowledge.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Paramparā</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Tradition/lineage preserved through teaching and children.</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Tato me śriyam āvaha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'After that bring Lakṣmī to me': wealth after intelligence.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Dharmaśāstra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Scripture on duties, telling how to use money.</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Lakṣmī Devī</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Goddess of prosperity; money is regarded as her form.</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terms to know (2/2)</a:t>
            </a:r>
            <a:endParaRPr lang="en-US" sz="2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194560"/>
                <a:gridCol w="621792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Term</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Meaning and why it matters</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Mokṣa (simplified)</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Inner independence, peace and happiness.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Bhārata Sāvitrī</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Four concluding verses of MB summarising its essence.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Saṃsāra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World of flux and rebirth.</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Numbers and facts at a glance</a:t>
            </a:r>
            <a:endParaRPr lang="en-US" sz="2600" dirty="0"/>
          </a:p>
        </p:txBody>
      </p:sp>
      <p:sp>
        <p:nvSpPr>
          <p:cNvPr id="4" name="Stat card 1"/>
          <p:cNvSpPr/>
          <p:nvPr/>
        </p:nvSpPr>
        <p:spPr>
          <a:xfrm>
            <a:off x="365760" y="1051560"/>
            <a:ext cx="2011680" cy="1691640"/>
          </a:xfrm>
          <a:prstGeom prst="roundRect">
            <a:avLst>
              <a:gd name="adj" fmla="val 5405"/>
            </a:avLst>
          </a:prstGeom>
          <a:solidFill>
            <a:srgbClr val="FFFFFF"/>
          </a:solidFill>
          <a:ln w="25400">
            <a:solidFill>
              <a:srgbClr val="8C2F1B"/>
            </a:solidFill>
            <a:prstDash val="solid"/>
          </a:ln>
          <a:effectLst>
            <a:outerShdw sx="100000" sy="100000" kx="0" ky="0" algn="bl" rotWithShape="0" blurRad="76200" dist="25400" dir="5400000">
              <a:srgbClr val="000000">
                <a:alpha val="15000"/>
              </a:srgbClr>
            </a:outerShdw>
          </a:effectLst>
        </p:spPr>
      </p:sp>
      <p:sp>
        <p:nvSpPr>
          <p:cNvPr id="5" name="Text 2"/>
          <p:cNvSpPr txBox="1"/>
          <p:nvPr/>
        </p:nvSpPr>
        <p:spPr>
          <a:xfrm>
            <a:off x="475488" y="1124712"/>
            <a:ext cx="1792224" cy="457200"/>
          </a:xfrm>
          <a:prstGeom prst="rect">
            <a:avLst/>
          </a:prstGeom>
          <a:noFill/>
          <a:ln/>
        </p:spPr>
        <p:txBody>
          <a:bodyPr wrap="square" lIns="0" tIns="0" rIns="0" bIns="0" rtlCol="0" anchor="t"/>
          <a:lstStyle/>
          <a:p>
            <a:pPr indent="0" marL="0">
              <a:buNone/>
            </a:pPr>
            <a:r>
              <a:rPr lang="en-US" sz="1100" b="1" dirty="0">
                <a:solidFill>
                  <a:srgbClr val="8C2F1B"/>
                </a:solidFill>
              </a:rPr>
              <a:t>Goals in Avāhanti homa</a:t>
            </a:r>
            <a:endParaRPr lang="en-US" sz="1100" dirty="0"/>
          </a:p>
        </p:txBody>
      </p:sp>
      <p:sp>
        <p:nvSpPr>
          <p:cNvPr id="6" name="Text 3"/>
          <p:cNvSpPr txBox="1"/>
          <p:nvPr/>
        </p:nvSpPr>
        <p:spPr>
          <a:xfrm>
            <a:off x="475488" y="16002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4, in the order wealth, mind purity, knowledge, students</a:t>
            </a:r>
            <a:endParaRPr lang="en-US" sz="1300" dirty="0"/>
          </a:p>
        </p:txBody>
      </p:sp>
      <p:sp>
        <p:nvSpPr>
          <p:cNvPr id="7" name="Stat card 2"/>
          <p:cNvSpPr/>
          <p:nvPr/>
        </p:nvSpPr>
        <p:spPr>
          <a:xfrm>
            <a:off x="2514600" y="1051560"/>
            <a:ext cx="2011680" cy="1691640"/>
          </a:xfrm>
          <a:prstGeom prst="roundRect">
            <a:avLst>
              <a:gd name="adj" fmla="val 5405"/>
            </a:avLst>
          </a:prstGeom>
          <a:solidFill>
            <a:srgbClr val="FFFFFF"/>
          </a:solidFill>
          <a:ln w="25400">
            <a:solidFill>
              <a:srgbClr val="E07B00"/>
            </a:solidFill>
            <a:prstDash val="solid"/>
          </a:ln>
          <a:effectLst>
            <a:outerShdw sx="100000" sy="100000" kx="0" ky="0" algn="bl" rotWithShape="0" blurRad="76200" dist="25400" dir="5400000">
              <a:srgbClr val="000000">
                <a:alpha val="15000"/>
              </a:srgbClr>
            </a:outerShdw>
          </a:effectLst>
        </p:spPr>
      </p:sp>
      <p:sp>
        <p:nvSpPr>
          <p:cNvPr id="8" name="Text 5"/>
          <p:cNvSpPr txBox="1"/>
          <p:nvPr/>
        </p:nvSpPr>
        <p:spPr>
          <a:xfrm>
            <a:off x="2624328" y="1124712"/>
            <a:ext cx="1792224" cy="457200"/>
          </a:xfrm>
          <a:prstGeom prst="rect">
            <a:avLst/>
          </a:prstGeom>
          <a:noFill/>
          <a:ln/>
        </p:spPr>
        <p:txBody>
          <a:bodyPr wrap="square" lIns="0" tIns="0" rIns="0" bIns="0" rtlCol="0" anchor="t"/>
          <a:lstStyle/>
          <a:p>
            <a:pPr indent="0" marL="0">
              <a:buNone/>
            </a:pPr>
            <a:r>
              <a:rPr lang="en-US" sz="1100" b="1" dirty="0">
                <a:solidFill>
                  <a:srgbClr val="E07B00"/>
                </a:solidFill>
              </a:rPr>
              <a:t>Puruṣārthas</a:t>
            </a:r>
            <a:endParaRPr lang="en-US" sz="1100" dirty="0"/>
          </a:p>
        </p:txBody>
      </p:sp>
      <p:sp>
        <p:nvSpPr>
          <p:cNvPr id="9" name="Text 6"/>
          <p:cNvSpPr txBox="1"/>
          <p:nvPr/>
        </p:nvSpPr>
        <p:spPr>
          <a:xfrm>
            <a:off x="2624328" y="16002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4: Dharma, Artha, Kāma, Mokṣa</a:t>
            </a:r>
            <a:endParaRPr lang="en-US" sz="1300" dirty="0"/>
          </a:p>
        </p:txBody>
      </p:sp>
      <p:sp>
        <p:nvSpPr>
          <p:cNvPr id="10" name="Stat card 3"/>
          <p:cNvSpPr/>
          <p:nvPr/>
        </p:nvSpPr>
        <p:spPr>
          <a:xfrm>
            <a:off x="4663440" y="1051560"/>
            <a:ext cx="2011680" cy="1691640"/>
          </a:xfrm>
          <a:prstGeom prst="roundRect">
            <a:avLst>
              <a:gd name="adj" fmla="val 5405"/>
            </a:avLst>
          </a:prstGeom>
          <a:solidFill>
            <a:srgbClr val="FFFFFF"/>
          </a:solidFill>
          <a:ln w="25400">
            <a:solidFill>
              <a:srgbClr val="2E7D32"/>
            </a:solidFill>
            <a:prstDash val="solid"/>
          </a:ln>
          <a:effectLst>
            <a:outerShdw sx="100000" sy="100000" kx="0" ky="0" algn="bl" rotWithShape="0" blurRad="76200" dist="25400" dir="5400000">
              <a:srgbClr val="000000">
                <a:alpha val="15000"/>
              </a:srgbClr>
            </a:outerShdw>
          </a:effectLst>
        </p:spPr>
      </p:sp>
      <p:sp>
        <p:nvSpPr>
          <p:cNvPr id="11" name="Text 8"/>
          <p:cNvSpPr txBox="1"/>
          <p:nvPr/>
        </p:nvSpPr>
        <p:spPr>
          <a:xfrm>
            <a:off x="4773168" y="1124712"/>
            <a:ext cx="1792224" cy="457200"/>
          </a:xfrm>
          <a:prstGeom prst="rect">
            <a:avLst/>
          </a:prstGeom>
          <a:noFill/>
          <a:ln/>
        </p:spPr>
        <p:txBody>
          <a:bodyPr wrap="square" lIns="0" tIns="0" rIns="0" bIns="0" rtlCol="0" anchor="t"/>
          <a:lstStyle/>
          <a:p>
            <a:pPr indent="0" marL="0">
              <a:buNone/>
            </a:pPr>
            <a:r>
              <a:rPr lang="en-US" sz="1100" b="1" dirty="0">
                <a:solidFill>
                  <a:srgbClr val="2E7D32"/>
                </a:solidFill>
              </a:rPr>
              <a:t>Bhārata Sāvitrī</a:t>
            </a:r>
            <a:endParaRPr lang="en-US" sz="1100" dirty="0"/>
          </a:p>
        </p:txBody>
      </p:sp>
      <p:sp>
        <p:nvSpPr>
          <p:cNvPr id="12" name="Text 9"/>
          <p:cNvSpPr txBox="1"/>
          <p:nvPr/>
        </p:nvSpPr>
        <p:spPr>
          <a:xfrm>
            <a:off x="4773168" y="16002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4 verses</a:t>
            </a:r>
            <a:endParaRPr lang="en-US" sz="1800" dirty="0"/>
          </a:p>
        </p:txBody>
      </p:sp>
      <p:sp>
        <p:nvSpPr>
          <p:cNvPr id="13" name="Stat card 4"/>
          <p:cNvSpPr/>
          <p:nvPr/>
        </p:nvSpPr>
        <p:spPr>
          <a:xfrm>
            <a:off x="6812280" y="1051560"/>
            <a:ext cx="2011680" cy="1691640"/>
          </a:xfrm>
          <a:prstGeom prst="roundRect">
            <a:avLst>
              <a:gd name="adj" fmla="val 5405"/>
            </a:avLst>
          </a:prstGeom>
          <a:solidFill>
            <a:srgbClr val="FFFFFF"/>
          </a:solidFill>
          <a:ln w="25400">
            <a:solidFill>
              <a:srgbClr val="6A1B9A"/>
            </a:solidFill>
            <a:prstDash val="solid"/>
          </a:ln>
          <a:effectLst>
            <a:outerShdw sx="100000" sy="100000" kx="0" ky="0" algn="bl" rotWithShape="0" blurRad="76200" dist="25400" dir="5400000">
              <a:srgbClr val="000000">
                <a:alpha val="15000"/>
              </a:srgbClr>
            </a:outerShdw>
          </a:effectLst>
        </p:spPr>
      </p:sp>
      <p:sp>
        <p:nvSpPr>
          <p:cNvPr id="14" name="Text 11"/>
          <p:cNvSpPr txBox="1"/>
          <p:nvPr/>
        </p:nvSpPr>
        <p:spPr>
          <a:xfrm>
            <a:off x="6922008" y="1124712"/>
            <a:ext cx="1792224" cy="457200"/>
          </a:xfrm>
          <a:prstGeom prst="rect">
            <a:avLst/>
          </a:prstGeom>
          <a:noFill/>
          <a:ln/>
        </p:spPr>
        <p:txBody>
          <a:bodyPr wrap="square" lIns="0" tIns="0" rIns="0" bIns="0" rtlCol="0" anchor="t"/>
          <a:lstStyle/>
          <a:p>
            <a:pPr indent="0" marL="0">
              <a:buNone/>
            </a:pPr>
            <a:r>
              <a:rPr lang="en-US" sz="1100" b="1" dirty="0">
                <a:solidFill>
                  <a:srgbClr val="6A1B9A"/>
                </a:solidFill>
              </a:rPr>
              <a:t>Correct sequence of goals</a:t>
            </a:r>
            <a:endParaRPr lang="en-US" sz="1100" dirty="0"/>
          </a:p>
        </p:txBody>
      </p:sp>
      <p:sp>
        <p:nvSpPr>
          <p:cNvPr id="15" name="Text 12"/>
          <p:cNvSpPr txBox="1"/>
          <p:nvPr/>
        </p:nvSpPr>
        <p:spPr>
          <a:xfrm>
            <a:off x="6922008" y="16002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Kāma → Artha → Dharma → Mokṣa</a:t>
            </a:r>
            <a:endParaRPr lang="en-US" sz="1300" dirty="0"/>
          </a:p>
        </p:txBody>
      </p:sp>
      <p:sp>
        <p:nvSpPr>
          <p:cNvPr id="16" name="Stat card 5"/>
          <p:cNvSpPr/>
          <p:nvPr/>
        </p:nvSpPr>
        <p:spPr>
          <a:xfrm>
            <a:off x="365760" y="2880360"/>
            <a:ext cx="2011680" cy="1691640"/>
          </a:xfrm>
          <a:prstGeom prst="roundRect">
            <a:avLst>
              <a:gd name="adj" fmla="val 5405"/>
            </a:avLst>
          </a:prstGeom>
          <a:solidFill>
            <a:srgbClr val="FFFFFF"/>
          </a:solidFill>
          <a:ln w="25400">
            <a:solidFill>
              <a:srgbClr val="1565C0"/>
            </a:solidFill>
            <a:prstDash val="solid"/>
          </a:ln>
          <a:effectLst>
            <a:outerShdw sx="100000" sy="100000" kx="0" ky="0" algn="bl" rotWithShape="0" blurRad="76200" dist="25400" dir="5400000">
              <a:srgbClr val="000000">
                <a:alpha val="15000"/>
              </a:srgbClr>
            </a:outerShdw>
          </a:effectLst>
        </p:spPr>
      </p:sp>
      <p:sp>
        <p:nvSpPr>
          <p:cNvPr id="17" name="Text 14"/>
          <p:cNvSpPr txBox="1"/>
          <p:nvPr/>
        </p:nvSpPr>
        <p:spPr>
          <a:xfrm>
            <a:off x="475488" y="2953512"/>
            <a:ext cx="1792224" cy="457200"/>
          </a:xfrm>
          <a:prstGeom prst="rect">
            <a:avLst/>
          </a:prstGeom>
          <a:noFill/>
          <a:ln/>
        </p:spPr>
        <p:txBody>
          <a:bodyPr wrap="square" lIns="0" tIns="0" rIns="0" bIns="0" rtlCol="0" anchor="t"/>
          <a:lstStyle/>
          <a:p>
            <a:pPr indent="0" marL="0">
              <a:buNone/>
            </a:pPr>
            <a:r>
              <a:rPr lang="en-US" sz="1100" b="1" dirty="0">
                <a:solidFill>
                  <a:srgbClr val="1565C0"/>
                </a:solidFill>
              </a:rPr>
              <a:t>Source</a:t>
            </a:r>
            <a:endParaRPr lang="en-US" sz="1100" dirty="0"/>
          </a:p>
        </p:txBody>
      </p:sp>
      <p:sp>
        <p:nvSpPr>
          <p:cNvPr id="18" name="Text 15"/>
          <p:cNvSpPr txBox="1"/>
          <p:nvPr/>
        </p:nvSpPr>
        <p:spPr>
          <a:xfrm>
            <a:off x="475488" y="34290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Taittirīya Upaniṣad (Avāhanti homa)</a:t>
            </a:r>
            <a:endParaRPr lang="en-US" sz="1300" dirty="0"/>
          </a:p>
        </p:txBody>
      </p:sp>
      <p:sp>
        <p:nvSpPr>
          <p:cNvPr id="19" name="Stat card 6"/>
          <p:cNvSpPr/>
          <p:nvPr/>
        </p:nvSpPr>
        <p:spPr>
          <a:xfrm>
            <a:off x="2514600" y="2880360"/>
            <a:ext cx="2011680" cy="1691640"/>
          </a:xfrm>
          <a:prstGeom prst="roundRect">
            <a:avLst>
              <a:gd name="adj" fmla="val 5405"/>
            </a:avLst>
          </a:prstGeom>
          <a:solidFill>
            <a:srgbClr val="FFFFFF"/>
          </a:solidFill>
          <a:ln w="25400">
            <a:solidFill>
              <a:srgbClr val="00796B"/>
            </a:solidFill>
            <a:prstDash val="solid"/>
          </a:ln>
          <a:effectLst>
            <a:outerShdw sx="100000" sy="100000" kx="0" ky="0" algn="bl" rotWithShape="0" blurRad="76200" dist="25400" dir="5400000">
              <a:srgbClr val="000000">
                <a:alpha val="15000"/>
              </a:srgbClr>
            </a:outerShdw>
          </a:effectLst>
        </p:spPr>
      </p:sp>
      <p:sp>
        <p:nvSpPr>
          <p:cNvPr id="20" name="Text 17"/>
          <p:cNvSpPr txBox="1"/>
          <p:nvPr/>
        </p:nvSpPr>
        <p:spPr>
          <a:xfrm>
            <a:off x="2624328" y="2953512"/>
            <a:ext cx="1792224" cy="457200"/>
          </a:xfrm>
          <a:prstGeom prst="rect">
            <a:avLst/>
          </a:prstGeom>
          <a:noFill/>
          <a:ln/>
        </p:spPr>
        <p:txBody>
          <a:bodyPr wrap="square" lIns="0" tIns="0" rIns="0" bIns="0" rtlCol="0" anchor="t"/>
          <a:lstStyle/>
          <a:p>
            <a:pPr indent="0" marL="0">
              <a:buNone/>
            </a:pPr>
            <a:r>
              <a:rPr lang="en-US" sz="1100" b="1" dirty="0">
                <a:solidFill>
                  <a:srgbClr val="00796B"/>
                </a:solidFill>
              </a:rPr>
              <a:t>Benefit claimed</a:t>
            </a:r>
            <a:endParaRPr lang="en-US" sz="1100" dirty="0"/>
          </a:p>
        </p:txBody>
      </p:sp>
      <p:sp>
        <p:nvSpPr>
          <p:cNvPr id="21" name="Text 18"/>
          <p:cNvSpPr txBox="1"/>
          <p:nvPr/>
        </p:nvSpPr>
        <p:spPr>
          <a:xfrm>
            <a:off x="2624328" y="3429000"/>
            <a:ext cx="1792224" cy="1097280"/>
          </a:xfrm>
          <a:prstGeom prst="rect">
            <a:avLst/>
          </a:prstGeom>
          <a:noFill/>
          <a:ln/>
        </p:spPr>
        <p:txBody>
          <a:bodyPr wrap="square" lIns="0" tIns="0" rIns="0" bIns="0" rtlCol="0" anchor="t"/>
          <a:lstStyle/>
          <a:p>
            <a:pPr indent="0" marL="0">
              <a:buNone/>
            </a:pPr>
            <a:r>
              <a:rPr lang="en-US" sz="1100" b="1" dirty="0">
                <a:solidFill>
                  <a:srgbClr val="2A2A2A"/>
                </a:solidFill>
                <a:latin typeface="Cambria" pitchFamily="34" charset="0"/>
                <a:ea typeface="Cambria" pitchFamily="34" charset="-122"/>
                <a:cs typeface="Cambria" pitchFamily="34" charset="-120"/>
              </a:rPr>
              <a:t>Reading Bhārata Sāvitrī = benefit of reading entire Mahābhārata</a:t>
            </a:r>
            <a:endParaRPr lang="en-US" sz="11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people, places and texts</a:t>
            </a:r>
            <a:endParaRPr lang="en-US" sz="2600" dirty="0"/>
          </a:p>
        </p:txBody>
      </p:sp>
      <p:sp>
        <p:nvSpPr>
          <p:cNvPr id="4" name="Person row 1"/>
          <p:cNvSpPr/>
          <p:nvPr/>
        </p:nvSpPr>
        <p:spPr>
          <a:xfrm>
            <a:off x="365760" y="1005840"/>
            <a:ext cx="8412480" cy="530352"/>
          </a:xfrm>
          <a:prstGeom prst="roundRect">
            <a:avLst>
              <a:gd name="adj" fmla="val 10345"/>
            </a:avLst>
          </a:prstGeom>
          <a:solidFill>
            <a:srgbClr val="FFF4D6"/>
          </a:solidFill>
          <a:ln w="9525">
            <a:solidFill>
              <a:srgbClr val="EAD9C4"/>
            </a:solidFill>
            <a:prstDash val="solid"/>
          </a:ln>
        </p:spPr>
      </p:sp>
      <p:sp>
        <p:nvSpPr>
          <p:cNvPr id="5" name="Initial"/>
          <p:cNvSpPr/>
          <p:nvPr/>
        </p:nvSpPr>
        <p:spPr>
          <a:xfrm>
            <a:off x="457200" y="1069848"/>
            <a:ext cx="402336" cy="402336"/>
          </a:xfrm>
          <a:prstGeom prst="ellipse">
            <a:avLst/>
          </a:prstGeom>
          <a:solidFill>
            <a:srgbClr val="8C2F1B"/>
          </a:solidFill>
          <a:ln w="12700">
            <a:solidFill>
              <a:srgbClr val="8C2F1B"/>
            </a:solidFill>
            <a:prstDash val="solid"/>
          </a:ln>
        </p:spPr>
      </p:sp>
      <p:sp>
        <p:nvSpPr>
          <p:cNvPr id="6" name="Text 3"/>
          <p:cNvSpPr txBox="1"/>
          <p:nvPr/>
        </p:nvSpPr>
        <p:spPr>
          <a:xfrm>
            <a:off x="457200" y="10698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Ṛ</a:t>
            </a:r>
            <a:endParaRPr lang="en-US" sz="1400" dirty="0"/>
          </a:p>
        </p:txBody>
      </p:sp>
      <p:sp>
        <p:nvSpPr>
          <p:cNvPr id="7" name="Text 4"/>
          <p:cNvSpPr txBox="1"/>
          <p:nvPr/>
        </p:nvSpPr>
        <p:spPr>
          <a:xfrm>
            <a:off x="1005840" y="1005840"/>
            <a:ext cx="2468880" cy="530352"/>
          </a:xfrm>
          <a:prstGeom prst="rect">
            <a:avLst/>
          </a:prstGeom>
          <a:noFill/>
          <a:ln/>
        </p:spPr>
        <p:txBody>
          <a:bodyPr wrap="square" lIns="0" tIns="0" rIns="0" bIns="0" rtlCol="0" anchor="ctr"/>
          <a:lstStyle/>
          <a:p>
            <a:pPr indent="0" marL="0">
              <a:buNone/>
            </a:pPr>
            <a:r>
              <a:rPr lang="en-US" sz="1300" b="1" dirty="0">
                <a:solidFill>
                  <a:srgbClr val="8C2F1B"/>
                </a:solidFill>
              </a:rPr>
              <a:t>Ṛṣis</a:t>
            </a:r>
            <a:endParaRPr lang="en-US" sz="1300" dirty="0"/>
          </a:p>
        </p:txBody>
      </p:sp>
      <p:sp>
        <p:nvSpPr>
          <p:cNvPr id="8" name="Text 5"/>
          <p:cNvSpPr txBox="1"/>
          <p:nvPr/>
        </p:nvSpPr>
        <p:spPr>
          <a:xfrm>
            <a:off x="3566160" y="1005840"/>
            <a:ext cx="5120640" cy="530352"/>
          </a:xfrm>
          <a:prstGeom prst="rect">
            <a:avLst/>
          </a:prstGeom>
          <a:noFill/>
          <a:ln/>
        </p:spPr>
        <p:txBody>
          <a:bodyPr wrap="square" lIns="0" tIns="0" rIns="0" bIns="0" rtlCol="0" anchor="ctr"/>
          <a:lstStyle/>
          <a:p>
            <a:pPr indent="0" marL="0">
              <a:buNone/>
            </a:pPr>
            <a:r>
              <a:rPr lang="en-US" sz="1200" dirty="0">
                <a:solidFill>
                  <a:srgbClr val="2A2A2A"/>
                </a:solidFill>
              </a:rPr>
              <a:t>Declared the four human aims.</a:t>
            </a:r>
            <a:endParaRPr lang="en-US" sz="1200" dirty="0"/>
          </a:p>
        </p:txBody>
      </p:sp>
      <p:sp>
        <p:nvSpPr>
          <p:cNvPr id="9" name="Person row 2"/>
          <p:cNvSpPr/>
          <p:nvPr/>
        </p:nvSpPr>
        <p:spPr>
          <a:xfrm>
            <a:off x="365760" y="1609344"/>
            <a:ext cx="8412480" cy="530352"/>
          </a:xfrm>
          <a:prstGeom prst="roundRect">
            <a:avLst>
              <a:gd name="adj" fmla="val 10345"/>
            </a:avLst>
          </a:prstGeom>
          <a:solidFill>
            <a:srgbClr val="FFFFFF"/>
          </a:solidFill>
          <a:ln w="9525">
            <a:solidFill>
              <a:srgbClr val="EAD9C4"/>
            </a:solidFill>
            <a:prstDash val="solid"/>
          </a:ln>
        </p:spPr>
      </p:sp>
      <p:sp>
        <p:nvSpPr>
          <p:cNvPr id="10" name="Initial"/>
          <p:cNvSpPr/>
          <p:nvPr/>
        </p:nvSpPr>
        <p:spPr>
          <a:xfrm>
            <a:off x="457200" y="1673352"/>
            <a:ext cx="402336" cy="402336"/>
          </a:xfrm>
          <a:prstGeom prst="ellipse">
            <a:avLst/>
          </a:prstGeom>
          <a:solidFill>
            <a:srgbClr val="E07B00"/>
          </a:solidFill>
          <a:ln w="12700">
            <a:solidFill>
              <a:srgbClr val="E07B00"/>
            </a:solidFill>
            <a:prstDash val="solid"/>
          </a:ln>
        </p:spPr>
      </p:sp>
      <p:sp>
        <p:nvSpPr>
          <p:cNvPr id="11" name="Text 8"/>
          <p:cNvSpPr txBox="1"/>
          <p:nvPr/>
        </p:nvSpPr>
        <p:spPr>
          <a:xfrm>
            <a:off x="457200" y="16733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V</a:t>
            </a:r>
            <a:endParaRPr lang="en-US" sz="1400" dirty="0"/>
          </a:p>
        </p:txBody>
      </p:sp>
      <p:sp>
        <p:nvSpPr>
          <p:cNvPr id="12" name="Text 9"/>
          <p:cNvSpPr txBox="1"/>
          <p:nvPr/>
        </p:nvSpPr>
        <p:spPr>
          <a:xfrm>
            <a:off x="1005840" y="1609344"/>
            <a:ext cx="2468880" cy="530352"/>
          </a:xfrm>
          <a:prstGeom prst="rect">
            <a:avLst/>
          </a:prstGeom>
          <a:noFill/>
          <a:ln/>
        </p:spPr>
        <p:txBody>
          <a:bodyPr wrap="square" lIns="0" tIns="0" rIns="0" bIns="0" rtlCol="0" anchor="ctr"/>
          <a:lstStyle/>
          <a:p>
            <a:pPr indent="0" marL="0">
              <a:buNone/>
            </a:pPr>
            <a:r>
              <a:rPr lang="en-US" sz="1300" b="1" dirty="0">
                <a:solidFill>
                  <a:srgbClr val="E07B00"/>
                </a:solidFill>
              </a:rPr>
              <a:t>Vyāsa</a:t>
            </a:r>
            <a:endParaRPr lang="en-US" sz="1300" dirty="0"/>
          </a:p>
        </p:txBody>
      </p:sp>
      <p:sp>
        <p:nvSpPr>
          <p:cNvPr id="13" name="Text 10"/>
          <p:cNvSpPr txBox="1"/>
          <p:nvPr/>
        </p:nvSpPr>
        <p:spPr>
          <a:xfrm>
            <a:off x="3566160" y="1609344"/>
            <a:ext cx="5120640" cy="530352"/>
          </a:xfrm>
          <a:prstGeom prst="rect">
            <a:avLst/>
          </a:prstGeom>
          <a:noFill/>
          <a:ln/>
        </p:spPr>
        <p:txBody>
          <a:bodyPr wrap="square" lIns="0" tIns="0" rIns="0" bIns="0" rtlCol="0" anchor="ctr"/>
          <a:lstStyle/>
          <a:p>
            <a:pPr indent="0" marL="0">
              <a:buNone/>
            </a:pPr>
            <a:r>
              <a:rPr lang="en-US" sz="1200" dirty="0">
                <a:solidFill>
                  <a:srgbClr val="2A2A2A"/>
                </a:solidFill>
              </a:rPr>
              <a:t>Composed Bhārata Sāvitrī; cries that no one listens.</a:t>
            </a:r>
            <a:endParaRPr lang="en-US" sz="1200" dirty="0"/>
          </a:p>
        </p:txBody>
      </p:sp>
      <p:sp>
        <p:nvSpPr>
          <p:cNvPr id="14" name="Person row 3"/>
          <p:cNvSpPr/>
          <p:nvPr/>
        </p:nvSpPr>
        <p:spPr>
          <a:xfrm>
            <a:off x="365760" y="2212848"/>
            <a:ext cx="8412480" cy="530352"/>
          </a:xfrm>
          <a:prstGeom prst="roundRect">
            <a:avLst>
              <a:gd name="adj" fmla="val 10345"/>
            </a:avLst>
          </a:prstGeom>
          <a:solidFill>
            <a:srgbClr val="FFF4D6"/>
          </a:solidFill>
          <a:ln w="9525">
            <a:solidFill>
              <a:srgbClr val="EAD9C4"/>
            </a:solidFill>
            <a:prstDash val="solid"/>
          </a:ln>
        </p:spPr>
      </p:sp>
      <p:sp>
        <p:nvSpPr>
          <p:cNvPr id="15" name="Initial"/>
          <p:cNvSpPr/>
          <p:nvPr/>
        </p:nvSpPr>
        <p:spPr>
          <a:xfrm>
            <a:off x="457200" y="2276856"/>
            <a:ext cx="402336" cy="402336"/>
          </a:xfrm>
          <a:prstGeom prst="ellipse">
            <a:avLst/>
          </a:prstGeom>
          <a:solidFill>
            <a:srgbClr val="2E7D32"/>
          </a:solidFill>
          <a:ln w="12700">
            <a:solidFill>
              <a:srgbClr val="2E7D32"/>
            </a:solidFill>
            <a:prstDash val="solid"/>
          </a:ln>
        </p:spPr>
      </p:sp>
      <p:sp>
        <p:nvSpPr>
          <p:cNvPr id="16" name="Text 13"/>
          <p:cNvSpPr txBox="1"/>
          <p:nvPr/>
        </p:nvSpPr>
        <p:spPr>
          <a:xfrm>
            <a:off x="457200" y="2276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S</a:t>
            </a:r>
            <a:endParaRPr lang="en-US" sz="1400" dirty="0"/>
          </a:p>
        </p:txBody>
      </p:sp>
      <p:sp>
        <p:nvSpPr>
          <p:cNvPr id="17" name="Text 14"/>
          <p:cNvSpPr txBox="1"/>
          <p:nvPr/>
        </p:nvSpPr>
        <p:spPr>
          <a:xfrm>
            <a:off x="1005840" y="2212848"/>
            <a:ext cx="2468880" cy="530352"/>
          </a:xfrm>
          <a:prstGeom prst="rect">
            <a:avLst/>
          </a:prstGeom>
          <a:noFill/>
          <a:ln/>
        </p:spPr>
        <p:txBody>
          <a:bodyPr wrap="square" lIns="0" tIns="0" rIns="0" bIns="0" rtlCol="0" anchor="ctr"/>
          <a:lstStyle/>
          <a:p>
            <a:pPr indent="0" marL="0">
              <a:buNone/>
            </a:pPr>
            <a:r>
              <a:rPr lang="en-US" sz="1300" b="1" dirty="0">
                <a:solidFill>
                  <a:srgbClr val="2E7D32"/>
                </a:solidFill>
              </a:rPr>
              <a:t>Students of top institutions</a:t>
            </a:r>
            <a:endParaRPr lang="en-US" sz="1300" dirty="0"/>
          </a:p>
        </p:txBody>
      </p:sp>
      <p:sp>
        <p:nvSpPr>
          <p:cNvPr id="18" name="Text 15"/>
          <p:cNvSpPr txBox="1"/>
          <p:nvPr/>
        </p:nvSpPr>
        <p:spPr>
          <a:xfrm>
            <a:off x="3566160" y="2212848"/>
            <a:ext cx="5120640" cy="530352"/>
          </a:xfrm>
          <a:prstGeom prst="rect">
            <a:avLst/>
          </a:prstGeom>
          <a:noFill/>
          <a:ln/>
        </p:spPr>
        <p:txBody>
          <a:bodyPr wrap="square" lIns="0" tIns="0" rIns="0" bIns="0" rtlCol="0" anchor="ctr"/>
          <a:lstStyle/>
          <a:p>
            <a:pPr indent="0" marL="0">
              <a:buNone/>
            </a:pPr>
            <a:r>
              <a:rPr lang="en-US" sz="1200" dirty="0">
                <a:solidFill>
                  <a:srgbClr val="2A2A2A"/>
                </a:solidFill>
              </a:rPr>
              <a:t>Example of those taking kāma as the goal.</a:t>
            </a:r>
            <a:endParaRPr lang="en-US" sz="1200" dirty="0"/>
          </a:p>
        </p:txBody>
      </p:sp>
      <p:sp>
        <p:nvSpPr>
          <p:cNvPr id="19" name="Person row 4"/>
          <p:cNvSpPr/>
          <p:nvPr/>
        </p:nvSpPr>
        <p:spPr>
          <a:xfrm>
            <a:off x="365760" y="2816352"/>
            <a:ext cx="8412480" cy="530352"/>
          </a:xfrm>
          <a:prstGeom prst="roundRect">
            <a:avLst>
              <a:gd name="adj" fmla="val 10345"/>
            </a:avLst>
          </a:prstGeom>
          <a:solidFill>
            <a:srgbClr val="FFFFFF"/>
          </a:solidFill>
          <a:ln w="9525">
            <a:solidFill>
              <a:srgbClr val="EAD9C4"/>
            </a:solidFill>
            <a:prstDash val="solid"/>
          </a:ln>
        </p:spPr>
      </p:sp>
      <p:sp>
        <p:nvSpPr>
          <p:cNvPr id="20" name="Initial"/>
          <p:cNvSpPr/>
          <p:nvPr/>
        </p:nvSpPr>
        <p:spPr>
          <a:xfrm>
            <a:off x="457200" y="2880360"/>
            <a:ext cx="402336" cy="402336"/>
          </a:xfrm>
          <a:prstGeom prst="ellipse">
            <a:avLst/>
          </a:prstGeom>
          <a:solidFill>
            <a:srgbClr val="6A1B9A"/>
          </a:solidFill>
          <a:ln w="12700">
            <a:solidFill>
              <a:srgbClr val="6A1B9A"/>
            </a:solidFill>
            <a:prstDash val="solid"/>
          </a:ln>
        </p:spPr>
      </p:sp>
      <p:sp>
        <p:nvSpPr>
          <p:cNvPr id="21" name="Text 18"/>
          <p:cNvSpPr txBox="1"/>
          <p:nvPr/>
        </p:nvSpPr>
        <p:spPr>
          <a:xfrm>
            <a:off x="457200" y="28803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P</a:t>
            </a:r>
            <a:endParaRPr lang="en-US" sz="1400" dirty="0"/>
          </a:p>
        </p:txBody>
      </p:sp>
      <p:sp>
        <p:nvSpPr>
          <p:cNvPr id="22" name="Text 19"/>
          <p:cNvSpPr txBox="1"/>
          <p:nvPr/>
        </p:nvSpPr>
        <p:spPr>
          <a:xfrm>
            <a:off x="1005840" y="2816352"/>
            <a:ext cx="2468880" cy="530352"/>
          </a:xfrm>
          <a:prstGeom prst="rect">
            <a:avLst/>
          </a:prstGeom>
          <a:noFill/>
          <a:ln/>
        </p:spPr>
        <p:txBody>
          <a:bodyPr wrap="square" lIns="0" tIns="0" rIns="0" bIns="0" rtlCol="0" anchor="ctr"/>
          <a:lstStyle/>
          <a:p>
            <a:pPr indent="0" marL="0">
              <a:buNone/>
            </a:pPr>
            <a:r>
              <a:rPr lang="en-US" sz="1300" b="1" dirty="0">
                <a:solidFill>
                  <a:srgbClr val="6A1B9A"/>
                </a:solidFill>
              </a:rPr>
              <a:t>Parents and children</a:t>
            </a:r>
            <a:endParaRPr lang="en-US" sz="1300" dirty="0"/>
          </a:p>
        </p:txBody>
      </p:sp>
      <p:sp>
        <p:nvSpPr>
          <p:cNvPr id="23" name="Text 20"/>
          <p:cNvSpPr txBox="1"/>
          <p:nvPr/>
        </p:nvSpPr>
        <p:spPr>
          <a:xfrm>
            <a:off x="3566160" y="2816352"/>
            <a:ext cx="5120640" cy="530352"/>
          </a:xfrm>
          <a:prstGeom prst="rect">
            <a:avLst/>
          </a:prstGeom>
          <a:noFill/>
          <a:ln/>
        </p:spPr>
        <p:txBody>
          <a:bodyPr wrap="square" lIns="0" tIns="0" rIns="0" bIns="0" rtlCol="0" anchor="ctr"/>
          <a:lstStyle/>
          <a:p>
            <a:pPr indent="0" marL="0">
              <a:buNone/>
            </a:pPr>
            <a:r>
              <a:rPr lang="en-US" sz="1200" dirty="0">
                <a:solidFill>
                  <a:srgbClr val="2A2A2A"/>
                </a:solidFill>
              </a:rPr>
              <a:t>Pocket-money example.</a:t>
            </a:r>
            <a:endParaRPr lang="en-US" sz="1200" dirty="0"/>
          </a:p>
        </p:txBody>
      </p:sp>
      <p:sp>
        <p:nvSpPr>
          <p:cNvPr id="24" name="Person row 5"/>
          <p:cNvSpPr/>
          <p:nvPr/>
        </p:nvSpPr>
        <p:spPr>
          <a:xfrm>
            <a:off x="365760" y="3419856"/>
            <a:ext cx="8412480" cy="530352"/>
          </a:xfrm>
          <a:prstGeom prst="roundRect">
            <a:avLst>
              <a:gd name="adj" fmla="val 10345"/>
            </a:avLst>
          </a:prstGeom>
          <a:solidFill>
            <a:srgbClr val="FFF4D6"/>
          </a:solidFill>
          <a:ln w="9525">
            <a:solidFill>
              <a:srgbClr val="EAD9C4"/>
            </a:solidFill>
            <a:prstDash val="solid"/>
          </a:ln>
        </p:spPr>
      </p:sp>
      <p:sp>
        <p:nvSpPr>
          <p:cNvPr id="25" name="Initial"/>
          <p:cNvSpPr/>
          <p:nvPr/>
        </p:nvSpPr>
        <p:spPr>
          <a:xfrm>
            <a:off x="457200" y="3483864"/>
            <a:ext cx="402336" cy="402336"/>
          </a:xfrm>
          <a:prstGeom prst="ellipse">
            <a:avLst/>
          </a:prstGeom>
          <a:solidFill>
            <a:srgbClr val="1565C0"/>
          </a:solidFill>
          <a:ln w="12700">
            <a:solidFill>
              <a:srgbClr val="1565C0"/>
            </a:solidFill>
            <a:prstDash val="solid"/>
          </a:ln>
        </p:spPr>
      </p:sp>
      <p:sp>
        <p:nvSpPr>
          <p:cNvPr id="26" name="Text 23"/>
          <p:cNvSpPr txBox="1"/>
          <p:nvPr/>
        </p:nvSpPr>
        <p:spPr>
          <a:xfrm>
            <a:off x="457200" y="348386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L</a:t>
            </a:r>
            <a:endParaRPr lang="en-US" sz="1400" dirty="0"/>
          </a:p>
        </p:txBody>
      </p:sp>
      <p:sp>
        <p:nvSpPr>
          <p:cNvPr id="27" name="Text 24"/>
          <p:cNvSpPr txBox="1"/>
          <p:nvPr/>
        </p:nvSpPr>
        <p:spPr>
          <a:xfrm>
            <a:off x="1005840" y="3419856"/>
            <a:ext cx="2468880" cy="530352"/>
          </a:xfrm>
          <a:prstGeom prst="rect">
            <a:avLst/>
          </a:prstGeom>
          <a:noFill/>
          <a:ln/>
        </p:spPr>
        <p:txBody>
          <a:bodyPr wrap="square" lIns="0" tIns="0" rIns="0" bIns="0" rtlCol="0" anchor="ctr"/>
          <a:lstStyle/>
          <a:p>
            <a:pPr indent="0" marL="0">
              <a:buNone/>
            </a:pPr>
            <a:r>
              <a:rPr lang="en-US" sz="1300" b="1" dirty="0">
                <a:solidFill>
                  <a:srgbClr val="1565C0"/>
                </a:solidFill>
              </a:rPr>
              <a:t>Lakṣmī Devī</a:t>
            </a:r>
            <a:endParaRPr lang="en-US" sz="1300" dirty="0"/>
          </a:p>
        </p:txBody>
      </p:sp>
      <p:sp>
        <p:nvSpPr>
          <p:cNvPr id="28" name="Text 25"/>
          <p:cNvSpPr txBox="1"/>
          <p:nvPr/>
        </p:nvSpPr>
        <p:spPr>
          <a:xfrm>
            <a:off x="3566160" y="3419856"/>
            <a:ext cx="5120640" cy="530352"/>
          </a:xfrm>
          <a:prstGeom prst="rect">
            <a:avLst/>
          </a:prstGeom>
          <a:noFill/>
          <a:ln/>
        </p:spPr>
        <p:txBody>
          <a:bodyPr wrap="square" lIns="0" tIns="0" rIns="0" bIns="0" rtlCol="0" anchor="ctr"/>
          <a:lstStyle/>
          <a:p>
            <a:pPr indent="0" marL="0">
              <a:buNone/>
            </a:pPr>
            <a:r>
              <a:rPr lang="en-US" sz="1200" dirty="0">
                <a:solidFill>
                  <a:srgbClr val="2A2A2A"/>
                </a:solidFill>
              </a:rPr>
              <a:t>Goddess of prosperity.</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Ślokas, sayings and sources (1/2)</a:t>
            </a:r>
            <a:endParaRPr lang="en-US" sz="2600" dirty="0"/>
          </a:p>
        </p:txBody>
      </p:sp>
      <p:sp>
        <p:nvSpPr>
          <p:cNvPr id="4" name="Sloka card 1"/>
          <p:cNvSpPr/>
          <p:nvPr/>
        </p:nvSpPr>
        <p:spPr>
          <a:xfrm>
            <a:off x="365760" y="1005840"/>
            <a:ext cx="8412480" cy="595630"/>
          </a:xfrm>
          <a:prstGeom prst="roundRect">
            <a:avLst>
              <a:gd name="adj" fmla="val 12281"/>
            </a:avLst>
          </a:prstGeom>
          <a:solidFill>
            <a:srgbClr val="FFF4D6"/>
          </a:solidFill>
          <a:ln w="12700">
            <a:solidFill>
              <a:srgbClr val="EAD9C4"/>
            </a:solidFill>
            <a:prstDash val="solid"/>
          </a:ln>
        </p:spPr>
      </p:sp>
      <p:sp>
        <p:nvSpPr>
          <p:cNvPr id="5" name="Text 2"/>
          <p:cNvSpPr txBox="1"/>
          <p:nvPr/>
        </p:nvSpPr>
        <p:spPr>
          <a:xfrm>
            <a:off x="548640" y="1005840"/>
            <a:ext cx="3840480" cy="595630"/>
          </a:xfrm>
          <a:prstGeom prst="rect">
            <a:avLst/>
          </a:prstGeom>
          <a:noFill/>
          <a:ln/>
        </p:spPr>
        <p:txBody>
          <a:bodyPr wrap="square" lIns="0" tIns="0" rIns="0" bIns="0" rtlCol="0" anchor="ctr"/>
          <a:lstStyle/>
          <a:p>
            <a:pPr indent="0" marL="0">
              <a:buNone/>
            </a:pPr>
            <a:r>
              <a:rPr lang="en-US" sz="1300" i="1" dirty="0">
                <a:solidFill>
                  <a:srgbClr val="8C2F1B"/>
                </a:solidFill>
                <a:latin typeface="Cambria" pitchFamily="34" charset="0"/>
                <a:ea typeface="Cambria" pitchFamily="34" charset="-122"/>
                <a:cs typeface="Cambria" pitchFamily="34" charset="-120"/>
              </a:rPr>
              <a:t>tato me śriyam āvaha (Taittirīya Upaniṣad)</a:t>
            </a:r>
            <a:endParaRPr lang="en-US" sz="1300" dirty="0"/>
          </a:p>
        </p:txBody>
      </p:sp>
      <p:sp>
        <p:nvSpPr>
          <p:cNvPr id="6" name="Text 3"/>
          <p:cNvSpPr txBox="1"/>
          <p:nvPr/>
        </p:nvSpPr>
        <p:spPr>
          <a:xfrm>
            <a:off x="4572000" y="1005840"/>
            <a:ext cx="4069080" cy="595630"/>
          </a:xfrm>
          <a:prstGeom prst="rect">
            <a:avLst/>
          </a:prstGeom>
          <a:noFill/>
          <a:ln/>
        </p:spPr>
        <p:txBody>
          <a:bodyPr wrap="square" lIns="0" tIns="0" rIns="0" bIns="0" rtlCol="0" anchor="ctr"/>
          <a:lstStyle/>
          <a:p>
            <a:pPr indent="0" marL="0">
              <a:buNone/>
            </a:pPr>
            <a:r>
              <a:rPr lang="en-US" sz="1300" dirty="0">
                <a:solidFill>
                  <a:srgbClr val="2A2A2A"/>
                </a:solidFill>
              </a:rPr>
              <a:t>After that (intelligence), bring Lakṣmī to me.</a:t>
            </a:r>
            <a:endParaRPr lang="en-US" sz="1300" dirty="0"/>
          </a:p>
        </p:txBody>
      </p:sp>
      <p:sp>
        <p:nvSpPr>
          <p:cNvPr id="7" name="Sloka card 2"/>
          <p:cNvSpPr/>
          <p:nvPr/>
        </p:nvSpPr>
        <p:spPr>
          <a:xfrm>
            <a:off x="365760" y="1711198"/>
            <a:ext cx="8412480" cy="802005"/>
          </a:xfrm>
          <a:prstGeom prst="roundRect">
            <a:avLst>
              <a:gd name="adj" fmla="val 9121"/>
            </a:avLst>
          </a:prstGeom>
          <a:solidFill>
            <a:srgbClr val="FFF4D6"/>
          </a:solidFill>
          <a:ln w="12700">
            <a:solidFill>
              <a:srgbClr val="EAD9C4"/>
            </a:solidFill>
            <a:prstDash val="solid"/>
          </a:ln>
        </p:spPr>
      </p:sp>
      <p:sp>
        <p:nvSpPr>
          <p:cNvPr id="8" name="Text 5"/>
          <p:cNvSpPr txBox="1"/>
          <p:nvPr/>
        </p:nvSpPr>
        <p:spPr>
          <a:xfrm>
            <a:off x="548640" y="1711198"/>
            <a:ext cx="3840480" cy="802005"/>
          </a:xfrm>
          <a:prstGeom prst="rect">
            <a:avLst/>
          </a:prstGeom>
          <a:noFill/>
          <a:ln/>
        </p:spPr>
        <p:txBody>
          <a:bodyPr wrap="square" lIns="0" tIns="0" rIns="0" bIns="0" rtlCol="0" anchor="ctr"/>
          <a:lstStyle/>
          <a:p>
            <a:pPr indent="0" marL="0">
              <a:buNone/>
            </a:pPr>
            <a:r>
              <a:rPr lang="en-US" sz="1300" i="1" dirty="0">
                <a:solidFill>
                  <a:srgbClr val="E07B00"/>
                </a:solidFill>
                <a:latin typeface="Cambria" pitchFamily="34" charset="0"/>
                <a:ea typeface="Cambria" pitchFamily="34" charset="-122"/>
                <a:cs typeface="Cambria" pitchFamily="34" charset="-120"/>
              </a:rPr>
              <a:t>mātā-pitṛ-sahasrāṇi putra-dāra-śatāni ca; saṃsāreṣv anubhūtāni yānti yāsyanti cāpare</a:t>
            </a:r>
            <a:endParaRPr lang="en-US" sz="1300" dirty="0"/>
          </a:p>
        </p:txBody>
      </p:sp>
      <p:sp>
        <p:nvSpPr>
          <p:cNvPr id="9" name="Text 6"/>
          <p:cNvSpPr txBox="1"/>
          <p:nvPr/>
        </p:nvSpPr>
        <p:spPr>
          <a:xfrm>
            <a:off x="4572000" y="1711198"/>
            <a:ext cx="4069080" cy="802005"/>
          </a:xfrm>
          <a:prstGeom prst="rect">
            <a:avLst/>
          </a:prstGeom>
          <a:noFill/>
          <a:ln/>
        </p:spPr>
        <p:txBody>
          <a:bodyPr wrap="square" lIns="0" tIns="0" rIns="0" bIns="0" rtlCol="0" anchor="ctr"/>
          <a:lstStyle/>
          <a:p>
            <a:pPr indent="0" marL="0">
              <a:buNone/>
            </a:pPr>
            <a:r>
              <a:rPr lang="en-US" sz="1300" dirty="0">
                <a:solidFill>
                  <a:srgbClr val="2A2A2A"/>
                </a:solidFill>
              </a:rPr>
              <a:t>Thousands of parents and hundreds of sons and wives have come and gone in saṃsāra.</a:t>
            </a:r>
            <a:endParaRPr lang="en-US" sz="1300" dirty="0"/>
          </a:p>
        </p:txBody>
      </p:sp>
      <p:sp>
        <p:nvSpPr>
          <p:cNvPr id="10" name="Sloka card 3"/>
          <p:cNvSpPr/>
          <p:nvPr/>
        </p:nvSpPr>
        <p:spPr>
          <a:xfrm>
            <a:off x="365760" y="2622931"/>
            <a:ext cx="8412480" cy="802005"/>
          </a:xfrm>
          <a:prstGeom prst="roundRect">
            <a:avLst>
              <a:gd name="adj" fmla="val 9121"/>
            </a:avLst>
          </a:prstGeom>
          <a:solidFill>
            <a:srgbClr val="FFF4D6"/>
          </a:solidFill>
          <a:ln w="12700">
            <a:solidFill>
              <a:srgbClr val="EAD9C4"/>
            </a:solidFill>
            <a:prstDash val="solid"/>
          </a:ln>
        </p:spPr>
      </p:sp>
      <p:sp>
        <p:nvSpPr>
          <p:cNvPr id="11" name="Text 8"/>
          <p:cNvSpPr txBox="1"/>
          <p:nvPr/>
        </p:nvSpPr>
        <p:spPr>
          <a:xfrm>
            <a:off x="548640" y="2622931"/>
            <a:ext cx="3840480" cy="802005"/>
          </a:xfrm>
          <a:prstGeom prst="rect">
            <a:avLst/>
          </a:prstGeom>
          <a:noFill/>
          <a:ln/>
        </p:spPr>
        <p:txBody>
          <a:bodyPr wrap="square" lIns="0" tIns="0" rIns="0" bIns="0" rtlCol="0" anchor="ctr"/>
          <a:lstStyle/>
          <a:p>
            <a:pPr indent="0" marL="0">
              <a:buNone/>
            </a:pPr>
            <a:r>
              <a:rPr lang="en-US" sz="1300" i="1" dirty="0">
                <a:solidFill>
                  <a:srgbClr val="2E7D32"/>
                </a:solidFill>
                <a:latin typeface="Cambria" pitchFamily="34" charset="0"/>
                <a:ea typeface="Cambria" pitchFamily="34" charset="-122"/>
                <a:cs typeface="Cambria" pitchFamily="34" charset="-120"/>
              </a:rPr>
              <a:t>harṣa-sthāna-sahasrāṇi bhaya-sthāna-śatāni ca; divase divase mūḍham āviśanti na paṇḍitam</a:t>
            </a:r>
            <a:endParaRPr lang="en-US" sz="1300" dirty="0"/>
          </a:p>
        </p:txBody>
      </p:sp>
      <p:sp>
        <p:nvSpPr>
          <p:cNvPr id="12" name="Text 9"/>
          <p:cNvSpPr txBox="1"/>
          <p:nvPr/>
        </p:nvSpPr>
        <p:spPr>
          <a:xfrm>
            <a:off x="4572000" y="2622931"/>
            <a:ext cx="4069080" cy="802005"/>
          </a:xfrm>
          <a:prstGeom prst="rect">
            <a:avLst/>
          </a:prstGeom>
          <a:noFill/>
          <a:ln/>
        </p:spPr>
        <p:txBody>
          <a:bodyPr wrap="square" lIns="0" tIns="0" rIns="0" bIns="0" rtlCol="0" anchor="ctr"/>
          <a:lstStyle/>
          <a:p>
            <a:pPr indent="0" marL="0">
              <a:buNone/>
            </a:pPr>
            <a:r>
              <a:rPr lang="en-US" sz="1300" dirty="0">
                <a:solidFill>
                  <a:srgbClr val="2A2A2A"/>
                </a:solidFill>
              </a:rPr>
              <a:t>Many reasons for joy and fear trouble the fool daily, not the wise.</a:t>
            </a:r>
            <a:endParaRPr lang="en-US" sz="1300" dirty="0"/>
          </a:p>
        </p:txBody>
      </p:sp>
      <p:sp>
        <p:nvSpPr>
          <p:cNvPr id="13" name="Sloka card 4"/>
          <p:cNvSpPr/>
          <p:nvPr/>
        </p:nvSpPr>
        <p:spPr>
          <a:xfrm>
            <a:off x="365760" y="3534664"/>
            <a:ext cx="8412480" cy="595630"/>
          </a:xfrm>
          <a:prstGeom prst="roundRect">
            <a:avLst>
              <a:gd name="adj" fmla="val 12281"/>
            </a:avLst>
          </a:prstGeom>
          <a:solidFill>
            <a:srgbClr val="FFF4D6"/>
          </a:solidFill>
          <a:ln w="12700">
            <a:solidFill>
              <a:srgbClr val="EAD9C4"/>
            </a:solidFill>
            <a:prstDash val="solid"/>
          </a:ln>
        </p:spPr>
      </p:sp>
      <p:sp>
        <p:nvSpPr>
          <p:cNvPr id="14" name="Text 11"/>
          <p:cNvSpPr txBox="1"/>
          <p:nvPr/>
        </p:nvSpPr>
        <p:spPr>
          <a:xfrm>
            <a:off x="548640" y="3534664"/>
            <a:ext cx="3840480" cy="595630"/>
          </a:xfrm>
          <a:prstGeom prst="rect">
            <a:avLst/>
          </a:prstGeom>
          <a:noFill/>
          <a:ln/>
        </p:spPr>
        <p:txBody>
          <a:bodyPr wrap="square" lIns="0" tIns="0" rIns="0" bIns="0" rtlCol="0" anchor="ctr"/>
          <a:lstStyle/>
          <a:p>
            <a:pPr indent="0" marL="0">
              <a:buNone/>
            </a:pPr>
            <a:r>
              <a:rPr lang="en-US" sz="1300" i="1" dirty="0">
                <a:solidFill>
                  <a:srgbClr val="6A1B9A"/>
                </a:solidFill>
                <a:latin typeface="Cambria" pitchFamily="34" charset="0"/>
                <a:ea typeface="Cambria" pitchFamily="34" charset="-122"/>
                <a:cs typeface="Cambria" pitchFamily="34" charset="-120"/>
              </a:rPr>
              <a:t>dharmād arthaś ca kāmaś ca sa kimartham na sevyate</a:t>
            </a:r>
            <a:endParaRPr lang="en-US" sz="1300" dirty="0"/>
          </a:p>
        </p:txBody>
      </p:sp>
      <p:sp>
        <p:nvSpPr>
          <p:cNvPr id="15" name="Text 12"/>
          <p:cNvSpPr txBox="1"/>
          <p:nvPr/>
        </p:nvSpPr>
        <p:spPr>
          <a:xfrm>
            <a:off x="4572000" y="3534664"/>
            <a:ext cx="4069080" cy="595630"/>
          </a:xfrm>
          <a:prstGeom prst="rect">
            <a:avLst/>
          </a:prstGeom>
          <a:noFill/>
          <a:ln/>
        </p:spPr>
        <p:txBody>
          <a:bodyPr wrap="square" lIns="0" tIns="0" rIns="0" bIns="0" rtlCol="0" anchor="ctr"/>
          <a:lstStyle/>
          <a:p>
            <a:pPr indent="0" marL="0">
              <a:buNone/>
            </a:pPr>
            <a:r>
              <a:rPr lang="en-US" sz="1300" dirty="0">
                <a:solidFill>
                  <a:srgbClr val="2A2A2A"/>
                </a:solidFill>
              </a:rPr>
              <a:t>Artha and kāma come from Dharma; why not follow Dharma?</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Ślokas, sayings and sources (2/2)</a:t>
            </a:r>
            <a:endParaRPr lang="en-US" sz="2600" dirty="0"/>
          </a:p>
        </p:txBody>
      </p:sp>
      <p:sp>
        <p:nvSpPr>
          <p:cNvPr id="4" name="Sloka card 1"/>
          <p:cNvSpPr/>
          <p:nvPr/>
        </p:nvSpPr>
        <p:spPr>
          <a:xfrm>
            <a:off x="365760" y="1005840"/>
            <a:ext cx="8412480" cy="1008380"/>
          </a:xfrm>
          <a:prstGeom prst="roundRect">
            <a:avLst>
              <a:gd name="adj" fmla="val 7254"/>
            </a:avLst>
          </a:prstGeom>
          <a:solidFill>
            <a:srgbClr val="FFF4D6"/>
          </a:solidFill>
          <a:ln w="12700">
            <a:solidFill>
              <a:srgbClr val="EAD9C4"/>
            </a:solidFill>
            <a:prstDash val="solid"/>
          </a:ln>
        </p:spPr>
      </p:sp>
      <p:sp>
        <p:nvSpPr>
          <p:cNvPr id="5" name="Text 2"/>
          <p:cNvSpPr txBox="1"/>
          <p:nvPr/>
        </p:nvSpPr>
        <p:spPr>
          <a:xfrm>
            <a:off x="548640" y="1005840"/>
            <a:ext cx="3840480" cy="1008380"/>
          </a:xfrm>
          <a:prstGeom prst="rect">
            <a:avLst/>
          </a:prstGeom>
          <a:noFill/>
          <a:ln/>
        </p:spPr>
        <p:txBody>
          <a:bodyPr wrap="square" lIns="0" tIns="0" rIns="0" bIns="0" rtlCol="0" anchor="ctr"/>
          <a:lstStyle/>
          <a:p>
            <a:pPr indent="0" marL="0">
              <a:buNone/>
            </a:pPr>
            <a:r>
              <a:rPr lang="en-US" sz="1300" i="1" dirty="0">
                <a:solidFill>
                  <a:srgbClr val="6A1B9A"/>
                </a:solidFill>
                <a:latin typeface="Cambria" pitchFamily="34" charset="0"/>
                <a:ea typeface="Cambria" pitchFamily="34" charset="-122"/>
                <a:cs typeface="Cambria" pitchFamily="34" charset="-120"/>
              </a:rPr>
              <a:t>na jātu kāmān na bhayān na lobhād dharmaṃ tyajej jīvitasyāpi hetoḥ; nityo dharmaḥ sukha-duḥkhe tv anitye jīvo nityo hetur asya tv anityaḥ</a:t>
            </a:r>
            <a:endParaRPr lang="en-US" sz="1300" dirty="0"/>
          </a:p>
        </p:txBody>
      </p:sp>
      <p:sp>
        <p:nvSpPr>
          <p:cNvPr id="6" name="Text 3"/>
          <p:cNvSpPr txBox="1"/>
          <p:nvPr/>
        </p:nvSpPr>
        <p:spPr>
          <a:xfrm>
            <a:off x="4572000" y="1005840"/>
            <a:ext cx="4069080" cy="1008380"/>
          </a:xfrm>
          <a:prstGeom prst="rect">
            <a:avLst/>
          </a:prstGeom>
          <a:noFill/>
          <a:ln/>
        </p:spPr>
        <p:txBody>
          <a:bodyPr wrap="square" lIns="0" tIns="0" rIns="0" bIns="0" rtlCol="0" anchor="ctr"/>
          <a:lstStyle/>
          <a:p>
            <a:pPr indent="0" marL="0">
              <a:buNone/>
            </a:pPr>
            <a:r>
              <a:rPr lang="en-US" sz="1300" dirty="0">
                <a:solidFill>
                  <a:srgbClr val="2A2A2A"/>
                </a:solidFill>
              </a:rPr>
              <a:t>Never abandon Dharma for desire, fear, greed or life; Dharma and the soul are eternal, pleasure, pain and the body are not.</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200" b="1" dirty="0">
                <a:solidFill>
                  <a:srgbClr val="8C2F1B"/>
                </a:solidFill>
                <a:latin typeface="Cambria" pitchFamily="34" charset="0"/>
                <a:ea typeface="Cambria" pitchFamily="34" charset="-122"/>
                <a:cs typeface="Cambria" pitchFamily="34" charset="-120"/>
              </a:rPr>
              <a:t>Avāhanti homa: the four goals in order</a:t>
            </a:r>
            <a:endParaRPr lang="en-US" sz="2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785560"/>
                <a:gridCol w="2269397"/>
                <a:gridCol w="5357523"/>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Goal</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Why in this place</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Dhana-prāpti (wealth)</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Needed to perform karma, karma yoga and serve society</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Citta-śuddhi (pure mind)</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Wealth must be used so it purifies the mind</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Jñāna-prāpti (knowledge)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 pure mind can receive knowledge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Śiṣya-prāpti (students)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Knowledge must be shared to preserve the paramparā</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200" b="1" dirty="0">
                <a:solidFill>
                  <a:srgbClr val="8C2F1B"/>
                </a:solidFill>
                <a:latin typeface="Cambria" pitchFamily="34" charset="0"/>
                <a:ea typeface="Cambria" pitchFamily="34" charset="-122"/>
                <a:cs typeface="Cambria" pitchFamily="34" charset="-120"/>
              </a:rPr>
              <a:t>Correct vs modern sequence of life goals</a:t>
            </a:r>
            <a:endParaRPr lang="en-US" sz="2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1920259"/>
                <a:gridCol w="3246111"/>
                <a:gridCol w="3246111"/>
              </a:tblGrid>
              <a:tr h="0">
                <a:tc>
                  <a:txBody>
                    <a:bodyPr/>
                    <a:lstStyle/>
                    <a:p>
                      <a:pPr indent="0" marL="0">
                        <a:buNone/>
                      </a:pP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Correct (Ṛṣis)</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Modern pattern</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Start</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Healthy kāma in a sound body and mind</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Kāma without discernment (big car, house, screens)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Means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Artha earned and spent by Dharma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Any means justified ('Dharma these days')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End</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Mokṣa: inner peace and freedom</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Stress, anxiety, loneliness; no present</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Mind map of the chapter</a:t>
            </a:r>
            <a:endParaRPr lang="en-US" sz="2600" dirty="0"/>
          </a:p>
        </p:txBody>
      </p:sp>
      <p:pic>
        <p:nvPicPr>
          <p:cNvPr id="4" name="Mind map" descr="Chapter mind map">    </p:cNvPr>
          <p:cNvPicPr>
            <a:picLocks noChangeAspect="1"/>
          </p:cNvPicPr>
          <p:nvPr/>
        </p:nvPicPr>
        <p:blipFill>
          <a:blip r:embed="rId1"/>
          <a:stretch>
            <a:fillRect/>
          </a:stretch>
        </p:blipFill>
        <p:spPr>
          <a:xfrm>
            <a:off x="1041991" y="914400"/>
            <a:ext cx="7060019" cy="3794760"/>
          </a:xfrm>
          <a:prstGeom prst="rect">
            <a:avLst/>
          </a:prstGeom>
        </p:spPr>
      </p:pic>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Memory aids</a:t>
            </a:r>
            <a:endParaRPr lang="en-US" sz="2600" dirty="0"/>
          </a:p>
        </p:txBody>
      </p:sp>
      <p:sp>
        <p:nvSpPr>
          <p:cNvPr id="4" name="Memory card 1"/>
          <p:cNvSpPr/>
          <p:nvPr/>
        </p:nvSpPr>
        <p:spPr>
          <a:xfrm>
            <a:off x="365760" y="1005840"/>
            <a:ext cx="4114800" cy="1115568"/>
          </a:xfrm>
          <a:prstGeom prst="roundRect">
            <a:avLst>
              <a:gd name="adj" fmla="val 8197"/>
            </a:avLst>
          </a:prstGeom>
          <a:solidFill>
            <a:srgbClr val="FFF4D6"/>
          </a:solidFill>
          <a:ln w="19050">
            <a:solidFill>
              <a:srgbClr val="8C2F1B"/>
            </a:solidFill>
            <a:prstDash val="solid"/>
          </a:ln>
        </p:spPr>
      </p:sp>
      <p:sp>
        <p:nvSpPr>
          <p:cNvPr id="5" name="Badge"/>
          <p:cNvSpPr/>
          <p:nvPr/>
        </p:nvSpPr>
        <p:spPr>
          <a:xfrm>
            <a:off x="475488" y="1115568"/>
            <a:ext cx="347472" cy="347472"/>
          </a:xfrm>
          <a:prstGeom prst="ellipse">
            <a:avLst/>
          </a:prstGeom>
          <a:solidFill>
            <a:srgbClr val="8C2F1B"/>
          </a:solidFill>
          <a:ln w="12700">
            <a:solidFill>
              <a:srgbClr val="8C2F1B"/>
            </a:solidFill>
            <a:prstDash val="solid"/>
          </a:ln>
        </p:spPr>
      </p:sp>
      <p:sp>
        <p:nvSpPr>
          <p:cNvPr id="6" name="Text 3"/>
          <p:cNvSpPr txBox="1"/>
          <p:nvPr/>
        </p:nvSpPr>
        <p:spPr>
          <a:xfrm>
            <a:off x="475488" y="11155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7" name="Text 4"/>
          <p:cNvSpPr txBox="1"/>
          <p:nvPr/>
        </p:nvSpPr>
        <p:spPr>
          <a:xfrm>
            <a:off x="914400" y="100584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Avāhanti homa = D-C-J-S: Dhana, Citta-śuddhi, Jñāna, Śiṣya.</a:t>
            </a:r>
            <a:endParaRPr lang="en-US" sz="1300" dirty="0"/>
          </a:p>
        </p:txBody>
      </p:sp>
      <p:sp>
        <p:nvSpPr>
          <p:cNvPr id="8" name="Memory card 2"/>
          <p:cNvSpPr/>
          <p:nvPr/>
        </p:nvSpPr>
        <p:spPr>
          <a:xfrm>
            <a:off x="4663440" y="1005840"/>
            <a:ext cx="4114800" cy="1115568"/>
          </a:xfrm>
          <a:prstGeom prst="roundRect">
            <a:avLst>
              <a:gd name="adj" fmla="val 8197"/>
            </a:avLst>
          </a:prstGeom>
          <a:solidFill>
            <a:srgbClr val="FFF4D6"/>
          </a:solidFill>
          <a:ln w="19050">
            <a:solidFill>
              <a:srgbClr val="E07B00"/>
            </a:solidFill>
            <a:prstDash val="solid"/>
          </a:ln>
        </p:spPr>
      </p:sp>
      <p:sp>
        <p:nvSpPr>
          <p:cNvPr id="9" name="Badge"/>
          <p:cNvSpPr/>
          <p:nvPr/>
        </p:nvSpPr>
        <p:spPr>
          <a:xfrm>
            <a:off x="4773168" y="1115568"/>
            <a:ext cx="347472" cy="347472"/>
          </a:xfrm>
          <a:prstGeom prst="ellipse">
            <a:avLst/>
          </a:prstGeom>
          <a:solidFill>
            <a:srgbClr val="E07B00"/>
          </a:solidFill>
          <a:ln w="12700">
            <a:solidFill>
              <a:srgbClr val="E07B00"/>
            </a:solidFill>
            <a:prstDash val="solid"/>
          </a:ln>
        </p:spPr>
      </p:sp>
      <p:sp>
        <p:nvSpPr>
          <p:cNvPr id="10" name="Text 7"/>
          <p:cNvSpPr txBox="1"/>
          <p:nvPr/>
        </p:nvSpPr>
        <p:spPr>
          <a:xfrm>
            <a:off x="4773168" y="11155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1" name="Text 8"/>
          <p:cNvSpPr txBox="1"/>
          <p:nvPr/>
        </p:nvSpPr>
        <p:spPr>
          <a:xfrm>
            <a:off x="5212080" y="100584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Right sequence = K-A-D-M (Kāma, Artha, Dharma, Mokṣa).</a:t>
            </a:r>
            <a:endParaRPr lang="en-US" sz="1300" dirty="0"/>
          </a:p>
        </p:txBody>
      </p:sp>
      <p:sp>
        <p:nvSpPr>
          <p:cNvPr id="12" name="Memory card 3"/>
          <p:cNvSpPr/>
          <p:nvPr/>
        </p:nvSpPr>
        <p:spPr>
          <a:xfrm>
            <a:off x="365760" y="2240280"/>
            <a:ext cx="4114800" cy="1115568"/>
          </a:xfrm>
          <a:prstGeom prst="roundRect">
            <a:avLst>
              <a:gd name="adj" fmla="val 8197"/>
            </a:avLst>
          </a:prstGeom>
          <a:solidFill>
            <a:srgbClr val="FFF4D6"/>
          </a:solidFill>
          <a:ln w="19050">
            <a:solidFill>
              <a:srgbClr val="2E7D32"/>
            </a:solidFill>
            <a:prstDash val="solid"/>
          </a:ln>
        </p:spPr>
      </p:sp>
      <p:sp>
        <p:nvSpPr>
          <p:cNvPr id="13" name="Badge"/>
          <p:cNvSpPr/>
          <p:nvPr/>
        </p:nvSpPr>
        <p:spPr>
          <a:xfrm>
            <a:off x="475488" y="2350008"/>
            <a:ext cx="347472" cy="347472"/>
          </a:xfrm>
          <a:prstGeom prst="ellipse">
            <a:avLst/>
          </a:prstGeom>
          <a:solidFill>
            <a:srgbClr val="2E7D32"/>
          </a:solidFill>
          <a:ln w="12700">
            <a:solidFill>
              <a:srgbClr val="2E7D32"/>
            </a:solidFill>
            <a:prstDash val="solid"/>
          </a:ln>
        </p:spPr>
      </p:sp>
      <p:sp>
        <p:nvSpPr>
          <p:cNvPr id="14" name="Text 11"/>
          <p:cNvSpPr txBox="1"/>
          <p:nvPr/>
        </p:nvSpPr>
        <p:spPr>
          <a:xfrm>
            <a:off x="475488" y="23500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5" name="Text 12"/>
          <p:cNvSpPr txBox="1"/>
          <p:nvPr/>
        </p:nvSpPr>
        <p:spPr>
          <a:xfrm>
            <a:off x="914400" y="224028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'Tato' = after intelligence; money without sense is dangerous.</a:t>
            </a:r>
            <a:endParaRPr lang="en-US" sz="1300" dirty="0"/>
          </a:p>
        </p:txBody>
      </p:sp>
      <p:sp>
        <p:nvSpPr>
          <p:cNvPr id="16" name="Memory card 4"/>
          <p:cNvSpPr/>
          <p:nvPr/>
        </p:nvSpPr>
        <p:spPr>
          <a:xfrm>
            <a:off x="4663440" y="2240280"/>
            <a:ext cx="4114800" cy="1115568"/>
          </a:xfrm>
          <a:prstGeom prst="roundRect">
            <a:avLst>
              <a:gd name="adj" fmla="val 8197"/>
            </a:avLst>
          </a:prstGeom>
          <a:solidFill>
            <a:srgbClr val="FFF4D6"/>
          </a:solidFill>
          <a:ln w="19050">
            <a:solidFill>
              <a:srgbClr val="6A1B9A"/>
            </a:solidFill>
            <a:prstDash val="solid"/>
          </a:ln>
        </p:spPr>
      </p:sp>
      <p:sp>
        <p:nvSpPr>
          <p:cNvPr id="17" name="Badge"/>
          <p:cNvSpPr/>
          <p:nvPr/>
        </p:nvSpPr>
        <p:spPr>
          <a:xfrm>
            <a:off x="4773168" y="2350008"/>
            <a:ext cx="347472" cy="347472"/>
          </a:xfrm>
          <a:prstGeom prst="ellipse">
            <a:avLst/>
          </a:prstGeom>
          <a:solidFill>
            <a:srgbClr val="6A1B9A"/>
          </a:solidFill>
          <a:ln w="12700">
            <a:solidFill>
              <a:srgbClr val="6A1B9A"/>
            </a:solidFill>
            <a:prstDash val="solid"/>
          </a:ln>
        </p:spPr>
      </p:sp>
      <p:sp>
        <p:nvSpPr>
          <p:cNvPr id="18" name="Text 15"/>
          <p:cNvSpPr txBox="1"/>
          <p:nvPr/>
        </p:nvSpPr>
        <p:spPr>
          <a:xfrm>
            <a:off x="4773168" y="23500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19" name="Text 16"/>
          <p:cNvSpPr txBox="1"/>
          <p:nvPr/>
        </p:nvSpPr>
        <p:spPr>
          <a:xfrm>
            <a:off x="5212080" y="224028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Bhārata Sāvitrī = 4 verses = whole MB's benefit.</a:t>
            </a:r>
            <a:endParaRPr lang="en-US" sz="1300" dirty="0"/>
          </a:p>
        </p:txBody>
      </p:sp>
      <p:sp>
        <p:nvSpPr>
          <p:cNvPr id="20" name="Memory card 5"/>
          <p:cNvSpPr/>
          <p:nvPr/>
        </p:nvSpPr>
        <p:spPr>
          <a:xfrm>
            <a:off x="365760" y="3474720"/>
            <a:ext cx="4114800" cy="1115568"/>
          </a:xfrm>
          <a:prstGeom prst="roundRect">
            <a:avLst>
              <a:gd name="adj" fmla="val 8197"/>
            </a:avLst>
          </a:prstGeom>
          <a:solidFill>
            <a:srgbClr val="FFF4D6"/>
          </a:solidFill>
          <a:ln w="19050">
            <a:solidFill>
              <a:srgbClr val="1565C0"/>
            </a:solidFill>
            <a:prstDash val="solid"/>
          </a:ln>
        </p:spPr>
      </p:sp>
      <p:sp>
        <p:nvSpPr>
          <p:cNvPr id="21" name="Badge"/>
          <p:cNvSpPr/>
          <p:nvPr/>
        </p:nvSpPr>
        <p:spPr>
          <a:xfrm>
            <a:off x="475488" y="3584448"/>
            <a:ext cx="347472" cy="347472"/>
          </a:xfrm>
          <a:prstGeom prst="ellipse">
            <a:avLst/>
          </a:prstGeom>
          <a:solidFill>
            <a:srgbClr val="1565C0"/>
          </a:solidFill>
          <a:ln w="12700">
            <a:solidFill>
              <a:srgbClr val="1565C0"/>
            </a:solidFill>
            <a:prstDash val="solid"/>
          </a:ln>
        </p:spPr>
      </p:sp>
      <p:sp>
        <p:nvSpPr>
          <p:cNvPr id="22" name="Text 19"/>
          <p:cNvSpPr txBox="1"/>
          <p:nvPr/>
        </p:nvSpPr>
        <p:spPr>
          <a:xfrm>
            <a:off x="475488" y="35844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23" name="Text 20"/>
          <p:cNvSpPr txBox="1"/>
          <p:nvPr/>
        </p:nvSpPr>
        <p:spPr>
          <a:xfrm>
            <a:off x="914400" y="347472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Mokṣa (for now) = inner independence and peace.</a:t>
            </a:r>
            <a:endParaRPr lang="en-US" sz="1300" dirty="0"/>
          </a:p>
        </p:txBody>
      </p:sp>
      <p:sp>
        <p:nvSpPr>
          <p:cNvPr id="24" name="Memory card 6"/>
          <p:cNvSpPr/>
          <p:nvPr/>
        </p:nvSpPr>
        <p:spPr>
          <a:xfrm>
            <a:off x="4663440" y="3474720"/>
            <a:ext cx="4114800" cy="1115568"/>
          </a:xfrm>
          <a:prstGeom prst="roundRect">
            <a:avLst>
              <a:gd name="adj" fmla="val 8197"/>
            </a:avLst>
          </a:prstGeom>
          <a:solidFill>
            <a:srgbClr val="FFF4D6"/>
          </a:solidFill>
          <a:ln w="19050">
            <a:solidFill>
              <a:srgbClr val="00796B"/>
            </a:solidFill>
            <a:prstDash val="solid"/>
          </a:ln>
        </p:spPr>
      </p:sp>
      <p:sp>
        <p:nvSpPr>
          <p:cNvPr id="25" name="Badge"/>
          <p:cNvSpPr/>
          <p:nvPr/>
        </p:nvSpPr>
        <p:spPr>
          <a:xfrm>
            <a:off x="4773168" y="3584448"/>
            <a:ext cx="347472" cy="347472"/>
          </a:xfrm>
          <a:prstGeom prst="ellipse">
            <a:avLst/>
          </a:prstGeom>
          <a:solidFill>
            <a:srgbClr val="00796B"/>
          </a:solidFill>
          <a:ln w="12700">
            <a:solidFill>
              <a:srgbClr val="00796B"/>
            </a:solidFill>
            <a:prstDash val="solid"/>
          </a:ln>
        </p:spPr>
      </p:sp>
      <p:sp>
        <p:nvSpPr>
          <p:cNvPr id="26" name="Text 23"/>
          <p:cNvSpPr txBox="1"/>
          <p:nvPr/>
        </p:nvSpPr>
        <p:spPr>
          <a:xfrm>
            <a:off x="4773168" y="35844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27" name="Text 24"/>
          <p:cNvSpPr txBox="1"/>
          <p:nvPr/>
        </p:nvSpPr>
        <p:spPr>
          <a:xfrm>
            <a:off x="5212080" y="347472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Final message: Dharma (and the soul) eternal; pleasure and pain fleeting.</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Quick quiz (Q1 to Q5)</a:t>
            </a:r>
            <a:endParaRPr lang="en-US" sz="2600" dirty="0"/>
          </a:p>
        </p:txBody>
      </p:sp>
      <p:sp>
        <p:nvSpPr>
          <p:cNvPr id="4" name="Text 1"/>
          <p:cNvSpPr txBox="1"/>
          <p:nvPr/>
        </p:nvSpPr>
        <p:spPr>
          <a:xfrm>
            <a:off x="457200" y="1005840"/>
            <a:ext cx="8229600" cy="3657600"/>
          </a:xfrm>
          <a:prstGeom prst="rect">
            <a:avLst/>
          </a:prstGeom>
          <a:noFill/>
          <a:ln/>
        </p:spPr>
        <p:txBody>
          <a:bodyPr wrap="square" lIns="0" tIns="0" rIns="0" bIns="0" rtlCol="0" anchor="t"/>
          <a:lstStyle/>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  Is Sanātana Dharma against wealth? Explain with the Avāhanti homa.</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Q2.  Why is wealth mentioned first in the Avāhanti homa?</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Q3.  What does 'tato me śriyam āvaha' signify?</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Q4.  What does the chapter caution about pocket money for children?</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Q5.  How does the chapter criticise modern notions of success?</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Quick quiz (Q6 to Q10)</a:t>
            </a:r>
            <a:endParaRPr lang="en-US" sz="2600" dirty="0"/>
          </a:p>
        </p:txBody>
      </p:sp>
      <p:sp>
        <p:nvSpPr>
          <p:cNvPr id="4" name="Text 1"/>
          <p:cNvSpPr txBox="1"/>
          <p:nvPr/>
        </p:nvSpPr>
        <p:spPr>
          <a:xfrm>
            <a:off x="457200" y="1005840"/>
            <a:ext cx="8229600" cy="3657600"/>
          </a:xfrm>
          <a:prstGeom prst="rect">
            <a:avLst/>
          </a:prstGeom>
          <a:noFill/>
          <a:ln/>
        </p:spPr>
        <p:txBody>
          <a:bodyPr wrap="square" lIns="0" tIns="0" rIns="0" bIns="0" rtlCol="0" anchor="t"/>
          <a:lstStyle/>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Q6.  State the correct sequence of life goals given by the chapter.</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Q7.  What goes wrong when kāma becomes the goal?</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Q8.  What is the Bhārata Sāvitrī?</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Q9.  State the message of the Bhārata Sāvitrī.</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Q10.  How does Mahābhārata help in defining the goal of life?</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(1/3)</a:t>
            </a:r>
            <a:endParaRPr lang="en-US" sz="2600" dirty="0"/>
          </a:p>
        </p:txBody>
      </p:sp>
      <p:sp>
        <p:nvSpPr>
          <p:cNvPr id="4" name="Answer 1"/>
          <p:cNvSpPr/>
          <p:nvPr/>
        </p:nvSpPr>
        <p:spPr>
          <a:xfrm>
            <a:off x="365760" y="987552"/>
            <a:ext cx="8412480" cy="699516"/>
          </a:xfrm>
          <a:prstGeom prst="roundRect">
            <a:avLst>
              <a:gd name="adj" fmla="val 7843"/>
            </a:avLst>
          </a:prstGeom>
          <a:solidFill>
            <a:srgbClr val="FFF4D6"/>
          </a:solidFill>
          <a:ln w="9525">
            <a:solidFill>
              <a:srgbClr val="EAD9C4"/>
            </a:solidFill>
            <a:prstDash val="solid"/>
          </a:ln>
        </p:spPr>
      </p:sp>
      <p:sp>
        <p:nvSpPr>
          <p:cNvPr id="5" name="Text 2"/>
          <p:cNvSpPr txBox="1"/>
          <p:nvPr/>
        </p:nvSpPr>
        <p:spPr>
          <a:xfrm>
            <a:off x="457200" y="987552"/>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Q1. Is Sanātana Dharma against wealth? Explain with the Avāhanti homa.</a:t>
            </a:r>
            <a:endParaRPr lang="en-US" sz="1200" dirty="0"/>
          </a:p>
          <a:p>
            <a:pPr indent="0" marL="0">
              <a:buNone/>
            </a:pPr>
            <a:r>
              <a:rPr lang="en-US" sz="1200" dirty="0">
                <a:solidFill>
                  <a:srgbClr val="2A2A2A"/>
                </a:solidFill>
              </a:rPr>
              <a:t>No. The Avāhanti homa in the Taittirīya Upaniṣad seeks wealth, purity of mind, knowledge and students, in that order.</a:t>
            </a:r>
            <a:endParaRPr lang="en-US" sz="1200" dirty="0"/>
          </a:p>
        </p:txBody>
      </p:sp>
      <p:sp>
        <p:nvSpPr>
          <p:cNvPr id="6" name="Answer 2"/>
          <p:cNvSpPr/>
          <p:nvPr/>
        </p:nvSpPr>
        <p:spPr>
          <a:xfrm>
            <a:off x="365760" y="1751076"/>
            <a:ext cx="8412480" cy="509016"/>
          </a:xfrm>
          <a:prstGeom prst="roundRect">
            <a:avLst>
              <a:gd name="adj" fmla="val 10778"/>
            </a:avLst>
          </a:prstGeom>
          <a:solidFill>
            <a:srgbClr val="FFF4D6"/>
          </a:solidFill>
          <a:ln w="9525">
            <a:solidFill>
              <a:srgbClr val="EAD9C4"/>
            </a:solidFill>
            <a:prstDash val="solid"/>
          </a:ln>
        </p:spPr>
      </p:sp>
      <p:sp>
        <p:nvSpPr>
          <p:cNvPr id="7" name="Text 4"/>
          <p:cNvSpPr txBox="1"/>
          <p:nvPr/>
        </p:nvSpPr>
        <p:spPr>
          <a:xfrm>
            <a:off x="457200" y="1751076"/>
            <a:ext cx="8229600" cy="509016"/>
          </a:xfrm>
          <a:prstGeom prst="rect">
            <a:avLst/>
          </a:prstGeom>
          <a:noFill/>
          <a:ln/>
        </p:spPr>
        <p:txBody>
          <a:bodyPr wrap="square" lIns="0" tIns="0" rIns="0" bIns="0" rtlCol="0" anchor="ctr"/>
          <a:lstStyle/>
          <a:p>
            <a:pPr indent="0" marL="0">
              <a:buNone/>
            </a:pPr>
            <a:r>
              <a:rPr lang="en-US" sz="1200" b="1" dirty="0">
                <a:solidFill>
                  <a:srgbClr val="8C2F1B"/>
                </a:solidFill>
              </a:rPr>
              <a:t>Q2. Why is wealth mentioned first in the Avāhanti homa?</a:t>
            </a:r>
            <a:endParaRPr lang="en-US" sz="1200" dirty="0"/>
          </a:p>
          <a:p>
            <a:pPr indent="0" marL="0">
              <a:buNone/>
            </a:pPr>
            <a:r>
              <a:rPr lang="en-US" sz="1200" dirty="0">
                <a:solidFill>
                  <a:srgbClr val="2A2A2A"/>
                </a:solidFill>
              </a:rPr>
              <a:t>Money is needed to perform karma and even karma yoga and to work for society's well-being.</a:t>
            </a:r>
            <a:endParaRPr lang="en-US" sz="1200" dirty="0"/>
          </a:p>
        </p:txBody>
      </p:sp>
      <p:sp>
        <p:nvSpPr>
          <p:cNvPr id="8" name="Answer 3"/>
          <p:cNvSpPr/>
          <p:nvPr/>
        </p:nvSpPr>
        <p:spPr>
          <a:xfrm>
            <a:off x="365760" y="2324100"/>
            <a:ext cx="8412480" cy="699516"/>
          </a:xfrm>
          <a:prstGeom prst="roundRect">
            <a:avLst>
              <a:gd name="adj" fmla="val 7843"/>
            </a:avLst>
          </a:prstGeom>
          <a:solidFill>
            <a:srgbClr val="FFF4D6"/>
          </a:solidFill>
          <a:ln w="9525">
            <a:solidFill>
              <a:srgbClr val="EAD9C4"/>
            </a:solidFill>
            <a:prstDash val="solid"/>
          </a:ln>
        </p:spPr>
      </p:sp>
      <p:sp>
        <p:nvSpPr>
          <p:cNvPr id="9" name="Text 6"/>
          <p:cNvSpPr txBox="1"/>
          <p:nvPr/>
        </p:nvSpPr>
        <p:spPr>
          <a:xfrm>
            <a:off x="457200" y="2324100"/>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Q3. What does 'tato me śriyam āvaha' signify?</a:t>
            </a:r>
            <a:endParaRPr lang="en-US" sz="1200" dirty="0"/>
          </a:p>
          <a:p>
            <a:pPr indent="0" marL="0">
              <a:buNone/>
            </a:pPr>
            <a:r>
              <a:rPr lang="en-US" sz="1200" dirty="0">
                <a:solidFill>
                  <a:srgbClr val="2A2A2A"/>
                </a:solidFill>
              </a:rPr>
              <a:t>Lakṣmī should be brought after gaining intelligence, because prosperity to the unwise causes evil; one should know dharmaśāstra on how to use money.</a:t>
            </a:r>
            <a:endParaRPr lang="en-US" sz="1200" dirty="0"/>
          </a:p>
        </p:txBody>
      </p:sp>
      <p:sp>
        <p:nvSpPr>
          <p:cNvPr id="10" name="Answer 4"/>
          <p:cNvSpPr/>
          <p:nvPr/>
        </p:nvSpPr>
        <p:spPr>
          <a:xfrm>
            <a:off x="365760" y="3087624"/>
            <a:ext cx="8412480" cy="699516"/>
          </a:xfrm>
          <a:prstGeom prst="roundRect">
            <a:avLst>
              <a:gd name="adj" fmla="val 7843"/>
            </a:avLst>
          </a:prstGeom>
          <a:solidFill>
            <a:srgbClr val="FFF4D6"/>
          </a:solidFill>
          <a:ln w="9525">
            <a:solidFill>
              <a:srgbClr val="EAD9C4"/>
            </a:solidFill>
            <a:prstDash val="solid"/>
          </a:ln>
        </p:spPr>
      </p:sp>
      <p:sp>
        <p:nvSpPr>
          <p:cNvPr id="11" name="Text 8"/>
          <p:cNvSpPr txBox="1"/>
          <p:nvPr/>
        </p:nvSpPr>
        <p:spPr>
          <a:xfrm>
            <a:off x="457200" y="3087624"/>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Q4. What does the chapter caution about pocket money for children?</a:t>
            </a:r>
            <a:endParaRPr lang="en-US" sz="1200" dirty="0"/>
          </a:p>
          <a:p>
            <a:pPr indent="0" marL="0">
              <a:buNone/>
            </a:pPr>
            <a:r>
              <a:rPr lang="en-US" sz="1200" dirty="0">
                <a:solidFill>
                  <a:srgbClr val="2A2A2A"/>
                </a:solidFill>
              </a:rPr>
              <a:t>Excess money without maturity may lead to harmful habits such as smoking, drugs and alcohol; Dharma teaches earning and spending judiciously.</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(2/3)</a:t>
            </a:r>
            <a:endParaRPr lang="en-US" sz="2600" dirty="0"/>
          </a:p>
        </p:txBody>
      </p:sp>
      <p:sp>
        <p:nvSpPr>
          <p:cNvPr id="4" name="Answer 5"/>
          <p:cNvSpPr/>
          <p:nvPr/>
        </p:nvSpPr>
        <p:spPr>
          <a:xfrm>
            <a:off x="365760" y="987552"/>
            <a:ext cx="8412480" cy="699516"/>
          </a:xfrm>
          <a:prstGeom prst="roundRect">
            <a:avLst>
              <a:gd name="adj" fmla="val 7843"/>
            </a:avLst>
          </a:prstGeom>
          <a:solidFill>
            <a:srgbClr val="FFFFFF"/>
          </a:solidFill>
          <a:ln w="9525">
            <a:solidFill>
              <a:srgbClr val="EAD9C4"/>
            </a:solidFill>
            <a:prstDash val="solid"/>
          </a:ln>
        </p:spPr>
      </p:sp>
      <p:sp>
        <p:nvSpPr>
          <p:cNvPr id="5" name="Text 2"/>
          <p:cNvSpPr txBox="1"/>
          <p:nvPr/>
        </p:nvSpPr>
        <p:spPr>
          <a:xfrm>
            <a:off x="457200" y="987552"/>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Q5. How does the chapter criticise modern notions of success?</a:t>
            </a:r>
            <a:endParaRPr lang="en-US" sz="1200" dirty="0"/>
          </a:p>
          <a:p>
            <a:pPr indent="0" marL="0">
              <a:buNone/>
            </a:pPr>
            <a:r>
              <a:rPr lang="en-US" sz="1200" dirty="0">
                <a:solidFill>
                  <a:srgbClr val="2A2A2A"/>
                </a:solidFill>
              </a:rPr>
              <a:t>Success is tied to degrees, brands, titles and possessions, promoting competition over collaboration and neglect of faith, compassion, integrity and truthfulness.</a:t>
            </a:r>
            <a:endParaRPr lang="en-US" sz="1200" dirty="0"/>
          </a:p>
        </p:txBody>
      </p:sp>
      <p:sp>
        <p:nvSpPr>
          <p:cNvPr id="6" name="Answer 6"/>
          <p:cNvSpPr/>
          <p:nvPr/>
        </p:nvSpPr>
        <p:spPr>
          <a:xfrm>
            <a:off x="365760" y="1751076"/>
            <a:ext cx="8412480" cy="699516"/>
          </a:xfrm>
          <a:prstGeom prst="roundRect">
            <a:avLst>
              <a:gd name="adj" fmla="val 7843"/>
            </a:avLst>
          </a:prstGeom>
          <a:solidFill>
            <a:srgbClr val="FFFFFF"/>
          </a:solidFill>
          <a:ln w="9525">
            <a:solidFill>
              <a:srgbClr val="EAD9C4"/>
            </a:solidFill>
            <a:prstDash val="solid"/>
          </a:ln>
        </p:spPr>
      </p:sp>
      <p:sp>
        <p:nvSpPr>
          <p:cNvPr id="7" name="Text 4"/>
          <p:cNvSpPr txBox="1"/>
          <p:nvPr/>
        </p:nvSpPr>
        <p:spPr>
          <a:xfrm>
            <a:off x="457200" y="1751076"/>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Q6. State the correct sequence of life goals given by the chapter.</a:t>
            </a:r>
            <a:endParaRPr lang="en-US" sz="1200" dirty="0"/>
          </a:p>
          <a:p>
            <a:pPr indent="0" marL="0">
              <a:buNone/>
            </a:pPr>
            <a:r>
              <a:rPr lang="en-US" sz="1200" dirty="0">
                <a:solidFill>
                  <a:srgbClr val="2A2A2A"/>
                </a:solidFill>
              </a:rPr>
              <a:t>Healthy kāma, then artha earned through a sound body and mind, used for dharma, leading to mokṣa as inner independence and peace.</a:t>
            </a:r>
            <a:endParaRPr lang="en-US" sz="1200" dirty="0"/>
          </a:p>
        </p:txBody>
      </p:sp>
      <p:sp>
        <p:nvSpPr>
          <p:cNvPr id="8" name="Answer 7"/>
          <p:cNvSpPr/>
          <p:nvPr/>
        </p:nvSpPr>
        <p:spPr>
          <a:xfrm>
            <a:off x="365760" y="2514600"/>
            <a:ext cx="8412480" cy="699516"/>
          </a:xfrm>
          <a:prstGeom prst="roundRect">
            <a:avLst>
              <a:gd name="adj" fmla="val 7843"/>
            </a:avLst>
          </a:prstGeom>
          <a:solidFill>
            <a:srgbClr val="FFFFFF"/>
          </a:solidFill>
          <a:ln w="9525">
            <a:solidFill>
              <a:srgbClr val="EAD9C4"/>
            </a:solidFill>
            <a:prstDash val="solid"/>
          </a:ln>
        </p:spPr>
      </p:sp>
      <p:sp>
        <p:nvSpPr>
          <p:cNvPr id="9" name="Text 6"/>
          <p:cNvSpPr txBox="1"/>
          <p:nvPr/>
        </p:nvSpPr>
        <p:spPr>
          <a:xfrm>
            <a:off x="457200" y="2514600"/>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Q7. What goes wrong when kāma becomes the goal?</a:t>
            </a:r>
            <a:endParaRPr lang="en-US" sz="1200" dirty="0"/>
          </a:p>
          <a:p>
            <a:pPr indent="0" marL="0">
              <a:buNone/>
            </a:pPr>
            <a:r>
              <a:rPr lang="en-US" sz="1200" dirty="0">
                <a:solidFill>
                  <a:srgbClr val="2A2A2A"/>
                </a:solidFill>
              </a:rPr>
              <a:t>Desires are pursued without discernment, ends justify means (e.g. bribery called Dharma), and happiness, peace and mokṣa are lost.</a:t>
            </a:r>
            <a:endParaRPr lang="en-US" sz="1200" dirty="0"/>
          </a:p>
        </p:txBody>
      </p:sp>
      <p:sp>
        <p:nvSpPr>
          <p:cNvPr id="10" name="Answer 8"/>
          <p:cNvSpPr/>
          <p:nvPr/>
        </p:nvSpPr>
        <p:spPr>
          <a:xfrm>
            <a:off x="365760" y="3278124"/>
            <a:ext cx="8412480" cy="699516"/>
          </a:xfrm>
          <a:prstGeom prst="roundRect">
            <a:avLst>
              <a:gd name="adj" fmla="val 7843"/>
            </a:avLst>
          </a:prstGeom>
          <a:solidFill>
            <a:srgbClr val="FFFFFF"/>
          </a:solidFill>
          <a:ln w="9525">
            <a:solidFill>
              <a:srgbClr val="EAD9C4"/>
            </a:solidFill>
            <a:prstDash val="solid"/>
          </a:ln>
        </p:spPr>
      </p:sp>
      <p:sp>
        <p:nvSpPr>
          <p:cNvPr id="11" name="Text 8"/>
          <p:cNvSpPr txBox="1"/>
          <p:nvPr/>
        </p:nvSpPr>
        <p:spPr>
          <a:xfrm>
            <a:off x="457200" y="3278124"/>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Q8. What is the Bhārata Sāvitrī?</a:t>
            </a:r>
            <a:endParaRPr lang="en-US" sz="1200" dirty="0"/>
          </a:p>
          <a:p>
            <a:pPr indent="0" marL="0">
              <a:buNone/>
            </a:pPr>
            <a:r>
              <a:rPr lang="en-US" sz="1200" dirty="0">
                <a:solidFill>
                  <a:srgbClr val="2A2A2A"/>
                </a:solidFill>
              </a:rPr>
              <a:t>Four closing verses by Vyāsa summarising Mahābhārata; reading them is said to give the benefit of the whole epic.</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(3/3)</a:t>
            </a:r>
            <a:endParaRPr lang="en-US" sz="2600" dirty="0"/>
          </a:p>
        </p:txBody>
      </p:sp>
      <p:sp>
        <p:nvSpPr>
          <p:cNvPr id="4" name="Answer 9"/>
          <p:cNvSpPr/>
          <p:nvPr/>
        </p:nvSpPr>
        <p:spPr>
          <a:xfrm>
            <a:off x="365760" y="987552"/>
            <a:ext cx="8412480" cy="890016"/>
          </a:xfrm>
          <a:prstGeom prst="roundRect">
            <a:avLst>
              <a:gd name="adj" fmla="val 6164"/>
            </a:avLst>
          </a:prstGeom>
          <a:solidFill>
            <a:srgbClr val="FFF4D6"/>
          </a:solidFill>
          <a:ln w="9525">
            <a:solidFill>
              <a:srgbClr val="EAD9C4"/>
            </a:solidFill>
            <a:prstDash val="solid"/>
          </a:ln>
        </p:spPr>
      </p:sp>
      <p:sp>
        <p:nvSpPr>
          <p:cNvPr id="5" name="Text 2"/>
          <p:cNvSpPr txBox="1"/>
          <p:nvPr/>
        </p:nvSpPr>
        <p:spPr>
          <a:xfrm>
            <a:off x="457200" y="987552"/>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Q9. State the message of the Bhārata Sāvitrī.</a:t>
            </a:r>
            <a:endParaRPr lang="en-US" sz="1200" dirty="0"/>
          </a:p>
          <a:p>
            <a:pPr indent="0" marL="0">
              <a:buNone/>
            </a:pPr>
            <a:r>
              <a:rPr lang="en-US" sz="1200" dirty="0">
                <a:solidFill>
                  <a:srgbClr val="2A2A2A"/>
                </a:solidFill>
              </a:rPr>
              <a:t>People and relationships come and go; joys and fears abound; Dharma leads to artha and kāma; never abandon Dharma for desire, fear, greed or life; happiness and sorrow are transient while Dharma and the soul are eternal.</a:t>
            </a:r>
            <a:endParaRPr lang="en-US" sz="1200" dirty="0"/>
          </a:p>
        </p:txBody>
      </p:sp>
      <p:sp>
        <p:nvSpPr>
          <p:cNvPr id="6" name="Answer 10"/>
          <p:cNvSpPr/>
          <p:nvPr/>
        </p:nvSpPr>
        <p:spPr>
          <a:xfrm>
            <a:off x="365760" y="1941576"/>
            <a:ext cx="8412480" cy="699516"/>
          </a:xfrm>
          <a:prstGeom prst="roundRect">
            <a:avLst>
              <a:gd name="adj" fmla="val 7843"/>
            </a:avLst>
          </a:prstGeom>
          <a:solidFill>
            <a:srgbClr val="FFF4D6"/>
          </a:solidFill>
          <a:ln w="9525">
            <a:solidFill>
              <a:srgbClr val="EAD9C4"/>
            </a:solidFill>
            <a:prstDash val="solid"/>
          </a:ln>
        </p:spPr>
      </p:sp>
      <p:sp>
        <p:nvSpPr>
          <p:cNvPr id="7" name="Text 4"/>
          <p:cNvSpPr txBox="1"/>
          <p:nvPr/>
        </p:nvSpPr>
        <p:spPr>
          <a:xfrm>
            <a:off x="457200" y="1941576"/>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Q10. How does Mahābhārata help in defining the goal of life?</a:t>
            </a:r>
            <a:endParaRPr lang="en-US" sz="1200" dirty="0"/>
          </a:p>
          <a:p>
            <a:pPr indent="0" marL="0">
              <a:buNone/>
            </a:pPr>
            <a:r>
              <a:rPr lang="en-US" sz="1200" dirty="0">
                <a:solidFill>
                  <a:srgbClr val="2A2A2A"/>
                </a:solidFill>
              </a:rPr>
              <a:t>It addresses how to live, what victory and failure are, who we are and the goal, showing that worldly accomplishments ultimately count for nothing without Dharma.</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Rapid-fire recall</a:t>
            </a:r>
            <a:endParaRPr lang="en-US" sz="2600" dirty="0"/>
          </a:p>
        </p:txBody>
      </p:sp>
      <p:sp>
        <p:nvSpPr>
          <p:cNvPr id="4" name="Recall 1"/>
          <p:cNvSpPr/>
          <p:nvPr/>
        </p:nvSpPr>
        <p:spPr>
          <a:xfrm>
            <a:off x="365760" y="1005840"/>
            <a:ext cx="4114800" cy="1051560"/>
          </a:xfrm>
          <a:prstGeom prst="roundRect">
            <a:avLst>
              <a:gd name="adj" fmla="val 8696"/>
            </a:avLst>
          </a:prstGeom>
          <a:solidFill>
            <a:srgbClr val="FFFFFF"/>
          </a:solidFill>
          <a:ln w="25400">
            <a:solidFill>
              <a:srgbClr val="8C2F1B"/>
            </a:solidFill>
            <a:prstDash val="solid"/>
          </a:ln>
          <a:effectLst>
            <a:outerShdw sx="100000" sy="100000" kx="0" ky="0" algn="bl" rotWithShape="0" blurRad="63500" dist="25400" dir="5400000">
              <a:srgbClr val="000000">
                <a:alpha val="12000"/>
              </a:srgbClr>
            </a:outerShdw>
          </a:effectLst>
        </p:spPr>
      </p:sp>
      <p:sp>
        <p:nvSpPr>
          <p:cNvPr id="5" name="Text 2"/>
          <p:cNvSpPr txBox="1"/>
          <p:nvPr/>
        </p:nvSpPr>
        <p:spPr>
          <a:xfrm>
            <a:off x="502920" y="1060704"/>
            <a:ext cx="3840480" cy="502920"/>
          </a:xfrm>
          <a:prstGeom prst="rect">
            <a:avLst/>
          </a:prstGeom>
          <a:noFill/>
          <a:ln/>
        </p:spPr>
        <p:txBody>
          <a:bodyPr wrap="square" lIns="0" tIns="0" rIns="0" bIns="0" rtlCol="0" anchor="ctr"/>
          <a:lstStyle/>
          <a:p>
            <a:pPr indent="0" marL="0">
              <a:buNone/>
            </a:pPr>
            <a:r>
              <a:rPr lang="en-US" sz="1400" b="1" dirty="0">
                <a:solidFill>
                  <a:srgbClr val="8C2F1B"/>
                </a:solidFill>
              </a:rPr>
              <a:t>Avāhanti homa goals = ?</a:t>
            </a:r>
            <a:endParaRPr lang="en-US" sz="1400" dirty="0"/>
          </a:p>
        </p:txBody>
      </p:sp>
      <p:sp>
        <p:nvSpPr>
          <p:cNvPr id="6" name="Text 3"/>
          <p:cNvSpPr txBox="1"/>
          <p:nvPr/>
        </p:nvSpPr>
        <p:spPr>
          <a:xfrm>
            <a:off x="502920" y="1572768"/>
            <a:ext cx="3840480" cy="438912"/>
          </a:xfrm>
          <a:prstGeom prst="rect">
            <a:avLst/>
          </a:prstGeom>
          <a:noFill/>
          <a:ln/>
        </p:spPr>
        <p:txBody>
          <a:bodyPr wrap="square" lIns="0" tIns="0" rIns="0" bIns="0" rtlCol="0" anchor="ctr"/>
          <a:lstStyle/>
          <a:p>
            <a:pPr indent="0" marL="0">
              <a:buNone/>
            </a:pPr>
            <a:r>
              <a:rPr lang="en-US" sz="1300" dirty="0">
                <a:solidFill>
                  <a:srgbClr val="2A2A2A"/>
                </a:solidFill>
              </a:rPr>
              <a:t>Wealth, pure mind, knowledge, students.</a:t>
            </a:r>
            <a:endParaRPr lang="en-US" sz="1300" dirty="0"/>
          </a:p>
        </p:txBody>
      </p:sp>
      <p:sp>
        <p:nvSpPr>
          <p:cNvPr id="7" name="Recall 2"/>
          <p:cNvSpPr/>
          <p:nvPr/>
        </p:nvSpPr>
        <p:spPr>
          <a:xfrm>
            <a:off x="4663440" y="1005840"/>
            <a:ext cx="4114800" cy="1051560"/>
          </a:xfrm>
          <a:prstGeom prst="roundRect">
            <a:avLst>
              <a:gd name="adj" fmla="val 8696"/>
            </a:avLst>
          </a:prstGeom>
          <a:solidFill>
            <a:srgbClr val="FFFFFF"/>
          </a:solidFill>
          <a:ln w="25400">
            <a:solidFill>
              <a:srgbClr val="E07B00"/>
            </a:solidFill>
            <a:prstDash val="solid"/>
          </a:ln>
          <a:effectLst>
            <a:outerShdw sx="100000" sy="100000" kx="0" ky="0" algn="bl" rotWithShape="0" blurRad="63500" dist="25400" dir="5400000">
              <a:srgbClr val="000000">
                <a:alpha val="12000"/>
              </a:srgbClr>
            </a:outerShdw>
          </a:effectLst>
        </p:spPr>
      </p:sp>
      <p:sp>
        <p:nvSpPr>
          <p:cNvPr id="8" name="Text 5"/>
          <p:cNvSpPr txBox="1"/>
          <p:nvPr/>
        </p:nvSpPr>
        <p:spPr>
          <a:xfrm>
            <a:off x="4800600" y="1060704"/>
            <a:ext cx="3840480" cy="502920"/>
          </a:xfrm>
          <a:prstGeom prst="rect">
            <a:avLst/>
          </a:prstGeom>
          <a:noFill/>
          <a:ln/>
        </p:spPr>
        <p:txBody>
          <a:bodyPr wrap="square" lIns="0" tIns="0" rIns="0" bIns="0" rtlCol="0" anchor="ctr"/>
          <a:lstStyle/>
          <a:p>
            <a:pPr indent="0" marL="0">
              <a:buNone/>
            </a:pPr>
            <a:r>
              <a:rPr lang="en-US" sz="1400" b="1" dirty="0">
                <a:solidFill>
                  <a:srgbClr val="E07B00"/>
                </a:solidFill>
              </a:rPr>
              <a:t>Right order = ?</a:t>
            </a:r>
            <a:endParaRPr lang="en-US" sz="1400" dirty="0"/>
          </a:p>
        </p:txBody>
      </p:sp>
      <p:sp>
        <p:nvSpPr>
          <p:cNvPr id="9" name="Text 6"/>
          <p:cNvSpPr txBox="1"/>
          <p:nvPr/>
        </p:nvSpPr>
        <p:spPr>
          <a:xfrm>
            <a:off x="4800600" y="1572768"/>
            <a:ext cx="3840480" cy="438912"/>
          </a:xfrm>
          <a:prstGeom prst="rect">
            <a:avLst/>
          </a:prstGeom>
          <a:noFill/>
          <a:ln/>
        </p:spPr>
        <p:txBody>
          <a:bodyPr wrap="square" lIns="0" tIns="0" rIns="0" bIns="0" rtlCol="0" anchor="ctr"/>
          <a:lstStyle/>
          <a:p>
            <a:pPr indent="0" marL="0">
              <a:buNone/>
            </a:pPr>
            <a:r>
              <a:rPr lang="en-US" sz="1300" dirty="0">
                <a:solidFill>
                  <a:srgbClr val="2A2A2A"/>
                </a:solidFill>
              </a:rPr>
              <a:t>Kāma, Artha, Dharma, Mokṣa.</a:t>
            </a:r>
            <a:endParaRPr lang="en-US" sz="1300" dirty="0"/>
          </a:p>
        </p:txBody>
      </p:sp>
      <p:sp>
        <p:nvSpPr>
          <p:cNvPr id="10" name="Recall 3"/>
          <p:cNvSpPr/>
          <p:nvPr/>
        </p:nvSpPr>
        <p:spPr>
          <a:xfrm>
            <a:off x="365760" y="2194560"/>
            <a:ext cx="4114800" cy="1051560"/>
          </a:xfrm>
          <a:prstGeom prst="roundRect">
            <a:avLst>
              <a:gd name="adj" fmla="val 8696"/>
            </a:avLst>
          </a:prstGeom>
          <a:solidFill>
            <a:srgbClr val="FFFFFF"/>
          </a:solidFill>
          <a:ln w="25400">
            <a:solidFill>
              <a:srgbClr val="2E7D32"/>
            </a:solidFill>
            <a:prstDash val="solid"/>
          </a:ln>
          <a:effectLst>
            <a:outerShdw sx="100000" sy="100000" kx="0" ky="0" algn="bl" rotWithShape="0" blurRad="63500" dist="25400" dir="5400000">
              <a:srgbClr val="000000">
                <a:alpha val="12000"/>
              </a:srgbClr>
            </a:outerShdw>
          </a:effectLst>
        </p:spPr>
      </p:sp>
      <p:sp>
        <p:nvSpPr>
          <p:cNvPr id="11" name="Text 8"/>
          <p:cNvSpPr txBox="1"/>
          <p:nvPr/>
        </p:nvSpPr>
        <p:spPr>
          <a:xfrm>
            <a:off x="502920" y="2249424"/>
            <a:ext cx="3840480" cy="502920"/>
          </a:xfrm>
          <a:prstGeom prst="rect">
            <a:avLst/>
          </a:prstGeom>
          <a:noFill/>
          <a:ln/>
        </p:spPr>
        <p:txBody>
          <a:bodyPr wrap="square" lIns="0" tIns="0" rIns="0" bIns="0" rtlCol="0" anchor="ctr"/>
          <a:lstStyle/>
          <a:p>
            <a:pPr indent="0" marL="0">
              <a:buNone/>
            </a:pPr>
            <a:r>
              <a:rPr lang="en-US" sz="1400" b="1" dirty="0">
                <a:solidFill>
                  <a:srgbClr val="2E7D32"/>
                </a:solidFill>
              </a:rPr>
              <a:t>Number of Bhārata Sāvitrī verses = ?</a:t>
            </a:r>
            <a:endParaRPr lang="en-US" sz="1400" dirty="0"/>
          </a:p>
        </p:txBody>
      </p:sp>
      <p:sp>
        <p:nvSpPr>
          <p:cNvPr id="12" name="Text 9"/>
          <p:cNvSpPr txBox="1"/>
          <p:nvPr/>
        </p:nvSpPr>
        <p:spPr>
          <a:xfrm>
            <a:off x="502920" y="2761488"/>
            <a:ext cx="3840480" cy="438912"/>
          </a:xfrm>
          <a:prstGeom prst="rect">
            <a:avLst/>
          </a:prstGeom>
          <a:noFill/>
          <a:ln/>
        </p:spPr>
        <p:txBody>
          <a:bodyPr wrap="square" lIns="0" tIns="0" rIns="0" bIns="0" rtlCol="0" anchor="ctr"/>
          <a:lstStyle/>
          <a:p>
            <a:pPr indent="0" marL="0">
              <a:buNone/>
            </a:pPr>
            <a:r>
              <a:rPr lang="en-US" sz="1300" dirty="0">
                <a:solidFill>
                  <a:srgbClr val="2A2A2A"/>
                </a:solidFill>
              </a:rPr>
              <a:t>4.</a:t>
            </a:r>
            <a:endParaRPr lang="en-US" sz="1300" dirty="0"/>
          </a:p>
        </p:txBody>
      </p:sp>
      <p:sp>
        <p:nvSpPr>
          <p:cNvPr id="13" name="Recall 4"/>
          <p:cNvSpPr/>
          <p:nvPr/>
        </p:nvSpPr>
        <p:spPr>
          <a:xfrm>
            <a:off x="4663440" y="2194560"/>
            <a:ext cx="4114800" cy="1051560"/>
          </a:xfrm>
          <a:prstGeom prst="roundRect">
            <a:avLst>
              <a:gd name="adj" fmla="val 8696"/>
            </a:avLst>
          </a:prstGeom>
          <a:solidFill>
            <a:srgbClr val="FFFFFF"/>
          </a:solidFill>
          <a:ln w="25400">
            <a:solidFill>
              <a:srgbClr val="6A1B9A"/>
            </a:solidFill>
            <a:prstDash val="solid"/>
          </a:ln>
          <a:effectLst>
            <a:outerShdw sx="100000" sy="100000" kx="0" ky="0" algn="bl" rotWithShape="0" blurRad="63500" dist="25400" dir="5400000">
              <a:srgbClr val="000000">
                <a:alpha val="12000"/>
              </a:srgbClr>
            </a:outerShdw>
          </a:effectLst>
        </p:spPr>
      </p:sp>
      <p:sp>
        <p:nvSpPr>
          <p:cNvPr id="14" name="Text 11"/>
          <p:cNvSpPr txBox="1"/>
          <p:nvPr/>
        </p:nvSpPr>
        <p:spPr>
          <a:xfrm>
            <a:off x="4800600" y="2249424"/>
            <a:ext cx="3840480" cy="502920"/>
          </a:xfrm>
          <a:prstGeom prst="rect">
            <a:avLst/>
          </a:prstGeom>
          <a:noFill/>
          <a:ln/>
        </p:spPr>
        <p:txBody>
          <a:bodyPr wrap="square" lIns="0" tIns="0" rIns="0" bIns="0" rtlCol="0" anchor="ctr"/>
          <a:lstStyle/>
          <a:p>
            <a:pPr indent="0" marL="0">
              <a:buNone/>
            </a:pPr>
            <a:r>
              <a:rPr lang="en-US" sz="1400" b="1" dirty="0">
                <a:solidFill>
                  <a:srgbClr val="6A1B9A"/>
                </a:solidFill>
              </a:rPr>
              <a:t>Mokṣa (for now) = ?</a:t>
            </a:r>
            <a:endParaRPr lang="en-US" sz="1400" dirty="0"/>
          </a:p>
        </p:txBody>
      </p:sp>
      <p:sp>
        <p:nvSpPr>
          <p:cNvPr id="15" name="Text 12"/>
          <p:cNvSpPr txBox="1"/>
          <p:nvPr/>
        </p:nvSpPr>
        <p:spPr>
          <a:xfrm>
            <a:off x="4800600" y="2761488"/>
            <a:ext cx="3840480" cy="438912"/>
          </a:xfrm>
          <a:prstGeom prst="rect">
            <a:avLst/>
          </a:prstGeom>
          <a:noFill/>
          <a:ln/>
        </p:spPr>
        <p:txBody>
          <a:bodyPr wrap="square" lIns="0" tIns="0" rIns="0" bIns="0" rtlCol="0" anchor="ctr"/>
          <a:lstStyle/>
          <a:p>
            <a:pPr indent="0" marL="0">
              <a:buNone/>
            </a:pPr>
            <a:r>
              <a:rPr lang="en-US" sz="1300" dirty="0">
                <a:solidFill>
                  <a:srgbClr val="2A2A2A"/>
                </a:solidFill>
              </a:rPr>
              <a:t>Inner peace.</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F2B632"/>
                </a:solidFill>
                <a:latin typeface="Cambria" pitchFamily="34" charset="0"/>
                <a:ea typeface="Cambria" pitchFamily="34" charset="-122"/>
                <a:cs typeface="Cambria" pitchFamily="34" charset="-120"/>
              </a:rPr>
              <a:t>Remember and revise</a:t>
            </a:r>
            <a:endParaRPr lang="en-US" sz="2600" dirty="0"/>
          </a:p>
        </p:txBody>
      </p:sp>
      <p:sp>
        <p:nvSpPr>
          <p:cNvPr id="4" name="Text 1"/>
          <p:cNvSpPr txBox="1"/>
          <p:nvPr/>
        </p:nvSpPr>
        <p:spPr>
          <a:xfrm>
            <a:off x="457200" y="1005840"/>
            <a:ext cx="5120640" cy="365760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Taittirīya Upaniṣad – Avāhanti homa seeks 4 things in order: dhana-prāpti, citta-śuddhi, jñāna-prāpti, śiṣya-prāpti.</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'Tato me śriyam āvaha': wealth only after intelligence/dharmaśāstra knowledge – money is dangerous in the hands of the unintelligent.</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Correct sequence: Kāma (healthy) → Artha → Dharma → Mokṣa (inner independence, peace); today the goal is just Kāma with ends justified.</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Society's yardsticks (degrees, cars, titles) breed competition over collaboration.</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Bhārata Sāvitrī: 4 verses at the end of MB; reading them = benefit of the whole epic; key: Dharma is eternal, never abandon it.</a:t>
            </a:r>
            <a:endParaRPr lang="en-US" sz="1300" dirty="0"/>
          </a:p>
        </p:txBody>
      </p:sp>
      <p:sp>
        <p:nvSpPr>
          <p:cNvPr id="5" name="Homework card"/>
          <p:cNvSpPr/>
          <p:nvPr/>
        </p:nvSpPr>
        <p:spPr>
          <a:xfrm>
            <a:off x="5852160" y="1005840"/>
            <a:ext cx="2926080" cy="3566160"/>
          </a:xfrm>
          <a:prstGeom prst="roundRect">
            <a:avLst>
              <a:gd name="adj" fmla="val 3750"/>
            </a:avLst>
          </a:prstGeom>
          <a:solidFill>
            <a:srgbClr val="8C2F1B"/>
          </a:solidFill>
          <a:ln w="25400">
            <a:solidFill>
              <a:srgbClr val="F2B632"/>
            </a:solidFill>
            <a:prstDash val="solid"/>
          </a:ln>
        </p:spPr>
      </p:sp>
      <p:sp>
        <p:nvSpPr>
          <p:cNvPr id="6" name="Text 3"/>
          <p:cNvSpPr txBox="1"/>
          <p:nvPr/>
        </p:nvSpPr>
        <p:spPr>
          <a:xfrm>
            <a:off x="6035040" y="1097280"/>
            <a:ext cx="2560320" cy="320040"/>
          </a:xfrm>
          <a:prstGeom prst="rect">
            <a:avLst/>
          </a:prstGeom>
          <a:noFill/>
          <a:ln/>
        </p:spPr>
        <p:txBody>
          <a:bodyPr wrap="square" lIns="0" tIns="0" rIns="0" bIns="0" rtlCol="0" anchor="ctr"/>
          <a:lstStyle/>
          <a:p>
            <a:pPr indent="0" marL="0">
              <a:buNone/>
            </a:pPr>
            <a:r>
              <a:rPr lang="en-US" sz="1300" b="1" spc="400" kern="0" dirty="0">
                <a:solidFill>
                  <a:srgbClr val="F2B632"/>
                </a:solidFill>
              </a:rPr>
              <a:t>HOMEWORK</a:t>
            </a:r>
            <a:endParaRPr lang="en-US" sz="1300" dirty="0"/>
          </a:p>
        </p:txBody>
      </p:sp>
      <p:sp>
        <p:nvSpPr>
          <p:cNvPr id="7" name="Text 4"/>
          <p:cNvSpPr txBox="1"/>
          <p:nvPr/>
        </p:nvSpPr>
        <p:spPr>
          <a:xfrm>
            <a:off x="6035040" y="1508760"/>
            <a:ext cx="2560320" cy="29260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Redraw the mind map from memory.</a:t>
            </a:r>
            <a:endParaRPr lang="en-US" sz="13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Answer Q1 and Q2 of the quiz in writing.</a:t>
            </a:r>
            <a:endParaRPr lang="en-US" sz="13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Learn the numbers slide by heart.</a:t>
            </a:r>
            <a:endParaRPr lang="en-US" sz="1300" dirty="0"/>
          </a:p>
          <a:p>
            <a:pPr marL="177800" indent="-177800">
              <a:buSzPct val="100000"/>
              <a:buChar char="•"/>
            </a:pPr>
            <a:r>
              <a:rPr lang="en-US" sz="1300" dirty="0">
                <a:solidFill>
                  <a:srgbClr val="FFFFFF"/>
                </a:solidFill>
                <a:latin typeface="Calibri" pitchFamily="34" charset="0"/>
                <a:ea typeface="Calibri" pitchFamily="34" charset="-122"/>
                <a:cs typeface="Calibri" pitchFamily="34" charset="-120"/>
              </a:rPr>
              <a:t>Prepare one question to ask the class tomorrow.</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BFA9A9"/>
                </a:solidFill>
                <a:latin typeface="Calibri"/>
                <a:ea typeface="Calibri"/>
                <a:cs typeface="Calibri"/>
              </a:defRPr>
            </a:lvl1pPr>
          </a:lstStyle>
          <a:p>
            <a:pPr algn="l"/>
            <a:fld id="{F7021451-1387-4CA6-816F-3879F97B5CBC}" type="slidenum">
              <a:rPr b="0" lang="en-US"/>
              <a:t>27</a:t>
            </a:fld>
            <a:endParaRPr lang="en-US"/>
          </a:p>
        </p:txBody>
      </p:sp>
    </p:spTree>
  </p:cSld>
  <p:clrMapOvr>
    <a:masterClrMapping/>
  </p:clrMapOvr>
</p:sld>
</file>

<file path=ppt/theme/theme1.xml><?xml version="1.0" encoding="utf-8"?>
<a:theme xmlns:a="http://schemas.openxmlformats.org/drawingml/2006/main" name="Mahabharata Teaching">
  <a:themeElements>
    <a:clrScheme name="Mahabharata Teaching">
      <a:dk1>
        <a:srgbClr val="2A2A2A"/>
      </a:dk1>
      <a:lt1>
        <a:srgbClr val="FFFFFF"/>
      </a:lt1>
      <a:dk2>
        <a:srgbClr val="2B0F1A"/>
      </a:dk2>
      <a:lt2>
        <a:srgbClr val="FFF4D6"/>
      </a:lt2>
      <a:accent1>
        <a:srgbClr val="8C2F1B"/>
      </a:accent1>
      <a:accent2>
        <a:srgbClr val="E07B00"/>
      </a:accent2>
      <a:accent3>
        <a:srgbClr val="F2B632"/>
      </a:accent3>
      <a:accent4>
        <a:srgbClr val="2E7D32"/>
      </a:accent4>
      <a:accent5>
        <a:srgbClr val="6A1B9A"/>
      </a:accent5>
      <a:accent6>
        <a:srgbClr val="1565C0"/>
      </a:accent6>
      <a:hlink>
        <a:srgbClr val="8C2F1B"/>
      </a:hlink>
      <a:folHlink>
        <a:srgbClr val="6A1B9A"/>
      </a:folHlink>
    </a:clrScheme>
    <a:fontScheme name="Mahabharata Teach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15: The Goal of Life</dc:title>
  <dc:subject>PptxGenJS Presentation</dc:subject>
  <dc:creator>ADM Teaching Deck</dc:creator>
  <cp:lastModifiedBy>ADM Teaching Deck</cp:lastModifiedBy>
  <cp:revision>1</cp:revision>
  <dcterms:created xsi:type="dcterms:W3CDTF">2026-10-04T11:54:28Z</dcterms:created>
  <dcterms:modified xsi:type="dcterms:W3CDTF">2026-10-04T11:54:28Z</dcterms:modified>
</cp:coreProperties>
</file>