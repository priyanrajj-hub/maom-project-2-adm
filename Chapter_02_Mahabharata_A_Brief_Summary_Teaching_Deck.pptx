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7dd7bd6-43a9-14ce-d441-e7cece01667c}">
          <p14:sldIdLst>
            <p14:sldId id="256"/>
            <p14:sldId id="257"/>
            <p14:sldId id="258"/>
            <p14:sldId id="259"/>
          </p14:sldIdLst>
        </p14:section>
        <p14:section name="Lesson" id="{6da52196-5634-895e-c187-c7b39e04dc30}">
          <p14:sldIdLst>
            <p14:sldId id="260"/>
            <p14:sldId id="261"/>
            <p14:sldId id="262"/>
            <p14:sldId id="263"/>
            <p14:sldId id="264"/>
            <p14:sldId id="265"/>
            <p14:sldId id="266"/>
            <p14:sldId id="267"/>
            <p14:sldId id="268"/>
          </p14:sldIdLst>
        </p14:section>
        <p14:section name="Key facts" id="{f7f25265-133b-de4a-1dae-dc1fe805459d}">
          <p14:sldIdLst>
            <p14:sldId id="269"/>
            <p14:sldId id="270"/>
            <p14:sldId id="271"/>
            <p14:sldId id="272"/>
            <p14:sldId id="273"/>
            <p14:sldId id="274"/>
            <p14:sldId id="275"/>
            <p14:sldId id="276"/>
            <p14:sldId id="277"/>
            <p14:sldId id="278"/>
            <p14:sldId id="279"/>
          </p14:sldIdLst>
        </p14:section>
        <p14:section name="Review" id="{b60e7e3e-b621-5ef3-4f17-a262c2ab76c4}">
          <p14:sldIdLst>
            <p14:sldId id="280"/>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Vyāsa is believed to have recited the Mahābhārata in 100 Parvas, which are like episodes of a great chronicle. Vaiśampāyana narrates it to King Janamejaya at his Sarpa Satra, and most of the text is their conversation. Later Ugraśravas retold the full story in the Naimiṣa forest and grouped it into 18 main Parvas. Some scholars think the first Parvas of the 100-Parva scheme work like an 'admit card' that summarises the work and hints at its purpose through metaphors.
Ādi Parva introduces King Bharata (born to Śakuntalā and Duṣyanta; 'Bharatasya deśaṃ Bhāratam', India's traditional name Bhārat comes from him) and the birth of Vyāsa. Śantanu of the Bharata line has a son Devavrata through Gaṅgā Devī. So that his father could marry the fisherwoman Satyavatī, Devavrata took a terrible vow of lifelong celibacy (the Bhīṣma Pratijñā), earning the name Bhīṣma, and a boon to die only when he wished. Śantanu and Satyavatī had Citrāṅgada (killed by a Gandharva) and Vicitravīrya, for whom Bhīṣma abducted the Kāśī princesses Ambā, Ambikā and Ambālikā. Vicitravīrya died young without children; at his mother's request Vyāsa (Bhīṣma's stepbrother) fathered Dhṛtarāṣṭra (blind), Pāṇḍu (pale) and Vidura.
Pāṇḍu married Kuntī and Mādrī. Kuntī had a mantra from Durvāsā to invoke any Deva for a son. Out of curiosity she tested it with Sūrya and bore Karṇa, born with divine armour and earrings; fearing for her unwed state she set him afloat in a box, and a childless charioteer raised him. Later the mantra gave the five Pāṇḍavas: Yudhiṣṭhira (Yama Dharma), Bhīma (Vāyu), Arjuna (Indra), Nakula and Sahadeva (the two Aśvinī Devas). Gāndhārī, daughter of King Subala, married the blind Dhṛtarāṣṭra and bandaged her own eyes for life; her brother Śakuni settled in Hastināpura and became the mastermind of the evil plots. Impatient on hearing of Yudhiṣṭhira's birth, Gāndhārī struck her womb and delivered a lump of flesh, which Vyāsa divided into 101 parts kept in mud pots, giving 100 Kauravas and one sister, with Duryodhana the eldest. Pāṇḍu died owing to a curse and Kuntī returned with her sons.
Bhīma's rough pranks fed Duryodhana's hatred. A parallel story: Droṇa, son of Bharadvāja and a student of Paraśurāma, was a childhood friend of Drupada, who had promised him half his kingdom. Poor Droṇa went to ask; Drupada insulted him ('friendship only among equals'). Droṇa became the princes' weapons teacher in Hastināpura and demanded Drupada's capture as gurudakṣiṇā. The Kauravas (with Karṇa) failed; the Pāṇḍavas brought Drupada bound. Droṇa returned half the kingdom ('now we are equal'). Humiliated, Drupada performed a sacrifice from which Dhṛṣṭadyumna (Droṇa's future killer) and Draupadī were born.
Fearing Yudhiṣṭhira's kingship, Duryodhana and Karṇa tried to burn the Pāṇḍavas in a wax palace; warned by Vidura, they escaped by a tunnel and were believed dead. They killed Rākṣasas such as Baka and Hiḍimba, and at Draupadī's svayaṃvara in Pañcāla, Arjuna (disguised as a Brahmin) hit the moving target. Other kings attacked; Kṛṣṇa first enters the story here and calms the dispute. Because of a previous-birth connection, Draupadī became the wife of all five. Dhṛtarāṣṭra, advised by Bhīṣma, Droṇa and Vidura, gave them half the kingdom; they built Indraprastha at Khāṇḍava and, in Sabhā Parva, the grand court and Rājasūya Yajña.
Duryodhana, jealous of Indraprastha's splendour, invited Yudhiṣṭhira to a dice game with the deceitful Śakuni. Yudhiṣṭhira lost everything: kingdom, brothers, himself and Draupadī. Provoked by Karṇa, Duḥśāsana dragged Draupadī into the assembly and tried to disrobe her; the powerful were silent. She appealed to Dharma, then surrendered to Kṛṣṇa, whose grace gave an endless cloth. Dhṛtarāṣṭra repented and granted boons; the Pāṇḍavas were freed. Bhīma vowed to pierce Duḥśāsana's chest and break Duryodhana's thighs. A second dice game followed: the loser must spend twelve years in the forest and one year incognito. By Kṣatriya dharma Yudhiṣṭhira accepted and lost. Āraṇya Parva: in exile they killed adharmic beings and gained divine weapons such as Pāśupatāstra. Virāṭa Parva: the final year in Virāṭa's land; Virāṭa's daughter married Abhimanyu.
Duryodhana refused to return the kingdom. In Udyoga Parva Kṛṣṇa went on a peace mission; Duryodhana said not even a pinch of space would be given and tried to capture Kṛṣṇa, who showed his Viśvarūpa. Kṛṣṇa's Yādava army (Yādava Sainya) fought for the Kauravas, while unarmed Kṛṣṇa became Arjuna's charioteer. Bhīṣma led the Kauravas and Dhṛṣṭadyumna the Pāṇḍavas. Bhīṣma Parva covers ten days until his fall; Saṃjaya narrates to Dhṛtarāṣṭra. Arjuna's confusion born of attachment led to the Bhagavadgītā, which contains the quintessence of life's problems and solutions. Droṇa Parva (from day 11, Droṇa commanding): Abhimanyu, Drupada, Ghaṭotkaca, Droṇa, Jayadratha and others fall. In Karṇa Parva, Karṇa became commander; his charioteer Śalya warned him with the story of the Crow and the Swan, but Karṇa ignored him; Arjuna killed Karṇa with Kṛṣṇa's help. In Śalya Parva Śalya fell to Yudhiṣṭhira (Dharmarāja), and Bhīma and Duryodhana fought a mace duel (both taught by Balarāma, who left on pilgrimage along the Sarasvatī); Duryodhana's thighs were broken.
Sauptika Parva: Kṛtavarmā, Kṛpa and Aśvatthāmā found the fallen Duryodhana. Aśvatthāmā vowed to kill the Pāñcālas, Pāṇḍavas and allies, entered the camp at night, killed Dhṛṣṭadyumna and all the sons of the Pāṇḍavas. Draupadī resolved to fast unto death; Bhīma chased Aśvatthāmā, who released the Brahmaśira astra; Arjuna answered with the same weapon; Vyāsa and Nārada warned both. Arjuna withdrew his weapon; Aśvatthāmā could not and redirected it to the womb of Uttarā (Abhimanyu's wife). The stillborn child (Parīkṣit) was revived by Kṛṣṇa, continuing the Kuru line; Kṛṣṇa and Vyāsa cursed Aśvatthāmā. After the funeral rites Kuntī acknowledged Karṇa as her son. Strī Parva: the wives' lamentations, Gāndhārī and Dhṛtarāṣṭra's anger and swoon; Yudhiṣṭhira cremated the dead. Śānti Parva (12th): Yudhiṣṭhira's despondency; Bhīṣma on the bed of arrows taught the duties of a dharmic king, emergency norms (āpaddharma) and the path of Mokṣa Dharma. Anuśāsana Parva: rules of Dharma and Artha, charity and its fruits, conduct, the supremacy of truth; Bhīṣma ascended to heaven.
Aśvamedhika Parva (14th): Saṃvarta and Marutta, golden treasure, the birth of Parīkṣit, Yudhiṣṭhira's Aśvamedha and Arjuna's journey with the horse. Āśramavāsika Parva (15th): Dhṛtarāṣṭra, Gāndhārī and Vidura retire to the forest, followed by Kuntī (Pṛthā). Mausala Parva (16th): 'musala' means pestle; the Yādavas, cursed by Ṛṣis, killed each other with clubs that grew from grass; Balarāma and Kṛṣṇa ended their earthly life as their 'avatāra lakṣya' was fulfilled; Arjuna lost his powers and could not protect the Yādava women from plunder. Mahāprasthānika Parva (17th): 'great departure'; the Pāṇḍavas walk to the Himālayas and fall one by one; Dharmadeva appears as a dog; Yudhiṣṭhira ascends in his physical body. Svargārohaṇa Parva ends the Itihāsa with Vyāsa's lament that no one listens: if artha and kāma come from Dharma, why not follow Dharma? Dharma must not be given up for desire, fear, greed or even life; Dharma is eternal, joy and sorrow are transient, and the Ātman is eternal. The summary is partly drawn from Bibek Debroy's English translation, and the book urges readers to read the whole Itihāsa.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The whole story in the order of the 18 Parvas, from Bhīṣma's vow and the Pāṇḍava-Kaurava rivalry to the dice game, the war, and the Pāṇḍavas' final journey, ending with Vyāsa's message: never give up Dharma.
Full chapter summary:
Vyāsa is believed to have recited the Mahābhārata in 100 Parvas, which are like episodes of a great chronicle. Vaiśampāyana narrates it to King Janamejaya at his Sarpa Satra, and most of the text is their conversation. Later Ugraśravas retold the full story in the Naimiṣa forest and grouped it into 18 main Parvas. Some scholars think the first Parvas of the 100-Parva scheme work like an 'admit card' that summarises the work and hints at its purpose through metaphors.
Ādi Parva introduces King Bharata (born to Śakuntalā and Duṣyanta; 'Bharatasya deśaṃ Bhāratam', India's traditional name Bhārat comes from him) and the birth of Vyāsa. Śantanu of the Bharata line has a son Devavrata through Gaṅgā Devī. So that his father could marry the fisherwoman Satyavatī, Devavrata took a terrible vow of lifelong celibacy (the Bhīṣma Pratijñā), earning the name Bhīṣma, and a boon to die only when he wished. Śantanu and Satyavatī had Citrāṅgada (killed by a Gandharva) and Vicitravīrya, for whom Bhīṣma abducted the Kāśī princesses Ambā, Ambikā and Ambālikā. Vicitravīrya died young without children; at his mother's request Vyāsa (Bhīṣma's stepbrother) fathered Dhṛtarāṣṭra (blind), Pāṇḍu (pale) and Vidura.
Pāṇḍu married Kuntī and Mādrī. Kuntī had a mantra from Durvāsā to invoke any Deva for a son. Out of curiosity she tested it with Sūrya and bore Karṇa, born with divine armour and earrings; fearing for her unwed state she set him afloat in a box, and a childless charioteer raised him. Later the mantra gave the five Pāṇḍavas: Yudhiṣṭhira (Yama Dharma), Bhīma (Vāyu), Arjuna (Indra), Nakula and Sahadeva (the two Aśvinī Devas). Gāndhārī, daughter of King Subala, married the blind Dhṛtarāṣṭra and bandaged her own eyes for life; her brother Śakuni settled in Hastināpura and became the mastermind of the evil plots. Impatient on hearing of Yudhiṣṭhira's birth, Gāndhārī struck her womb and delivered a lump of flesh, which Vyāsa divided into 101 parts kept in mud pots, giving 100 Kauravas and one sister, with Duryodhana the eldest. Pāṇḍu died owing to a curse and Kuntī returned with her sons.
Bhīma's rough pranks fed Duryodhana's hatred. A parallel story: Droṇa, son of Bharadvāja and a student of Paraśurāma, was a childhood friend of Drupada, who had promised him half his kingdom. Poor Droṇa went to ask; Drupada insulted him ('friendship only among equals'). Droṇa became the princes' weapons teacher in Hastināpura and demanded Drupada's capture as gurudakṣiṇā. The Kauravas (with Karṇa) failed; the Pāṇḍavas brought Drupada bound. Droṇa returned half the kingdom ('now we are equal'). Humiliated, Drupada performed a sacrifice from which Dhṛṣṭadyumna (Droṇa's future killer) and Draupadī were born.
Fearing Yudhiṣṭhira's kingship, Duryodhana and Karṇa tried to burn the Pāṇḍavas in a wax palace; warned by Vidura, they escaped by a tunnel and were believed dead. They killed Rākṣasas such as Baka and Hiḍimba, and at Draupadī's svayaṃvara in Pañcāla, Arjuna (disguised as a Brahmin) hit the moving target. Other kings attacked; Kṛṣṇa first enters the story here and calms the dispute. Because of a previous-birth connection, Draupadī became the wife of all five. Dhṛtarāṣṭra, advised by Bhīṣma, Droṇa and Vidura, gave them half the kingdom; they built Indraprastha at Khāṇḍava and, in Sabhā Parva, the grand court and Rājasūya Yajña.
Duryodhana, jealous of Indraprastha's splendour, invited Yudhiṣṭhira to a dice game with the deceitful Śakuni. Yudhiṣṭhira lost everything: kingdom, brothers, himself and Draupadī. Provoked by Karṇa, Duḥśāsana dragged Draupadī into the assembly and tried to disrobe her; the powerful were silent. She appealed to Dharma, then surrendered to Kṛṣṇa, whose grace gave an endless cloth. Dhṛtarāṣṭra repented and granted boons; the Pāṇḍavas were freed. Bhīma vowed to pierce Duḥśāsana's chest and break Duryodhana's thighs. A second dice game followed: the loser must spend twelve years in the forest and one year incognito. By Kṣatriya dharma Yudhiṣṭhira accepted and lost. Āraṇya Parva: in exile they killed adharmic beings and gained divine weapons such as Pāśupatāstra. Virāṭa Parva: the final year in Virāṭa's land; Virāṭa's daughter married Abhimanyu.
Duryodhana refused to return the kingdom. In Udyoga Parva Kṛṣṇa went on a peace mission; Duryodhana said not even a pinch of space would be given and tried to capture Kṛṣṇa, who showed his Viśvarūpa. Kṛṣṇa's Yādava army (Yādava Sainya) fought for the Kauravas, while unarmed Kṛṣṇa became Arjuna's charioteer. Bhīṣma led the Kauravas and Dhṛṣṭadyumna the Pāṇḍavas. Bhīṣma Parva covers ten days until his fall; Saṃjaya narrates to Dhṛtarāṣṭra. Arjuna's confusion born of attachment led to the Bhagavadgītā, which contains the quintessence of life's problems and solutions. Droṇa Parva (from day 11, Droṇa commanding): Abhimanyu, Drupada, Ghaṭotkaca, Droṇa, Jayadratha and others fall. In Karṇa Parva, Karṇa became commander; his charioteer Śalya warned him with the story of the Crow and the Swan, but Karṇa ignored him; Arjuna killed Karṇa with Kṛṣṇa's help. In Śalya Parva Śalya fell to Yudhiṣṭhira (Dharmarāja), and Bhīma and Duryodhana fought a mace duel (both taught by Balarāma, who left on pilgrimage along the Sarasvatī); Duryodhana's thighs were broken.
Sauptika Parva: Kṛtavarmā, Kṛpa and Aśvatthāmā found the fallen Duryodhana. Aśvatthāmā vowed to kill the Pāñcālas, Pāṇḍavas and allies, entered the camp at night, killed Dhṛṣṭadyumna and all the sons of the Pāṇḍavas. Draupadī resolved to fast unto death; Bhīma chased Aśvatthāmā, who released the Brahmaśira astra; Arjuna answered with the same weapon; Vyāsa and Nārada warned both. Arjuna withdrew his weapon; Aśvatthāmā could not and redirected it to the womb of Uttarā (Abhimanyu's wife). The stillborn child (Parīkṣit) was revived by Kṛṣṇa, continuing the Kuru line; Kṛṣṇa and Vyāsa cursed Aśvatthāmā. After the funeral rites Kuntī acknowledged Karṇa as her son. Strī Parva: the wives' lamentations, Gāndhārī and Dhṛtarāṣṭra's anger and swoon; Yudhiṣṭhira cremated the dead. Śānti Parva (12th): Yudhiṣṭhira's despondency; Bhīṣma on the bed of arrows taught the duties of a dharmic king, emergency norms (āpaddharma) and the path of Mokṣa Dharma. Anuśāsana Parva: rules of Dharma and Artha, charity and its fruits, conduct, the supremacy of truth; Bhīṣma ascended to heaven.
Aśvamedhika Parva (14th): Saṃvarta and Marutta, golden treasure, the birth of Parīkṣit, Yudhiṣṭhira's Aśvamedha and Arjuna's journey with the horse. Āśramavāsika Parva (15th): Dhṛtarāṣṭra, Gāndhārī and Vidura retire to the forest, followed by Kuntī (Pṛthā). Mausala Parva (16th): 'musala' means pestle; the Yādavas, cursed by Ṛṣis, killed each other with clubs that grew from grass; Balarāma and Kṛṣṇa ended their earthly life as their 'avatāra lakṣya' was fulfilled; Arjuna lost his powers and could not protect the Yādava women from plunder. Mahāprasthānika Parva (17th): 'great departure'; the Pāṇḍavas walk to the Himālayas and fall one by one; Dharmadeva appears as a dog; Yudhiṣṭhira ascends in his physical body. Svargārohaṇa Parva ends the Itihāsa with Vyāsa's lament that no one listens: if artha and kāma come from Dharma, why not follow Dharma? Dharma must not be given up for desire, fear, greed or even life; Dharma is eternal, joy and sorrow are transient, and the Ātman is eternal. The summary is partly drawn from Bibek Debroy's English translation, and the book urges readers to read the whole Itihāsa.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Vyāsa recited it in 100 Parvas. Vaiśampāyana narrated it to Janamejaya at the Sarpa Satra; Ugraśravas retold it at Naimiṣāraṇya in 18 main Parvas, the first being Ādi Parva.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 of narration
- Vyāsa recited in 100 Parvas (episodes of a chronicle).
- Vaiśampāyana to Janamejaya at the Sarpa Satra: majority of the text is their conversation.
- Ugraśravas retold it at Naimiṣāraṇya and classified it into 18 main Parvas; the first is Ādi Parva.
- Scholars: first Parvas of the 100-Parva scheme act as an admit card (summary, hints on purpose, metaphors).
Check for understanding: How is the Mahābhārata organised into Parvas and who narrates it?
Model answer: Vyāsa recited it in 100 Parvas. Vaiśampāyana narrated it to Janamejaya at the Sarpa Satra; Ugraśravas retold it at Naimiṣāraṇya in 18 main Parvas, the first being Ādi Parva.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Ādi Parva: origins and the seeds of conflict
- Bharata (son of Śakuntalā and Duṣyanta): 'Bharatasya deśaṃ Bhāratam'; India = Bhārat.
- Bhīṣma Pratijñā: Devavrata's 'terrible vow' of celibacy so Śantanu could marry Satyavatī; boon of choosing his time of death.
- Sons of Śantanu-Satyavatī: Citrāṅgada (killed by Gandharva), Vicitravīrya (died young).
- Bhīṣma abducted Ambā, Ambikā, Ambālikā (Kāśī princesses) at a svayaṃvara.
- Vyāsa fathered Dhṛtarāṣṭra (blind), Pāṇḍu (pale), Vidura.
- Karṇa: Kuntī + Sūrya, via Durvāsā's mantra; born with kavaca-kuṇḍala; set afloat; raised by a childless charioteer.
- Pāṇḍavas: Yudhiṣṭhira (Yama Dharma), Bhīma (Vāyu), Arjuna (Indra), Nakula-Sahadeva (Aśvinī Devas).
- Gāndhārī blindfolded herself; Śakuni (her brother) settled in Hastināpura and plotted.
- 101 parts from a lump of flesh by Vyāsa: 100 Kauravas + 1 sister; Duryodhana eldest.
Check for understanding: What is the Bhīṣma Pratijñā and what did Devavrata gain?
Model answer: His terrible vow to remain celibate for life, so that Śantanu could marry Satyavatī. He was named Bhīṣma and blessed with the boon to die only when he wished.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Ādi Parva: origins and the seeds of conflict
- Bharata (son of Śakuntalā and Duṣyanta): 'Bharatasya deśaṃ Bhāratam'; India = Bhārat.
- Bhīṣma Pratijñā: Devavrata's 'terrible vow' of celibacy so Śantanu could marry Satyavatī; boon of choosing his time of death.
- Sons of Śantanu-Satyavatī: Citrāṅgada (killed by Gandharva), Vicitravīrya (died young).
- Bhīṣma abducted Ambā, Ambikā, Ambālikā (Kāśī princesses) at a svayaṃvara.
- Vyāsa fathered Dhṛtarāṣṭra (blind), Pāṇḍu (pale), Vidura.
- Karṇa: Kuntī + Sūrya, via Durvāsā's mantra; born with kavaca-kuṇḍala; set afloat; raised by a childless charioteer.
- Pāṇḍavas: Yudhiṣṭhira (Yama Dharma), Bhīma (Vāyu), Arjuna (Indra), Nakula-Sahadeva (Aśvinī Devas).
- Gāndhārī blindfolded herself; Śakuni (her brother) settled in Hastināpura and plotted.
- 101 parts from a lump of flesh by Vyāsa: 100 Kauravas + 1 sister; Duryodhana eldest.
Check for understanding: What is the Bhīṣma Pratijñā and what did Devavrata gain?
Model answer: His terrible vow to remain celibate for life, so that Śantanu could marry Satyavatī. He was named Bhīṣma and blessed with the boon to die only when he wished.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Droṇa-Drupada story
- Droṇa learned archery from Paraśurāma; friend of Drupada; insulted: 'friendship only among equals'.
- Droṇa became teacher of Hastināpura princes; demanded Drupada's capture as gurudakṣiṇā.
- Kauravas (with Karṇa) lost; Pāṇḍavas succeeded; Droṇa gave half the kingdom back: 'Now we are equal'.
- Drupada's sacrifice produced Dhṛṣṭadyumna (to kill Droṇa) and Draupadī.
Check for understanding: Narrate the birth of Karṇa.
Model answer: Kuntī tested Durvāsā's mantra by invoking Sūrya and bore Karṇa, born with divine armour and earrings. Fearing for being unwed, she floated him in a box; a childless charioteer raised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Escape, svayaṃvara and Indraprastha
- Wax palace plot (Duryodhana and Karṇa); Vidura warned; escape by tunnel.
- Killed Rākṣasas Baka and Hiḍimba.
- Svayaṃvara at Pañcāla: Arjuna, disguised as a Brahmin, shoots the mechanised target.
- Kṛṣṇa's first entry into the Itihāsa; settles the dispute by diplomacy.
- Draupadī married all five (destiny linked to a previous birth).
- Half kingdom given on advice of Bhīṣma, Droṇa, Vidura; Khāṇḍava / Indraprastha; Sabhā Parva (2nd): palace, Rājasūya.
Check for understanding: How were the Pāṇḍavas and Kauravas born?
Model answer: Pāṇḍavas by Kuntī and Mādrī through the mantra: Yudhiṣṭhira (Yama), Bhīma (Vāyu), Arjuna (Indra), Nakula-Sahadeva (Aśvinīs). Kauravas: Gāndhārī delivered a lump of flesh; Vyāsa divided it into 101 parts kept in pots, giving 100 sons and a daughter; Duryodhana was eldest.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Dice games and exile
- Duryodhana jealous; dice with Śakuni: Yudhiṣṭhira stakes kingdom, brothers, himself, Draupadī.
- Dishonouring of Draupadī: Duḥśāsana (provoked by Karṇa); court silent; she surrenders to Kṛṣṇa; endless cloth.
- Dhṛtarāṣṭra repents; boons; Pāṇḍavas freed.
- Bhīma's oath: pierce Duḥśāsana's chest, break Duryodhana's thighs.
- Second game: 12 years forest + 1 year disguise; Yudhiṣṭhira accepts per Kṣatriya dharma.
- Āraṇya Parva (3rd): divine weapons (e.g. Pāśupatāstra).
- Virāṭa Parva: year in disguise at Virāṭa; Virāṭa's daughter marries Abhimanyu.
Check for understanding: Describe the Droṇa-Drupada episode and its consequences.
Model answer: Drupada insulted poor Droṇa. Droṇa, teaching the princes, asked for Drupada's capture as gurudakṣiṇā; the Pāṇḍavas succeeded. Droṇa returned half the kingdom ('now we are equal'). Drupada's revenge sacrifice produced Dhṛṣṭadyumna and Draupadī.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Peace mission and the war begins
- Udyoga Parva: Kṛṣṇa's peace mission fails; 'not even a pinch of space'; Duryodhana tries to capture Kṛṣṇa; Viśvarūpa.
- Yādava Sainya joins the Kauravas; unarmed Kṛṣṇa is Arjuna's charioteer.
- Commanders: Bhīṣma (Kauravas), Dhṛṣṭadyumna (Pāṇḍavas).
- Bhīṣma Parva: 10 days until his fall; Saṃjaya narrates to Dhṛtarāṣṭra; Bhagavadgītā at the start.
Check for understanding: How did the Pāṇḍavas escape the wax palace?
Model answer: Vidura warned them in time; they escaped through a hidden tunnel and everyone believed they had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The war Parvas
- Droṇa Parva (from day 11): deaths of Abhimanyu, Drupada, Ghaṭotkaca, Droṇa, Jayadratha.
- Karṇa Parva: Karṇa commands; Śalya rebukes him; Crow and Swan story; Arjuna kills Karṇa with Kṛṣṇa's help.
- Śalya Parva: Śalya slain by Dharmarāja; Bhīma-Duryodhana mace duel; Balarāma (their teacher) goes on pilgrimage on the Sarasvatī; Duryodhana's thighs broken.
- Sauptika Parva: Kṛtavarmā, Kṛpa, Aśvatthāmā; night massacre; Brahmaśira; Uttarā's womb; Parīkṣit revived; Aśvatthāmā cursed; Kuntī acknowledges Karṇa.
Check for understanding: Explain the events of the dice game.
Model answer: Yudhiṣṭhira lost everything to Śakuni's deceit, including his brothers, himself and Draupadī. Duḥśāsana dragged Draupadī in; she surrendered to Kṛṣṇa, who saved her honour. Dhṛtarāṣṭra freed them, but a second game imposed 12 years of exile and 1 year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 Aftermath and ending
- Strī Parva: lamentations; Yudhiṣṭhira performs funeral rites.
- Śānti Parva (12th): Yudhiṣṭhira despondent; Bhīṣma on bed of arrows teaches rājadharma, āpaddharma, mokṣadharma.
- Anuśāsana Parva: Dharma/Artha rules, charity, supremacy of truth; Bhīṣma ascends to heaven.
- Aśvamedhika (14th), Āśramavāsika (15th): Dhṛtarāṣṭra, Gāndhārī, Vidura to forest, Kuntī follows.
- Mausala (16th): musala = pestle; Yādavas destroy each other; Balarāma and Kṛṣṇa depart; Arjuna powerless.
- Mahāprasthānika (17th): journey to Himālayas; dog = Dharmadeva; Yudhiṣṭhira reaches heaven bodily.
- Svargārohaṇa: Vyāsa's final message on Dharma.
Check for understanding: What oath did Bhīma take?
Model answer: To pierce Duḥśāsana's chest and break Duryodhana's thighs.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Vyāsa recited it in 100 Parvas. Vaiśampāyana narrated it to Janamejaya at the Sarpa Satra; Ugraśravas retold it at Naimiṣāraṇya in 18 main Parvas, the first being Ādi Parva.
Q2. His terrible vow to remain celibate for life, so that Śantanu could marry Satyavatī. He was named Bhīṣma and blessed with the boon to die only when he wished.
Q3. Kuntī tested Durvāsā's mantra by invoking Sūrya and bore Karṇa, born with divine armour and earrings. Fearing for being unwed, she floated him in a box; a childless charioteer raised him.
Q4. Pāṇḍavas by Kuntī and Mādrī through the mantra: Yudhiṣṭhira (Yama), Bhīma (Vāyu), Arjuna (Indra), Nakula-Sahadeva (Aśvinīs). Kauravas: Gāndhārī delivered a lump of flesh; Vyāsa divided it into 101 parts kept in pots, giving 100 sons and a daughter; Duryodhana was eldest.
Q5. Drupada insulted poor Droṇa. Droṇa, teaching the princes, asked for Drupada's capture as gurudakṣiṇā; the Pāṇḍavas succeeded. Droṇa returned half the kingdom ('now we are equal'). Drupada's revenge sacrifice produced Dhṛṣṭadyumna and Draupadī.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Vidura warned them in time; they escaped through a hidden tunnel and everyone believed they had died.
Q7. Yudhiṣṭhira lost everything to Śakuni's deceit, including his brothers, himself and Draupadī. Duḥśāsana dragged Draupadī in; she surrendered to Kṛṣṇa, who saved her honour. Dhṛtarāṣṭra freed them, but a second game imposed 12 years of exile and 1 year in disguise.
Q8. To pierce Duḥśāsana's chest and break Duryodhana's thighs.
Q9. Kṛṣṇa's peace mission failed; Duryodhana refused even a pinch of land and tried to capture Kṛṣṇa, who showed the Viśvarūpa. Kṛṣṇa's army sided with the Kauravas; unarmed Kṛṣṇa became Arjuna's charioteer.
Q10. It covers the first ten days until Bhīṣma's fall, narrated by Saṃjaya, and contains the Bhagavadgītā, born from Arjuna's dilemma of attachment.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Q11. Abhimanyu, Drupada, Ghaṭotkaca, Droṇa, Jayadratha and others.
Q12. He rebuked Karṇa's adamancy and told him the story of the Crow and the Swan to show his limitations; Karṇa ignored it and was killed by Arjuna with Kṛṣṇa's help.
Q13. Aśvatthāmā, with Kṛtavarmā and Kṛpa, killed Dhṛṣṭadyumna and the Pāṇḍavas' sons at night. The Brahmaśira duel followed; Arjuna withdrew his weapon, Aśvatthāmā redirected his to Uttarā's womb; Kṛṣṇa revived the child and cursed Aśvatthāmā with Vyāsa.
Q14. Rājadharma (duties of a dharmic king), āpaddharma (norms in emergencies), mokṣadharma (path to salvation), then rules of Dharma and Artha, charity, conduct and the supremacy of truth.
Q15. Cursed Yādavas kill each other with clubs from grass; Balarāma and Kṛṣṇa depart; Arjuna loses his powers. Then the Pāṇḍavas go to the Himālayas and fall one by one; Dharmadeva appears as a dog; Yudhiṣṭhira ascends bodily.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Q16. Dharma is eternal and must not be abandoned for kāma, fear, greed or life; artha and kāma follow from Dharma; pleasures and pains are transient, the Ātman is eternal.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Vyāsa recited it in 100 Parvas. Vaiśampāyana narrated it to Janamejaya at the Sarpa Satra; Ugraśravas retold it at Naimiṣāraṇya in 18 main Parvas, the first being Ādi Parva.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2 · Mahābhārata: A Brief Summary</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2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2</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Mahābhārata: A Brief Summary</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19 to 32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Vyāsa recited it in 100 Parvas; Ugraśravas classified it into 18 Parvas (first = Ādi Parva).</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Main narrative frame: Vaiśampāyana to Janamejaya at the Sarpa Satra; retold by Ugraśravas at Naimiṣāraṇya.</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Turning points: Bhīṣma Pratijñā, Karṇa's birth, wax palace, Draupadī svayaṃvara, dice games, Draupadī's dishonour, 13-year exile, Kṛṣṇa's peace mission, Gītā, 18-day war, Sauptika night massacre, Mausala, Mahāprasthāna.</a:t>
            </a:r>
            <a:endParaRPr lang="en-US" sz="12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Closing message (Svargārohaṇa Parva): Dharma is eternal; do not give it up for kāma, fear, greed or even life.</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The summary skips Jarāsandha Vadha, Urvaśī's curse, Śikhaṇḍī, Śiśupāla Vadha, Yakṣa Praśna, Kīcaka Vadha, Vyādha Gītā and more.</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How is the Mahābhārata organised into Parvas and who narrates it?</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Frame of narration</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Frame of narration</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Ādi Parva: origins and the…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Vyāsa recited in 100 Parvas (episodes of a chronicle).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Vaiśampāyana to Janamejaya at the Sarpa Satra: majority of the text is their conversation.</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Ugraśravas retold it at Naimiṣāraṇya and classified it into 18 main Parvas; the first is Ādi Parva.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Scholars: first Parvas of the 100-Parva scheme act as an admit card (summary, hints on purpose, metaphors).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000" b="1" dirty="0">
                <a:solidFill>
                  <a:srgbClr val="8C2F1B"/>
                </a:solidFill>
                <a:latin typeface="Cambria" pitchFamily="34" charset="0"/>
                <a:ea typeface="Cambria" pitchFamily="34" charset="-122"/>
                <a:cs typeface="Cambria" pitchFamily="34" charset="-120"/>
              </a:rPr>
              <a:t>Ādi Parva: origins and the seeds of conflict (1/2)</a:t>
            </a:r>
            <a:endParaRPr lang="en-US" sz="20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Ādi Parva: origins and the…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Bharata (son of Śakuntalā and Duṣyanta): 'Bharatasya deśaṃ Bhāratam'; India = Bhārat.</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Bhīṣma Pratijñā: Devavrata's 'terrible vow' of celibacy so Śantanu could marry Satyavatī; boon of choosing his time of death.</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Sons of Śantanu-Satyavatī: Citrāṅgada (killed by Gandharva), Vicitravīrya (died young).</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Bhīṣma abducted Ambā, Ambikā, Ambālikā (Kāśī princesses) at a svayaṃvara.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Vyāsa fathered Dhṛtarāṣṭra (blind), Pāṇḍu (pale), Vidura.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000" b="1" dirty="0">
                <a:solidFill>
                  <a:srgbClr val="8C2F1B"/>
                </a:solidFill>
                <a:latin typeface="Cambria" pitchFamily="34" charset="0"/>
                <a:ea typeface="Cambria" pitchFamily="34" charset="-122"/>
                <a:cs typeface="Cambria" pitchFamily="34" charset="-120"/>
              </a:rPr>
              <a:t>Ādi Parva: origins and the seeds of conflict (2/2)</a:t>
            </a:r>
            <a:endParaRPr lang="en-US" sz="20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Ādi Parva: origins and the…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Karṇa: Kuntī + Sūrya, via Durvāsā's mantra; born with kavaca-kuṇḍala; set afloat; raised by a childless charioteer.</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Pāṇḍavas: Yudhiṣṭhira (Yama Dharma), Bhīma (Vāyu), Arjuna (Indra), Nakula-Sahadeva (Aśvinī Devas).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Gāndhārī blindfolded herself; Śakuni (her brother) settled in Hastināpura and plotted.</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101 parts from a lump of flesh by Vyāsa: 100 Kauravas + 1 sister; Duryodhana eldest.</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Droṇa-Drupada story</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Ādi Parva: origins and the…</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Droṇa-Drupada story</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Droṇa learned archery from Paraśurāma; friend of Drupada; insulted: 'friendship only among equals'.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Droṇa became teacher of Hastināpura princes; demanded Drupada's capture as gurudakṣiṇā.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Kauravas (with Karṇa) lost; Pāṇḍavas succeeded; Droṇa gave half the kingdom back: 'Now we are equal'.</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Drupada's sacrifice produced Dhṛṣṭadyumna (to kill Droṇa) and Draupadī.</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Escape, svayaṃvara and Indraprastha</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Ādi Parva: origins and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Escape, svayaṃvara and Ind…</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Wax palace plot (Duryodhana and Karṇa); Vidura warned; escape by tunnel.</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Killed Rākṣasas Baka and Hiḍimba.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Svayaṃvara at Pañcāla: Arjuna, disguised as a Brahmin, shoots the mechanised target.</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Kṛṣṇa's first entry into the Itihāsa; settles the dispute by diplomacy.</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Draupadī married all five (destiny linked to a previous birth).</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Half kingdom given on advice of Bhīṣma, Droṇa, Vidura; Khāṇḍava / Indraprastha; Sabhā Parva (2nd): palace, Rājasūya.</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Dice games and exile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Ādi Parva: origins and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Dice games and exile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Duryodhana jealous; dice with Śakuni: Yudhiṣṭhira stakes kingdom, brothers, himself, Draupadī.</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Dishonouring of Draupadī: Duḥśāsana (provoked by Karṇa); court silent; she surrenders to Kṛṣṇa; endless cloth.</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Dhṛtarāṣṭra repents; boons; Pāṇḍavas freed.</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Bhīma's oath: pierce Duḥśāsana's chest, break Duryodhana's thighs.</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Second game: 12 years forest + 1 year disguise; Yudhiṣṭhira accepts per Kṣatriya dharma.</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Āraṇya Parva (3rd): divine weapons (e.g. Pāśupatāstra).</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Virāṭa Parva: year in disguise at Virāṭa; Virāṭa's daughter marries Abhimanyu.</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Peace mission and the war begins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Ādi Parva: origins and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Peace mission and the war …</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Udyoga Parva: Kṛṣṇa's peace mission fails; 'not even a pinch of space'; Duryodhana tries to capture Kṛṣṇa; Viśvarūpa.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Yādava Sainya joins the Kauravas; unarmed Kṛṣṇa is Arjuna's charioteer.</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Commanders: Bhīṣma (Kauravas), Dhṛṣṭadyumna (Pāṇḍavas).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Bhīṣma Parva: 10 days until his fall; Saṃjaya narrates to Dhṛtarāṣṭra; Bhagavadgītā at the start.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war Parvas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Ādi Parva: origins and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1" name="Text 8"/>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2" name="Current section"/>
          <p:cNvSpPr/>
          <p:nvPr/>
        </p:nvSpPr>
        <p:spPr>
          <a:xfrm>
            <a:off x="457200" y="3694176"/>
            <a:ext cx="2286000" cy="356616"/>
          </a:xfrm>
          <a:prstGeom prst="roundRect">
            <a:avLst>
              <a:gd name="adj" fmla="val 12821"/>
            </a:avLst>
          </a:prstGeom>
          <a:solidFill>
            <a:srgbClr val="F2B632"/>
          </a:solidFill>
          <a:ln w="12700">
            <a:solidFill>
              <a:srgbClr val="F2B632"/>
            </a:solidFill>
            <a:prstDash val="solid"/>
          </a:ln>
        </p:spPr>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G  The war Parvas</a:t>
            </a:r>
            <a:endParaRPr lang="en-US" sz="1050" dirty="0"/>
          </a:p>
        </p:txBody>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dirty="0">
                <a:solidFill>
                  <a:srgbClr val="E6D6D6"/>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AD1457"/>
          </a:solidFill>
          <a:ln w="12700">
            <a:solidFill>
              <a:srgbClr val="AD1457"/>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G</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Droṇa Parva (from day 11): deaths of Abhimanyu, Drupada, Ghaṭotkaca, Droṇa, Jayadratha.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Karṇa Parva: Karṇa commands; Śalya rebukes him; Crow and Swan story; Arjuna kills Karṇa with Kṛṣṇa's help.</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Śalya Parva: Śalya slain by Dharmarāja; Bhīma-Duryodhana mace duel; Balarāma (their teacher) goes on pilgrimage on the Sarasvatī; Duryodhana's thighs broken.</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Sauptika Parva: Kṛtavarmā, Kṛpa, Aśvatthāmā; night massacre; Brahmaśira; Uttarā's womb; Parīkṣit revived; Aśvatthāmā cursed; Kuntī acknowledges Karṇa.</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Aftermath and ending</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Frame of narration</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Ādi Parva: origins and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Droṇa-Drupada story</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Escape, svayaṃvara and Ind…</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Dice games and exile</a:t>
            </a:r>
            <a:endParaRPr lang="en-US" sz="1050" dirty="0"/>
          </a:p>
        </p:txBody>
      </p:sp>
      <p:sp>
        <p:nvSpPr>
          <p:cNvPr id="11" name="Text 8"/>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Peace mission and the war …</a:t>
            </a:r>
            <a:endParaRPr lang="en-US" sz="1050" dirty="0"/>
          </a:p>
        </p:txBody>
      </p:sp>
      <p:sp>
        <p:nvSpPr>
          <p:cNvPr id="12" name="Text 9"/>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The war Parvas</a:t>
            </a:r>
            <a:endParaRPr lang="en-US" sz="1050" dirty="0"/>
          </a:p>
        </p:txBody>
      </p:sp>
      <p:sp>
        <p:nvSpPr>
          <p:cNvPr id="13" name="Current section"/>
          <p:cNvSpPr/>
          <p:nvPr/>
        </p:nvSpPr>
        <p:spPr>
          <a:xfrm>
            <a:off x="457200" y="4078224"/>
            <a:ext cx="2286000" cy="356616"/>
          </a:xfrm>
          <a:prstGeom prst="roundRect">
            <a:avLst>
              <a:gd name="adj" fmla="val 12821"/>
            </a:avLst>
          </a:prstGeom>
          <a:solidFill>
            <a:srgbClr val="F2B632"/>
          </a:solidFill>
          <a:ln w="12700">
            <a:solidFill>
              <a:srgbClr val="F2B632"/>
            </a:solidFill>
            <a:prstDash val="solid"/>
          </a:ln>
        </p:spPr>
      </p:sp>
      <p:sp>
        <p:nvSpPr>
          <p:cNvPr id="14" name="Text 11"/>
          <p:cNvSpPr txBox="1"/>
          <p:nvPr/>
        </p:nvSpPr>
        <p:spPr>
          <a:xfrm>
            <a:off x="530352" y="407822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H  Aftermath and ending</a:t>
            </a:r>
            <a:endParaRPr lang="en-US" sz="1050" dirty="0"/>
          </a:p>
        </p:txBody>
      </p:sp>
      <p:sp>
        <p:nvSpPr>
          <p:cNvPr id="15"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6" name="Section letter"/>
          <p:cNvSpPr/>
          <p:nvPr/>
        </p:nvSpPr>
        <p:spPr>
          <a:xfrm>
            <a:off x="3154680" y="1097280"/>
            <a:ext cx="420624" cy="420624"/>
          </a:xfrm>
          <a:prstGeom prst="ellipse">
            <a:avLst/>
          </a:prstGeom>
          <a:solidFill>
            <a:srgbClr val="455A64"/>
          </a:solidFill>
          <a:ln w="12700">
            <a:solidFill>
              <a:srgbClr val="455A64"/>
            </a:solidFill>
            <a:prstDash val="solid"/>
          </a:ln>
        </p:spPr>
      </p:sp>
      <p:sp>
        <p:nvSpPr>
          <p:cNvPr id="17" name="Text 14"/>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H</a:t>
            </a:r>
            <a:endParaRPr lang="en-US" sz="1600" dirty="0"/>
          </a:p>
        </p:txBody>
      </p:sp>
      <p:sp>
        <p:nvSpPr>
          <p:cNvPr id="18" name="Text 15"/>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Strī Parva: lamentations; Yudhiṣṭhira performs funeral rites.</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Śānti Parva (12th): Yudhiṣṭhira despondent; Bhīṣma on bed of arrows teaches rājadharma, āpaddharma, mokṣadharma.</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Anuśāsana Parva: Dharma/Artha rules, charity, supremacy of truth; Bhīṣma ascends to heaven.</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Aśvamedhika (14th), Āśramavāsika (15th): Dhṛtarāṣṭra, Gāndhārī, Vidura to forest, Kuntī follows.</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Mausala (16th): musala = pestle; Yādavas destroy each other; Balarāma and Kṛṣṇa depart; Arjuna powerless.</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Mahāprasthānika (17th): journey to Himālayas; dog = Dharmadeva; Yudhiṣṭhira reaches heaven bodily.</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Svargārohaṇa: Vyāsa's final message on Dharma.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 book or episode of the Mahābhārata; 100 in Vyāsa's recital, 18 in the main classification.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Sarpa Satra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Janamejaya's serpent sacrifice where Vaiśampāyana narrated.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Bhīṣma Pratijñā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Devavrata's terrible vow of lifelong celibacy; earned him the name Bhīṣma.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Svayaṃvara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Ceremony in which a princess chooses her husband; Kāśī and Pañcāla ones are mentioned.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Gurudakṣiṇā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Fee/offering to a teacher; Droṇa asked for Drupada's capture.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Rājasūya Yajña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Grand sacrifice marking imperial status, performed by the Pāṇḍavas.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Viśvarūpa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Kṛṣṇa's all-encompassing divine form, shown during the peace mission.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Yādava Sainya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Kṛṣṇa's army, which fought for the Kauravas.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Brahmaśira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Divine astra released by Aśvatthāmā; countered by Arjuna; redirected to Uttarā's womb.</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Rājadharma / Āpaddharma / Mokṣadharma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Duties of a king / norms in emergencies / path to liberation; taught by Bhīṣma in Śānti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Musala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Pestle; Mausala Parva is named for it.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Avatāra lakṣya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purpose of the avatāra, accomplished before Kṛṣṇa departs.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Mahāprasthāna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'Great departure': the final journey/death of the Pāṇḍavas.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Gandiva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Arjuna's bow.</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Parvas in Vyāsa's recital</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100</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Main Parvas (Ugraśravas)</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18</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Kauravas</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100 sons + 1 sister (101 parts of flesh)</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Pāṇḍavas</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5 (from Yama Dharma, Vāyu, Indra, two Aśvinī Devas)</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Bhīṣma's war leadership</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10 days (Bhīṣma Parva)</a:t>
            </a:r>
            <a:endParaRPr lang="en-US" sz="18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Droṇa Parva begins</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Day 11 of the war</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Exile terms</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12 years in forest + 1 year in disguise = 13</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Śānti Parva</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12th Parva</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Aśvamedhika / Āśramavāsika / Mausala / Mahāprasthānika</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14th / 15th / 16th / 17th</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Svargārohaṇa</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18th, concluding Parva</a:t>
            </a:r>
            <a:endParaRPr lang="en-US" sz="18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Boon to Bhīṣma</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Dies only when he wishes</a:t>
            </a:r>
            <a:endParaRPr lang="en-US" sz="18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Bhīma's oaths</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Pierce Duḥśāsana's chest; break Duryodhana's thighs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Bhīṣma (Devavrata)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Son of Śantanu and Gaṅgā; vow of celibacy; Kaurava commander; teaches Dharma on the bed of arrows.</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Ś</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Śakuni</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Gāndhārī's brother; master of deceit in dice.</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Karṇa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Kuntī's firstborn (by Sūrya), raised by a charioteer; Duryodhana's friend; killed by Arjuna.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Droṇa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Archery teacher; Drupada's humiliated friend; killed in war.</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1565C0"/>
          </a:solidFill>
          <a:ln w="12700">
            <a:solidFill>
              <a:srgbClr val="1565C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Drupada / Dhṛṣṭadyumna / Draupadī</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King of Pañcāla / born from his sacrifice to kill Droṇa / the heroine.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00796B"/>
          </a:solidFill>
          <a:ln w="12700">
            <a:solidFill>
              <a:srgbClr val="00796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Vidura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Warned the Pāṇḍavas of the wax palace.</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AD1457"/>
          </a:solidFill>
          <a:ln w="12700">
            <a:solidFill>
              <a:srgbClr val="AD1457"/>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Kṛṣṇa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Enters at Draupadī's svayaṃvara; saves Draupadī; peace mission; Arjuna's charioteer.</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455A64"/>
          </a:solidFill>
          <a:ln w="12700">
            <a:solidFill>
              <a:srgbClr val="455A64"/>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Ś</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Śalya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Karṇa's charioteer; told the Crow and Swan story; last Kaurava general.</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8C2F1B"/>
          </a:solidFill>
          <a:ln w="12700">
            <a:solidFill>
              <a:srgbClr val="8C2F1B"/>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Aśvatthāmā</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Droṇa's son; night massacre; cursed by Kṛṣṇa and Vyāsa.</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E07B00"/>
          </a:solidFill>
          <a:ln w="12700">
            <a:solidFill>
              <a:srgbClr val="E07B0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Balarāma</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Kṛṣṇa's brother; teacher of Bhīma and Duryodhana in mace fighting.</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2E7D32"/>
          </a:solidFill>
          <a:ln w="12700">
            <a:solidFill>
              <a:srgbClr val="2E7D32"/>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Saṃjaya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Narrates the war to Dhṛtarāṣṭra.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6A1B9A"/>
          </a:solidFill>
          <a:ln w="12700">
            <a:solidFill>
              <a:srgbClr val="6A1B9A"/>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U</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Uttarā and Parīkṣit</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Abhimanyu's wife; her child revived by Kṛṣṇa to continue the Kuru line.</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1565C0"/>
          </a:solidFill>
          <a:ln w="12700">
            <a:solidFill>
              <a:srgbClr val="1565C0"/>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N</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100" b="1" dirty="0">
                <a:solidFill>
                  <a:srgbClr val="1565C0"/>
                </a:solidFill>
              </a:rPr>
              <a:t>Naimiṣāraṇya, Pañcāla, Virāṭa, Khāṇḍava, Indraprastha, Hastināpura</a:t>
            </a:r>
            <a:endParaRPr lang="en-US" sz="11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Key places in the narrative.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1214755"/>
          </a:xfrm>
          <a:prstGeom prst="roundRect">
            <a:avLst>
              <a:gd name="adj" fmla="val 6022"/>
            </a:avLst>
          </a:prstGeom>
          <a:solidFill>
            <a:srgbClr val="FFF4D6"/>
          </a:solidFill>
          <a:ln w="12700">
            <a:solidFill>
              <a:srgbClr val="EAD9C4"/>
            </a:solidFill>
            <a:prstDash val="solid"/>
          </a:ln>
        </p:spPr>
      </p:sp>
      <p:sp>
        <p:nvSpPr>
          <p:cNvPr id="5" name="Text 2"/>
          <p:cNvSpPr txBox="1"/>
          <p:nvPr/>
        </p:nvSpPr>
        <p:spPr>
          <a:xfrm>
            <a:off x="548640" y="1005840"/>
            <a:ext cx="3840480" cy="1214755"/>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Vyāsa's concluding lament (Svargārohaṇa Parva)</a:t>
            </a:r>
            <a:endParaRPr lang="en-US" sz="1300" dirty="0"/>
          </a:p>
        </p:txBody>
      </p:sp>
      <p:sp>
        <p:nvSpPr>
          <p:cNvPr id="6" name="Text 3"/>
          <p:cNvSpPr txBox="1"/>
          <p:nvPr/>
        </p:nvSpPr>
        <p:spPr>
          <a:xfrm>
            <a:off x="4572000" y="1005840"/>
            <a:ext cx="4069080" cy="1214755"/>
          </a:xfrm>
          <a:prstGeom prst="rect">
            <a:avLst/>
          </a:prstGeom>
          <a:noFill/>
          <a:ln/>
        </p:spPr>
        <p:txBody>
          <a:bodyPr wrap="square" lIns="0" tIns="0" rIns="0" bIns="0" rtlCol="0" anchor="ctr"/>
          <a:lstStyle/>
          <a:p>
            <a:pPr indent="0" marL="0">
              <a:buNone/>
            </a:pPr>
            <a:r>
              <a:rPr lang="en-US" sz="1300" dirty="0">
                <a:solidFill>
                  <a:srgbClr val="2A2A2A"/>
                </a:solidFill>
              </a:rPr>
              <a:t>If artha and kāma come from Dharma, why not follow Dharma? Never abandon Dharma for desire, fear, greed or life. Dharma is eternal; joy and sorrow are transient; the Ātman is eternal.</a:t>
            </a:r>
            <a:endParaRPr lang="en-US" sz="1300" dirty="0"/>
          </a:p>
        </p:txBody>
      </p:sp>
      <p:sp>
        <p:nvSpPr>
          <p:cNvPr id="7" name="Sloka card 2"/>
          <p:cNvSpPr/>
          <p:nvPr/>
        </p:nvSpPr>
        <p:spPr>
          <a:xfrm>
            <a:off x="365760" y="2330323"/>
            <a:ext cx="8412480" cy="389255"/>
          </a:xfrm>
          <a:prstGeom prst="roundRect">
            <a:avLst>
              <a:gd name="adj" fmla="val 18793"/>
            </a:avLst>
          </a:prstGeom>
          <a:solidFill>
            <a:srgbClr val="FFF4D6"/>
          </a:solidFill>
          <a:ln w="12700">
            <a:solidFill>
              <a:srgbClr val="EAD9C4"/>
            </a:solidFill>
            <a:prstDash val="solid"/>
          </a:ln>
        </p:spPr>
      </p:sp>
      <p:sp>
        <p:nvSpPr>
          <p:cNvPr id="8" name="Text 5"/>
          <p:cNvSpPr txBox="1"/>
          <p:nvPr/>
        </p:nvSpPr>
        <p:spPr>
          <a:xfrm>
            <a:off x="548640" y="2330323"/>
            <a:ext cx="3840480" cy="38925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Bharatasya deśaṃ Bhāratam</a:t>
            </a:r>
            <a:endParaRPr lang="en-US" sz="1300" dirty="0"/>
          </a:p>
        </p:txBody>
      </p:sp>
      <p:sp>
        <p:nvSpPr>
          <p:cNvPr id="9" name="Text 6"/>
          <p:cNvSpPr txBox="1"/>
          <p:nvPr/>
        </p:nvSpPr>
        <p:spPr>
          <a:xfrm>
            <a:off x="4572000" y="2330323"/>
            <a:ext cx="4069080" cy="389255"/>
          </a:xfrm>
          <a:prstGeom prst="rect">
            <a:avLst/>
          </a:prstGeom>
          <a:noFill/>
          <a:ln/>
        </p:spPr>
        <p:txBody>
          <a:bodyPr wrap="square" lIns="0" tIns="0" rIns="0" bIns="0" rtlCol="0" anchor="ctr"/>
          <a:lstStyle/>
          <a:p>
            <a:pPr indent="0" marL="0">
              <a:buNone/>
            </a:pPr>
            <a:r>
              <a:rPr lang="en-US" sz="1300" dirty="0">
                <a:solidFill>
                  <a:srgbClr val="2A2A2A"/>
                </a:solidFill>
              </a:rPr>
              <a:t>Bhārat (India) is the land of Bharata.</a:t>
            </a:r>
            <a:endParaRPr lang="en-US" sz="1300" dirty="0"/>
          </a:p>
        </p:txBody>
      </p:sp>
      <p:sp>
        <p:nvSpPr>
          <p:cNvPr id="10" name="Sloka card 3"/>
          <p:cNvSpPr/>
          <p:nvPr/>
        </p:nvSpPr>
        <p:spPr>
          <a:xfrm>
            <a:off x="365760" y="2829306"/>
            <a:ext cx="8412480" cy="802005"/>
          </a:xfrm>
          <a:prstGeom prst="roundRect">
            <a:avLst>
              <a:gd name="adj" fmla="val 9121"/>
            </a:avLst>
          </a:prstGeom>
          <a:solidFill>
            <a:srgbClr val="FFF4D6"/>
          </a:solidFill>
          <a:ln w="12700">
            <a:solidFill>
              <a:srgbClr val="EAD9C4"/>
            </a:solidFill>
            <a:prstDash val="solid"/>
          </a:ln>
        </p:spPr>
      </p:sp>
      <p:sp>
        <p:nvSpPr>
          <p:cNvPr id="11" name="Text 8"/>
          <p:cNvSpPr txBox="1"/>
          <p:nvPr/>
        </p:nvSpPr>
        <p:spPr>
          <a:xfrm>
            <a:off x="548640" y="2829306"/>
            <a:ext cx="3840480" cy="802005"/>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Drupada-Droṇa remarks</a:t>
            </a:r>
            <a:endParaRPr lang="en-US" sz="1300" dirty="0"/>
          </a:p>
        </p:txBody>
      </p:sp>
      <p:sp>
        <p:nvSpPr>
          <p:cNvPr id="12" name="Text 9"/>
          <p:cNvSpPr txBox="1"/>
          <p:nvPr/>
        </p:nvSpPr>
        <p:spPr>
          <a:xfrm>
            <a:off x="4572000" y="2829306"/>
            <a:ext cx="4069080" cy="802005"/>
          </a:xfrm>
          <a:prstGeom prst="rect">
            <a:avLst/>
          </a:prstGeom>
          <a:noFill/>
          <a:ln/>
        </p:spPr>
        <p:txBody>
          <a:bodyPr wrap="square" lIns="0" tIns="0" rIns="0" bIns="0" rtlCol="0" anchor="ctr"/>
          <a:lstStyle/>
          <a:p>
            <a:pPr indent="0" marL="0">
              <a:buNone/>
            </a:pPr>
            <a:r>
              <a:rPr lang="en-US" sz="1300" dirty="0">
                <a:solidFill>
                  <a:srgbClr val="2A2A2A"/>
                </a:solidFill>
              </a:rPr>
              <a:t>'Friendship can only be among equals' and 'Now we are equal'; shows how insult sparks vengeance.</a:t>
            </a:r>
            <a:endParaRPr lang="en-US" sz="1300" dirty="0"/>
          </a:p>
        </p:txBody>
      </p:sp>
      <p:sp>
        <p:nvSpPr>
          <p:cNvPr id="13" name="Sloka card 4"/>
          <p:cNvSpPr/>
          <p:nvPr/>
        </p:nvSpPr>
        <p:spPr>
          <a:xfrm>
            <a:off x="365760" y="3741039"/>
            <a:ext cx="8412480" cy="595630"/>
          </a:xfrm>
          <a:prstGeom prst="roundRect">
            <a:avLst>
              <a:gd name="adj" fmla="val 12281"/>
            </a:avLst>
          </a:prstGeom>
          <a:solidFill>
            <a:srgbClr val="FFF4D6"/>
          </a:solidFill>
          <a:ln w="12700">
            <a:solidFill>
              <a:srgbClr val="EAD9C4"/>
            </a:solidFill>
            <a:prstDash val="solid"/>
          </a:ln>
        </p:spPr>
      </p:sp>
      <p:sp>
        <p:nvSpPr>
          <p:cNvPr id="14" name="Text 11"/>
          <p:cNvSpPr txBox="1"/>
          <p:nvPr/>
        </p:nvSpPr>
        <p:spPr>
          <a:xfrm>
            <a:off x="548640" y="3741039"/>
            <a:ext cx="3840480" cy="595630"/>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Śalya's Crow and Swan story</a:t>
            </a:r>
            <a:endParaRPr lang="en-US" sz="1300" dirty="0"/>
          </a:p>
        </p:txBody>
      </p:sp>
      <p:sp>
        <p:nvSpPr>
          <p:cNvPr id="15" name="Text 12"/>
          <p:cNvSpPr txBox="1"/>
          <p:nvPr/>
        </p:nvSpPr>
        <p:spPr>
          <a:xfrm>
            <a:off x="4572000" y="3741039"/>
            <a:ext cx="4069080" cy="595630"/>
          </a:xfrm>
          <a:prstGeom prst="rect">
            <a:avLst/>
          </a:prstGeom>
          <a:noFill/>
          <a:ln/>
        </p:spPr>
        <p:txBody>
          <a:bodyPr wrap="square" lIns="0" tIns="0" rIns="0" bIns="0" rtlCol="0" anchor="ctr"/>
          <a:lstStyle/>
          <a:p>
            <a:pPr indent="0" marL="0">
              <a:buNone/>
            </a:pPr>
            <a:r>
              <a:rPr lang="en-US" sz="1300" dirty="0">
                <a:solidFill>
                  <a:srgbClr val="2A2A2A"/>
                </a:solidFill>
              </a:rPr>
              <a:t>Told to Karṇa to make him see his limitations.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18 Parvas at a glance (1/2)</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610991"/>
                <a:gridCol w="2094828"/>
                <a:gridCol w="570666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Parva</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content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Ādi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Origins: Bharata, Bhīṣma's vow, births of Pāṇḍavas and Kauravas, wax palace, svayaṃvara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Sabhā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Indraprastha, Rājasūya, dice game, Draupadī's dishonour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Āraṇya (Vana)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12 years of exile, divine weapons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Virāṭa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Year in disguise; Abhimanyu marries Virāṭa's daughter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Udyoga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Preparations; Kṛṣṇa's peace mission; Viśvarūpa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Bhīṣma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First 10 days; Bhagavadgītā; Bhīṣma falls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Droṇa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Days 11 onward; Abhimanyu, Ghaṭotkaca, Jayadratha, Droṇa fall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Karṇa commands; Śalya's advice; Karṇa-Arjuna duel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18 Parvas at a glance (2/2)</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610991"/>
                <a:gridCol w="2094828"/>
                <a:gridCol w="570666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Parva</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content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Śalya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Śalya dies; mace duel; Duryodhana falls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Sauptika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Aśvatthāmā's night massacre; Brahmaśira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Strī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Lamentations of the women; cremations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Śānti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Bhīṣma on rājadharma, āpaddharma, mokṣadharma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Anuśāsana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Rules of Dharma and Artha, charity, truth; Bhīṣma departs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Aśvamedhika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Aśvamedha, Parīkṣit's birth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Āśramavāsika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Dhṛtarāṣṭra, Gāndhārī, Vidura, Kuntī go to forest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Mausala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Yādavas destroy themselves; Kṛṣṇa and Balarāma depart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Mahāprasthānika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Pāṇḍavas' final journey; dog = Dharmadeva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Svargārohaṇa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Ascent to heaven; Vyāsa's final message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Birth of the Pāṇḍavas</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793104"/>
                <a:gridCol w="5619376"/>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Born from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Yudhiṣṭhira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Yama 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Bhīma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Vāyu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Indra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Nakula and Sahadeva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two Aśvinī Devas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Karṇa (earlier)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Sūrya, via Kuntī's test of the mantra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Order of the first 5 Parvas: Ādi, Sabhā, Āraṇya, Virāṭa, Udyoga ('A Strong Army Vows Unity').</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War Parvas: Bhīṣma, Droṇa, Karṇa, Śalya, Sauptika (fall of commanders in that order; Sauptika = sleeping camp).</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Pāṇḍava fathers: Yama (Yudhiṣṭhira), Vāyu (Bhīma), Indra (Arjuna), Aśvinīs (twins).</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13 = 12 + 1 for exile.</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Number sets: 100 and 18 Parvas; 101 parts; 5 Pāṇḍavas; 10 days of Bhīṣma; Day 11 for Droṇa.</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Two vows: Bhīṣma's celibacy (Pratijñā) and Bhīma's oath (chest of Duḥśāsana, thighs of Duryodhana).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AD1457"/>
            </a:solidFill>
            <a:prstDash val="solid"/>
          </a:ln>
        </p:spPr>
      </p:sp>
      <p:sp>
        <p:nvSpPr>
          <p:cNvPr id="5" name="Badge"/>
          <p:cNvSpPr/>
          <p:nvPr/>
        </p:nvSpPr>
        <p:spPr>
          <a:xfrm>
            <a:off x="475488" y="1115568"/>
            <a:ext cx="347472" cy="347472"/>
          </a:xfrm>
          <a:prstGeom prst="ellipse">
            <a:avLst/>
          </a:prstGeom>
          <a:solidFill>
            <a:srgbClr val="AD1457"/>
          </a:solidFill>
          <a:ln w="12700">
            <a:solidFill>
              <a:srgbClr val="AD1457"/>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Dog at the end = Dharmadeva testing Yudhiṣṭhira.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How is the Mahābhārata organised into Parvas and who narrates it?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What is the Bhīṣma Pratijñā and what did Devavrata gain?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Narrate the birth of Karṇa.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How were the Pāṇḍavas and Kauravas born?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Describe the Droṇa-Drupada episode and its consequences.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How did the Pāṇḍavas escape the wax palace?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Explain the events of the dice game.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What oath did Bhīma take?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What happened in Udyoga Parva?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What is the significance of Bhīṣma Parva?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(Q11 to Q15)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Q11.  Who died in Droṇa Parva?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Q12.  What advice did Śalya give Karṇa?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Q13.  Describe the Sauptika Parva.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Q14.  What did Bhīṣma teach in Śānti and Anuśāsana Parvas?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Q15.  What happens in Mausala and Mahāprasthānika Parvas?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(Q16 to Q16)</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Q16.  What is the final message of the Mahābhārata?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(1/4)</a:t>
            </a:r>
            <a:endParaRPr lang="en-US" sz="2600" dirty="0"/>
          </a:p>
        </p:txBody>
      </p:sp>
      <p:sp>
        <p:nvSpPr>
          <p:cNvPr id="4" name="Answer 1"/>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 How is the Mahābhārata organised into Parvas and who narrates it?</a:t>
            </a:r>
            <a:endParaRPr lang="en-US" sz="1200" dirty="0"/>
          </a:p>
          <a:p>
            <a:pPr indent="0" marL="0">
              <a:buNone/>
            </a:pPr>
            <a:r>
              <a:rPr lang="en-US" sz="1200" dirty="0">
                <a:solidFill>
                  <a:srgbClr val="2A2A2A"/>
                </a:solidFill>
              </a:rPr>
              <a:t>Vyāsa recited it in 100 Parvas. Vaiśampāyana narrated it to Janamejaya at the Sarpa Satra; Ugraśravas retold it at Naimiṣāraṇya in 18 main Parvas, the first being Ādi Parva.</a:t>
            </a:r>
            <a:endParaRPr lang="en-US" sz="1200" dirty="0"/>
          </a:p>
        </p:txBody>
      </p:sp>
      <p:sp>
        <p:nvSpPr>
          <p:cNvPr id="6" name="Answer 2"/>
          <p:cNvSpPr/>
          <p:nvPr/>
        </p:nvSpPr>
        <p:spPr>
          <a:xfrm>
            <a:off x="365760" y="17510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What is the Bhīṣma Pratijñā and what did Devavrata gain?</a:t>
            </a:r>
            <a:endParaRPr lang="en-US" sz="1200" dirty="0"/>
          </a:p>
          <a:p>
            <a:pPr indent="0" marL="0">
              <a:buNone/>
            </a:pPr>
            <a:r>
              <a:rPr lang="en-US" sz="1200" dirty="0">
                <a:solidFill>
                  <a:srgbClr val="2A2A2A"/>
                </a:solidFill>
              </a:rPr>
              <a:t>His terrible vow to remain celibate for life, so that Śantanu could marry Satyavatī. He was named Bhīṣma and blessed with the boon to die only when he wished.</a:t>
            </a:r>
            <a:endParaRPr lang="en-US" sz="1200" dirty="0"/>
          </a:p>
        </p:txBody>
      </p:sp>
      <p:sp>
        <p:nvSpPr>
          <p:cNvPr id="8" name="Answer 3"/>
          <p:cNvSpPr/>
          <p:nvPr/>
        </p:nvSpPr>
        <p:spPr>
          <a:xfrm>
            <a:off x="365760" y="25146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Narrate the birth of Karṇa.</a:t>
            </a:r>
            <a:endParaRPr lang="en-US" sz="1200" dirty="0"/>
          </a:p>
          <a:p>
            <a:pPr indent="0" marL="0">
              <a:buNone/>
            </a:pPr>
            <a:r>
              <a:rPr lang="en-US" sz="1200" dirty="0">
                <a:solidFill>
                  <a:srgbClr val="2A2A2A"/>
                </a:solidFill>
              </a:rPr>
              <a:t>Kuntī tested Durvāsā's mantra by invoking Sūrya and bore Karṇa, born with divine armour and earrings. Fearing for being unwed, she floated him in a box; a childless charioteer raised him.</a:t>
            </a:r>
            <a:endParaRPr lang="en-US" sz="1200" dirty="0"/>
          </a:p>
        </p:txBody>
      </p:sp>
      <p:sp>
        <p:nvSpPr>
          <p:cNvPr id="10" name="Answer 4"/>
          <p:cNvSpPr/>
          <p:nvPr/>
        </p:nvSpPr>
        <p:spPr>
          <a:xfrm>
            <a:off x="365760" y="3278124"/>
            <a:ext cx="8412480" cy="890016"/>
          </a:xfrm>
          <a:prstGeom prst="roundRect">
            <a:avLst>
              <a:gd name="adj" fmla="val 6164"/>
            </a:avLst>
          </a:prstGeom>
          <a:solidFill>
            <a:srgbClr val="FFF4D6"/>
          </a:solidFill>
          <a:ln w="9525">
            <a:solidFill>
              <a:srgbClr val="EAD9C4"/>
            </a:solidFill>
            <a:prstDash val="solid"/>
          </a:ln>
        </p:spPr>
      </p:sp>
      <p:sp>
        <p:nvSpPr>
          <p:cNvPr id="11" name="Text 8"/>
          <p:cNvSpPr txBox="1"/>
          <p:nvPr/>
        </p:nvSpPr>
        <p:spPr>
          <a:xfrm>
            <a:off x="457200" y="3278124"/>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Q4. How were the Pāṇḍavas and Kauravas born?</a:t>
            </a:r>
            <a:endParaRPr lang="en-US" sz="1200" dirty="0"/>
          </a:p>
          <a:p>
            <a:pPr indent="0" marL="0">
              <a:buNone/>
            </a:pPr>
            <a:r>
              <a:rPr lang="en-US" sz="1200" dirty="0">
                <a:solidFill>
                  <a:srgbClr val="2A2A2A"/>
                </a:solidFill>
              </a:rPr>
              <a:t>Pāṇḍavas by Kuntī and Mādrī through the mantra: Yudhiṣṭhira (Yama), Bhīma (Vāyu), Arjuna (Indra), Nakula-Sahadeva (Aśvinīs). Kauravas: Gāndhārī delivered a lump of flesh; Vyāsa divided it into 101 parts kept in pots, giving 100 sons and a daughter; Duryodhana was eldest.</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(2/4)</a:t>
            </a:r>
            <a:endParaRPr lang="en-US" sz="2600" dirty="0"/>
          </a:p>
        </p:txBody>
      </p:sp>
      <p:sp>
        <p:nvSpPr>
          <p:cNvPr id="4" name="Answer 5"/>
          <p:cNvSpPr/>
          <p:nvPr/>
        </p:nvSpPr>
        <p:spPr>
          <a:xfrm>
            <a:off x="365760" y="987552"/>
            <a:ext cx="8412480" cy="890016"/>
          </a:xfrm>
          <a:prstGeom prst="roundRect">
            <a:avLst>
              <a:gd name="adj" fmla="val 6164"/>
            </a:avLst>
          </a:prstGeom>
          <a:solidFill>
            <a:srgbClr val="FFFFFF"/>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Q5. Describe the Droṇa-Drupada episode and its consequences.</a:t>
            </a:r>
            <a:endParaRPr lang="en-US" sz="1200" dirty="0"/>
          </a:p>
          <a:p>
            <a:pPr indent="0" marL="0">
              <a:buNone/>
            </a:pPr>
            <a:r>
              <a:rPr lang="en-US" sz="1200" dirty="0">
                <a:solidFill>
                  <a:srgbClr val="2A2A2A"/>
                </a:solidFill>
              </a:rPr>
              <a:t>Drupada insulted poor Droṇa. Droṇa, teaching the princes, asked for Drupada's capture as gurudakṣiṇā; the Pāṇḍavas succeeded. Droṇa returned half the kingdom ('now we are equal'). Drupada's revenge sacrifice produced Dhṛṣṭadyumna and Draupadī.</a:t>
            </a:r>
            <a:endParaRPr lang="en-US" sz="1200" dirty="0"/>
          </a:p>
        </p:txBody>
      </p:sp>
      <p:sp>
        <p:nvSpPr>
          <p:cNvPr id="6" name="Answer 6"/>
          <p:cNvSpPr/>
          <p:nvPr/>
        </p:nvSpPr>
        <p:spPr>
          <a:xfrm>
            <a:off x="365760" y="19415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How did the Pāṇḍavas escape the wax palace?</a:t>
            </a:r>
            <a:endParaRPr lang="en-US" sz="1200" dirty="0"/>
          </a:p>
          <a:p>
            <a:pPr indent="0" marL="0">
              <a:buNone/>
            </a:pPr>
            <a:r>
              <a:rPr lang="en-US" sz="1200" dirty="0">
                <a:solidFill>
                  <a:srgbClr val="2A2A2A"/>
                </a:solidFill>
              </a:rPr>
              <a:t>Vidura warned them in time; they escaped through a hidden tunnel and everyone believed they had died.</a:t>
            </a:r>
            <a:endParaRPr lang="en-US" sz="1200" dirty="0"/>
          </a:p>
        </p:txBody>
      </p:sp>
      <p:sp>
        <p:nvSpPr>
          <p:cNvPr id="8" name="Answer 7"/>
          <p:cNvSpPr/>
          <p:nvPr/>
        </p:nvSpPr>
        <p:spPr>
          <a:xfrm>
            <a:off x="365760" y="2705100"/>
            <a:ext cx="8412480" cy="890016"/>
          </a:xfrm>
          <a:prstGeom prst="roundRect">
            <a:avLst>
              <a:gd name="adj" fmla="val 6164"/>
            </a:avLst>
          </a:prstGeom>
          <a:solidFill>
            <a:srgbClr val="FFFFFF"/>
          </a:solidFill>
          <a:ln w="9525">
            <a:solidFill>
              <a:srgbClr val="EAD9C4"/>
            </a:solidFill>
            <a:prstDash val="solid"/>
          </a:ln>
        </p:spPr>
      </p:sp>
      <p:sp>
        <p:nvSpPr>
          <p:cNvPr id="9" name="Text 6"/>
          <p:cNvSpPr txBox="1"/>
          <p:nvPr/>
        </p:nvSpPr>
        <p:spPr>
          <a:xfrm>
            <a:off x="457200" y="27051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Q7. Explain the events of the dice game.</a:t>
            </a:r>
            <a:endParaRPr lang="en-US" sz="1200" dirty="0"/>
          </a:p>
          <a:p>
            <a:pPr indent="0" marL="0">
              <a:buNone/>
            </a:pPr>
            <a:r>
              <a:rPr lang="en-US" sz="1200" dirty="0">
                <a:solidFill>
                  <a:srgbClr val="2A2A2A"/>
                </a:solidFill>
              </a:rPr>
              <a:t>Yudhiṣṭhira lost everything to Śakuni's deceit, including his brothers, himself and Draupadī. Duḥśāsana dragged Draupadī in; she surrendered to Kṛṣṇa, who saved her honour. Dhṛtarāṣṭra freed them, but a second game imposed 12 years of exile and 1 year in disguise.</a:t>
            </a:r>
            <a:endParaRPr lang="en-US" sz="1200" dirty="0"/>
          </a:p>
        </p:txBody>
      </p:sp>
      <p:sp>
        <p:nvSpPr>
          <p:cNvPr id="10" name="Answer 8"/>
          <p:cNvSpPr/>
          <p:nvPr/>
        </p:nvSpPr>
        <p:spPr>
          <a:xfrm>
            <a:off x="365760" y="3659124"/>
            <a:ext cx="8412480" cy="509016"/>
          </a:xfrm>
          <a:prstGeom prst="roundRect">
            <a:avLst>
              <a:gd name="adj" fmla="val 10778"/>
            </a:avLst>
          </a:prstGeom>
          <a:solidFill>
            <a:srgbClr val="FFFFFF"/>
          </a:solidFill>
          <a:ln w="9525">
            <a:solidFill>
              <a:srgbClr val="EAD9C4"/>
            </a:solidFill>
            <a:prstDash val="solid"/>
          </a:ln>
        </p:spPr>
      </p:sp>
      <p:sp>
        <p:nvSpPr>
          <p:cNvPr id="11" name="Text 8"/>
          <p:cNvSpPr txBox="1"/>
          <p:nvPr/>
        </p:nvSpPr>
        <p:spPr>
          <a:xfrm>
            <a:off x="457200" y="3659124"/>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Q8. What oath did Bhīma take?</a:t>
            </a:r>
            <a:endParaRPr lang="en-US" sz="1200" dirty="0"/>
          </a:p>
          <a:p>
            <a:pPr indent="0" marL="0">
              <a:buNone/>
            </a:pPr>
            <a:r>
              <a:rPr lang="en-US" sz="1200" dirty="0">
                <a:solidFill>
                  <a:srgbClr val="2A2A2A"/>
                </a:solidFill>
              </a:rPr>
              <a:t>To pierce Duḥśāsana's chest and break Duryodhana's thighs.</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(3/4)</a:t>
            </a:r>
            <a:endParaRPr lang="en-US" sz="2600" dirty="0"/>
          </a:p>
        </p:txBody>
      </p:sp>
      <p:sp>
        <p:nvSpPr>
          <p:cNvPr id="4" name="Answer 9"/>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Q9. What happened in Udyoga Parva?</a:t>
            </a:r>
            <a:endParaRPr lang="en-US" sz="1200" dirty="0"/>
          </a:p>
          <a:p>
            <a:pPr indent="0" marL="0">
              <a:buNone/>
            </a:pPr>
            <a:r>
              <a:rPr lang="en-US" sz="1200" dirty="0">
                <a:solidFill>
                  <a:srgbClr val="2A2A2A"/>
                </a:solidFill>
              </a:rPr>
              <a:t>Kṛṣṇa's peace mission failed; Duryodhana refused even a pinch of land and tried to capture Kṛṣṇa, who showed the Viśvarūpa. Kṛṣṇa's army sided with the Kauravas; unarmed Kṛṣṇa became Arjuna's charioteer.</a:t>
            </a:r>
            <a:endParaRPr lang="en-US" sz="1200" dirty="0"/>
          </a:p>
        </p:txBody>
      </p:sp>
      <p:sp>
        <p:nvSpPr>
          <p:cNvPr id="6" name="Answer 10"/>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What is the significance of Bhīṣma Parva?</a:t>
            </a:r>
            <a:endParaRPr lang="en-US" sz="1200" dirty="0"/>
          </a:p>
          <a:p>
            <a:pPr indent="0" marL="0">
              <a:buNone/>
            </a:pPr>
            <a:r>
              <a:rPr lang="en-US" sz="1200" dirty="0">
                <a:solidFill>
                  <a:srgbClr val="2A2A2A"/>
                </a:solidFill>
              </a:rPr>
              <a:t>It covers the first ten days until Bhīṣma's fall, narrated by Saṃjaya, and contains the Bhagavadgītā, born from Arjuna's dilemma of attachment.</a:t>
            </a:r>
            <a:endParaRPr lang="en-US" sz="1200" dirty="0"/>
          </a:p>
        </p:txBody>
      </p:sp>
      <p:sp>
        <p:nvSpPr>
          <p:cNvPr id="8" name="Answer 11"/>
          <p:cNvSpPr/>
          <p:nvPr/>
        </p:nvSpPr>
        <p:spPr>
          <a:xfrm>
            <a:off x="365760" y="2705100"/>
            <a:ext cx="8412480" cy="509016"/>
          </a:xfrm>
          <a:prstGeom prst="roundRect">
            <a:avLst>
              <a:gd name="adj" fmla="val 10778"/>
            </a:avLst>
          </a:prstGeom>
          <a:solidFill>
            <a:srgbClr val="FFF4D6"/>
          </a:solidFill>
          <a:ln w="9525">
            <a:solidFill>
              <a:srgbClr val="EAD9C4"/>
            </a:solidFill>
            <a:prstDash val="solid"/>
          </a:ln>
        </p:spPr>
      </p:sp>
      <p:sp>
        <p:nvSpPr>
          <p:cNvPr id="9" name="Text 6"/>
          <p:cNvSpPr txBox="1"/>
          <p:nvPr/>
        </p:nvSpPr>
        <p:spPr>
          <a:xfrm>
            <a:off x="457200" y="2705100"/>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Q11. Who died in Droṇa Parva?</a:t>
            </a:r>
            <a:endParaRPr lang="en-US" sz="1200" dirty="0"/>
          </a:p>
          <a:p>
            <a:pPr indent="0" marL="0">
              <a:buNone/>
            </a:pPr>
            <a:r>
              <a:rPr lang="en-US" sz="1200" dirty="0">
                <a:solidFill>
                  <a:srgbClr val="2A2A2A"/>
                </a:solidFill>
              </a:rPr>
              <a:t>Abhimanyu, Drupada, Ghaṭotkaca, Droṇa, Jayadratha and others.</a:t>
            </a:r>
            <a:endParaRPr lang="en-US" sz="1200" dirty="0"/>
          </a:p>
        </p:txBody>
      </p:sp>
      <p:sp>
        <p:nvSpPr>
          <p:cNvPr id="10" name="Answer 12"/>
          <p:cNvSpPr/>
          <p:nvPr/>
        </p:nvSpPr>
        <p:spPr>
          <a:xfrm>
            <a:off x="365760" y="3278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Q12. What advice did Śalya give Karṇa?</a:t>
            </a:r>
            <a:endParaRPr lang="en-US" sz="1200" dirty="0"/>
          </a:p>
          <a:p>
            <a:pPr indent="0" marL="0">
              <a:buNone/>
            </a:pPr>
            <a:r>
              <a:rPr lang="en-US" sz="1200" dirty="0">
                <a:solidFill>
                  <a:srgbClr val="2A2A2A"/>
                </a:solidFill>
              </a:rPr>
              <a:t>He rebuked Karṇa's adamancy and told him the story of the Crow and the Swan to show his limitations; Karṇa ignored it and was killed by Arjuna with Kṛṣṇa's help.</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(4/4)</a:t>
            </a:r>
            <a:endParaRPr lang="en-US" sz="2600" dirty="0"/>
          </a:p>
        </p:txBody>
      </p:sp>
      <p:sp>
        <p:nvSpPr>
          <p:cNvPr id="4" name="Answer 13"/>
          <p:cNvSpPr/>
          <p:nvPr/>
        </p:nvSpPr>
        <p:spPr>
          <a:xfrm>
            <a:off x="365760" y="987552"/>
            <a:ext cx="8412480" cy="890016"/>
          </a:xfrm>
          <a:prstGeom prst="roundRect">
            <a:avLst>
              <a:gd name="adj" fmla="val 6164"/>
            </a:avLst>
          </a:prstGeom>
          <a:solidFill>
            <a:srgbClr val="FFFFFF"/>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Q13. Describe the Sauptika Parva.</a:t>
            </a:r>
            <a:endParaRPr lang="en-US" sz="1200" dirty="0"/>
          </a:p>
          <a:p>
            <a:pPr indent="0" marL="0">
              <a:buNone/>
            </a:pPr>
            <a:r>
              <a:rPr lang="en-US" sz="1200" dirty="0">
                <a:solidFill>
                  <a:srgbClr val="2A2A2A"/>
                </a:solidFill>
              </a:rPr>
              <a:t>Aśvatthāmā, with Kṛtavarmā and Kṛpa, killed Dhṛṣṭadyumna and the Pāṇḍavas' sons at night. The Brahmaśira duel followed; Arjuna withdrew his weapon, Aśvatthāmā redirected his to Uttarā's womb; Kṛṣṇa revived the child and cursed Aśvatthāmā with Vyāsa.</a:t>
            </a:r>
            <a:endParaRPr lang="en-US" sz="1200" dirty="0"/>
          </a:p>
        </p:txBody>
      </p:sp>
      <p:sp>
        <p:nvSpPr>
          <p:cNvPr id="6" name="Answer 14"/>
          <p:cNvSpPr/>
          <p:nvPr/>
        </p:nvSpPr>
        <p:spPr>
          <a:xfrm>
            <a:off x="365760" y="19415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Q14. What did Bhīṣma teach in Śānti and Anuśāsana Parvas?</a:t>
            </a:r>
            <a:endParaRPr lang="en-US" sz="1200" dirty="0"/>
          </a:p>
          <a:p>
            <a:pPr indent="0" marL="0">
              <a:buNone/>
            </a:pPr>
            <a:r>
              <a:rPr lang="en-US" sz="1200" dirty="0">
                <a:solidFill>
                  <a:srgbClr val="2A2A2A"/>
                </a:solidFill>
              </a:rPr>
              <a:t>Rājadharma (duties of a dharmic king), āpaddharma (norms in emergencies), mokṣadharma (path to salvation), then rules of Dharma and Artha, charity, conduct and the supremacy of truth.</a:t>
            </a:r>
            <a:endParaRPr lang="en-US" sz="1200" dirty="0"/>
          </a:p>
        </p:txBody>
      </p:sp>
      <p:sp>
        <p:nvSpPr>
          <p:cNvPr id="8" name="Answer 15"/>
          <p:cNvSpPr/>
          <p:nvPr/>
        </p:nvSpPr>
        <p:spPr>
          <a:xfrm>
            <a:off x="365760" y="2705100"/>
            <a:ext cx="8412480" cy="890016"/>
          </a:xfrm>
          <a:prstGeom prst="roundRect">
            <a:avLst>
              <a:gd name="adj" fmla="val 6164"/>
            </a:avLst>
          </a:prstGeom>
          <a:solidFill>
            <a:srgbClr val="FFFFFF"/>
          </a:solidFill>
          <a:ln w="9525">
            <a:solidFill>
              <a:srgbClr val="EAD9C4"/>
            </a:solidFill>
            <a:prstDash val="solid"/>
          </a:ln>
        </p:spPr>
      </p:sp>
      <p:sp>
        <p:nvSpPr>
          <p:cNvPr id="9" name="Text 6"/>
          <p:cNvSpPr txBox="1"/>
          <p:nvPr/>
        </p:nvSpPr>
        <p:spPr>
          <a:xfrm>
            <a:off x="457200" y="27051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Q15. What happens in Mausala and Mahāprasthānika Parvas?</a:t>
            </a:r>
            <a:endParaRPr lang="en-US" sz="1200" dirty="0"/>
          </a:p>
          <a:p>
            <a:pPr indent="0" marL="0">
              <a:buNone/>
            </a:pPr>
            <a:r>
              <a:rPr lang="en-US" sz="1200" dirty="0">
                <a:solidFill>
                  <a:srgbClr val="2A2A2A"/>
                </a:solidFill>
              </a:rPr>
              <a:t>Cursed Yādavas kill each other with clubs from grass; Balarāma and Kṛṣṇa depart; Arjuna loses his powers. Then the Pāṇḍavas go to the Himālayas and fall one by one; Dharmadeva appears as a dog; Yudhiṣṭhira ascends bodily.</a:t>
            </a:r>
            <a:endParaRPr lang="en-US" sz="1200" dirty="0"/>
          </a:p>
        </p:txBody>
      </p:sp>
      <p:sp>
        <p:nvSpPr>
          <p:cNvPr id="10" name="Answer 16"/>
          <p:cNvSpPr/>
          <p:nvPr/>
        </p:nvSpPr>
        <p:spPr>
          <a:xfrm>
            <a:off x="365760" y="36591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659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Q16. What is the final message of the Mahābhārata?</a:t>
            </a:r>
            <a:endParaRPr lang="en-US" sz="1200" dirty="0"/>
          </a:p>
          <a:p>
            <a:pPr indent="0" marL="0">
              <a:buNone/>
            </a:pPr>
            <a:r>
              <a:rPr lang="en-US" sz="1200" dirty="0">
                <a:solidFill>
                  <a:srgbClr val="2A2A2A"/>
                </a:solidFill>
              </a:rPr>
              <a:t>Dharma is eternal and must not be abandoned for kāma, fear, greed or life; artha and kāma follow from Dharma; pleasures and pains are transient, the Ātman is eternal.</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Parvas in 18-classification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18.</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Who revived Parīkṣit?</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Kṛṣṇa.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Who is the dog in the last journey?</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Dharmadeva.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Which Parva contains the Gītā?</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Bhīṣma Parva.</a:t>
            </a:r>
            <a:endParaRPr lang="en-US" sz="1300" dirty="0"/>
          </a:p>
        </p:txBody>
      </p:sp>
      <p:sp>
        <p:nvSpPr>
          <p:cNvPr id="16" name="Recall 5"/>
          <p:cNvSpPr/>
          <p:nvPr/>
        </p:nvSpPr>
        <p:spPr>
          <a:xfrm>
            <a:off x="365760" y="3383280"/>
            <a:ext cx="4114800" cy="1051560"/>
          </a:xfrm>
          <a:prstGeom prst="roundRect">
            <a:avLst>
              <a:gd name="adj" fmla="val 8696"/>
            </a:avLst>
          </a:prstGeom>
          <a:solidFill>
            <a:srgbClr val="FFFFFF"/>
          </a:solidFill>
          <a:ln w="25400">
            <a:solidFill>
              <a:srgbClr val="1565C0"/>
            </a:solidFill>
            <a:prstDash val="solid"/>
          </a:ln>
          <a:effectLst>
            <a:outerShdw sx="100000" sy="100000" kx="0" ky="0" algn="bl" rotWithShape="0" blurRad="63500" dist="25400" dir="5400000">
              <a:srgbClr val="000000">
                <a:alpha val="12000"/>
              </a:srgbClr>
            </a:outerShdw>
          </a:effectLst>
        </p:spPr>
      </p:sp>
      <p:sp>
        <p:nvSpPr>
          <p:cNvPr id="17" name="Text 14"/>
          <p:cNvSpPr txBox="1"/>
          <p:nvPr/>
        </p:nvSpPr>
        <p:spPr>
          <a:xfrm>
            <a:off x="502920" y="3438144"/>
            <a:ext cx="3840480" cy="502920"/>
          </a:xfrm>
          <a:prstGeom prst="rect">
            <a:avLst/>
          </a:prstGeom>
          <a:noFill/>
          <a:ln/>
        </p:spPr>
        <p:txBody>
          <a:bodyPr wrap="square" lIns="0" tIns="0" rIns="0" bIns="0" rtlCol="0" anchor="ctr"/>
          <a:lstStyle/>
          <a:p>
            <a:pPr indent="0" marL="0">
              <a:buNone/>
            </a:pPr>
            <a:r>
              <a:rPr lang="en-US" sz="1400" b="1" dirty="0">
                <a:solidFill>
                  <a:srgbClr val="1565C0"/>
                </a:solidFill>
              </a:rPr>
              <a:t>Which Parva is named for a pestle?</a:t>
            </a:r>
            <a:endParaRPr lang="en-US" sz="1400" dirty="0"/>
          </a:p>
        </p:txBody>
      </p:sp>
      <p:sp>
        <p:nvSpPr>
          <p:cNvPr id="18" name="Text 15"/>
          <p:cNvSpPr txBox="1"/>
          <p:nvPr/>
        </p:nvSpPr>
        <p:spPr>
          <a:xfrm>
            <a:off x="502920" y="3950208"/>
            <a:ext cx="3840480" cy="438912"/>
          </a:xfrm>
          <a:prstGeom prst="rect">
            <a:avLst/>
          </a:prstGeom>
          <a:noFill/>
          <a:ln/>
        </p:spPr>
        <p:txBody>
          <a:bodyPr wrap="square" lIns="0" tIns="0" rIns="0" bIns="0" rtlCol="0" anchor="ctr"/>
          <a:lstStyle/>
          <a:p>
            <a:pPr indent="0" marL="0">
              <a:buNone/>
            </a:pPr>
            <a:r>
              <a:rPr lang="en-US" sz="1300" dirty="0">
                <a:solidFill>
                  <a:srgbClr val="2A2A2A"/>
                </a:solidFill>
              </a:rPr>
              <a:t>Mausala.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Vyāsa recited it in 100 Parvas; Ugraśravas classified it into 18 Parvas (first = Ādi Parva).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Main narrative frame: Vaiśampāyana to Janamejaya at the Sarpa Satra; retold by Ugraśravas at Naimiṣāraṇya.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Turning points: Bhīṣma Pratijñā, Karṇa's birth, wax palace, Draupadī svayaṃvara, dice games, Draupadī's dishonour, 13-year exile, Kṛṣṇa's peace mission, Gītā, 18-day war, Sauptika night massacre, Mausala, Mahāprasthāna.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Closing message (Svargārohaṇa Parva): Dharma is eternal; do not give it up for kāma, fear, greed or even life.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summary skips Jarāsandha Vadha, Urvaśī's curse, Śikhaṇḍī, Śiśupāla Vadha, Yakṣa Praśna, Kīcaka Vadha, Vyādha Gītā and more.</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Mahābhārata: A Brief Summary</dc:title>
  <dc:subject>PptxGenJS Presentation</dc:subject>
  <dc:creator>ADM Teaching Deck</dc:creator>
  <cp:lastModifiedBy>ADM Teaching Deck</cp:lastModifiedBy>
  <cp:revision>1</cp:revision>
  <dcterms:created xsi:type="dcterms:W3CDTF">2026-10-04T11:54:21Z</dcterms:created>
  <dcterms:modified xsi:type="dcterms:W3CDTF">2026-10-04T11:54:21Z</dcterms:modified>
</cp:coreProperties>
</file>