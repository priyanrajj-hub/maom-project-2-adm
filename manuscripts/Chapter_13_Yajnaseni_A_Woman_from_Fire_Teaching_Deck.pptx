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b0169b3-e584-bc34-39e7-8cad297955ce}">
          <p14:sldIdLst>
            <p14:sldId id="256"/>
            <p14:sldId id="257"/>
            <p14:sldId id="258"/>
            <p14:sldId id="259"/>
          </p14:sldIdLst>
        </p14:section>
        <p14:section name="Lesson" id="{ebcc1386-a077-190a-6afa-ed29842bb0a5}">
          <p14:sldIdLst>
            <p14:sldId id="260"/>
            <p14:sldId id="261"/>
            <p14:sldId id="262"/>
            <p14:sldId id="263"/>
            <p14:sldId id="264"/>
            <p14:sldId id="265"/>
          </p14:sldIdLst>
        </p14:section>
        <p14:section name="Key facts" id="{e952b0d9-1711-960b-b260-ccf3e8275bee}">
          <p14:sldIdLst>
            <p14:sldId id="266"/>
            <p14:sldId id="267"/>
            <p14:sldId id="268"/>
            <p14:sldId id="269"/>
            <p14:sldId id="270"/>
            <p14:sldId id="271"/>
            <p14:sldId id="272"/>
          </p14:sldIdLst>
        </p14:section>
        <p14:section name="Review" id="{164dc54b-59f4-68ef-7de3-3ee9189593ce}">
          <p14:sldIdLst>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chapter says that without external opportunity and security, self-confidence is the key that lets women excel in politics, arts, business, law, order and defence. Amma says that, though outlooks and activities differ by time, place and culture, courageous women have lived in every age and broken out of imposed cages; she names Rani Padmini, Hathi Rani, Mirabai and Jhansi Rani as icons of valour and purity, to be remembered constantly so that the infinite potential in women sinks into minds.
The tradition of remembering heroines is expressed in the verse 'ahalyā draupadī kuntī tārā mandodarī tathā, pañca-kanyā smared nityaṃ mahā-pātaka-nāśanam': remembering these five women every morning before dawn removes great sins. Draupadī is pratah-smaraṇīyā. In Āraṇya Parva, Satyabhāmā asks how she keeps the mighty Pāṇḍavas in check; Draupadī describes her routine, household work, responsibilities and virtues: she manages thousands of servants and knows each one's name, work and clothing, and every detail of the king's revenue and expenditure. She served each Pāṇḍava as Nārada advised: at Khāṇḍavaprastha Nārada had told them that Draupadī should live with one husband per fixed period, and when she is with one, she dedicates herself fully to him without even thinking of others. Thus she treated all equally and upheld pativratyam (chaste devotion to husband).
The chapter addresses the misconception about her polyandry. Karṇa insulted her in the dice game, calling her a vesyā unworthy of a queen's dharma because she had five husbands. The book replies that Draupadī upheld pativratyam as per Nārada's advice; that Karṇa overlooked that she did not choose five husbands; it was niyoga, destiny and divine will. In a previous birth she had no husband, meditated on Parameśvara, and when offered a boon asked for a husband with all qualities; she repeated it five times out of overflowing desire, so she received five worthy husbands. If Karṇa were right, she would have left the Pāṇḍavas after they lost her and joined Duryodhana; instead she held to a devoted wife's Dharma, did not abandon them for their deeds, and saved them.
Management and work-life balance: today people chasing success mismanage home life; Draupadī, amid queenly duties, never failed her responsibilities as a life partner to five husbands. Vipatti-dhairya (courage in crisis) is a hard but essential life skill: after trauma (abuse, theft, robbery, life-threatening events) we are often dejected, fearful, unable to think. Draupadī faced such things repeatedly and neither fell into depression nor held grudges against God or life. When Jayadratha abducted her from the Kāmyaka forest, she warned him of her husbands' strength and told him to release her and beg forgiveness. With Kīcaka in Virāṭa's palace she faced him alone; even Queen Sudeṣṇā, whom she served, sided with Kīcaka and sent her to his quarters; when he tried force, she escaped, found no protection, and persuaded Bhīma to kill him. In the dice game she lamented in the court when none answered but kept composure, addressed the court, and finally rescued her husbands.
Amma: 'Women are not weak. Natural compassion and sympathy have often been misinterpreted as weakness.' Her story of the eagle that thought it was a chicken: a baby eagle raised among chicks foraged for worms until another eagle showed it its reflection in a lake and said it was an eagle; then it soared. Amma: the sky is the eagle's birthright; women have the potential to soar, but must prepare through steady effort and eliminate the thought that they are powerless. Draupadī is a role model of self-growth: at her most desperate in the Kaurava court she closed her eyes and prayed to Kṛṣṇa, and he rescued her. She also had vast knowledge of Dharma and the Śāstras: when the Pāṇḍavas left for the forest, Vidura (Dharmadeva born) said to Yudhiṣṭhira, 'Draupadī is dharmārtha-kuśalā dharmacāriṇī', skilled in Dharma and Artha.
Her life teaches men too: how men should and should not be, the shamelessness and lack of morals of those who misbehave with women and their end. A progressive society is one where women are safe, free and flourishing, and all of us have a role. Hence let us invoke her memory every morning and through her embrace Mahābhārata to fulfil life's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Draupadī as an inspiration (pratah-smaraṇīyā): an able manager of home and state, steady in her pativratyam, courageous in crisis (vipatti-dhairya), devoted to Kṛṣṇa and learned in Dharma and Artha; Amma's message on women's potential.
Full chapter summary:
The chapter says that without external opportunity and security, self-confidence is the key that lets women excel in politics, arts, business, law, order and defence. Amma says that, though outlooks and activities differ by time, place and culture, courageous women have lived in every age and broken out of imposed cages; she names Rani Padmini, Hathi Rani, Mirabai and Jhansi Rani as icons of valour and purity, to be remembered constantly so that the infinite potential in women sinks into minds.
The tradition of remembering heroines is expressed in the verse 'ahalyā draupadī kuntī tārā mandodarī tathā, pañca-kanyā smared nityaṃ mahā-pātaka-nāśanam': remembering these five women every morning before dawn removes great sins. Draupadī is pratah-smaraṇīyā. In Āraṇya Parva, Satyabhāmā asks how she keeps the mighty Pāṇḍavas in check; Draupadī describes her routine, household work, responsibilities and virtues: she manages thousands of servants and knows each one's name, work and clothing, and every detail of the king's revenue and expenditure. She served each Pāṇḍava as Nārada advised: at Khāṇḍavaprastha Nārada had told them that Draupadī should live with one husband per fixed period, and when she is with one, she dedicates herself fully to him without even thinking of others. Thus she treated all equally and upheld pativratyam (chaste devotion to husband).
The chapter addresses the misconception about her polyandry. Karṇa insulted her in the dice game, calling her a vesyā unworthy of a queen's dharma because she had five husbands. The book replies that Draupadī upheld pativratyam as per Nārada's advice; that Karṇa overlooked that she did not choose five husbands; it was niyoga, destiny and divine will. In a previous birth she had no husband, meditated on Parameśvara, and when offered a boon asked for a husband with all qualities; she repeated it five times out of overflowing desire, so she received five worthy husbands. If Karṇa were right, she would have left the Pāṇḍavas after they lost her and joined Duryodhana; instead she held to a devoted wife's Dharma, did not abandon them for their deeds, and saved them.
Management and work-life balance: today people chasing success mismanage home life; Draupadī, amid queenly duties, never failed her responsibilities as a life partner to five husbands. Vipatti-dhairya (courage in crisis) is a hard but essential life skill: after trauma (abuse, theft, robbery, life-threatening events) we are often dejected, fearful, unable to think. Draupadī faced such things repeatedly and neither fell into depression nor held grudges against God or life. When Jayadratha abducted her from the Kāmyaka forest, she warned him of her husbands' strength and told him to release her and beg forgiveness. With Kīcaka in Virāṭa's palace she faced him alone; even Queen Sudeṣṇā, whom she served, sided with Kīcaka and sent her to his quarters; when he tried force, she escaped, found no protection, and persuaded Bhīma to kill him. In the dice game she lamented in the court when none answered but kept composure, addressed the court, and finally rescued her husbands.
Amma: 'Women are not weak. Natural compassion and sympathy have often been misinterpreted as weakness.' Her story of the eagle that thought it was a chicken: a baby eagle raised among chicks foraged for worms until another eagle showed it its reflection in a lake and said it was an eagle; then it soared. Amma: the sky is the eagle's birthright; women have the potential to soar, but must prepare through steady effort and eliminate the thought that they are powerless. Draupadī is a role model of self-growth: at her most desperate in the Kaurava court she closed her eyes and prayed to Kṛṣṇa, and he rescued her. She also had vast knowledge of Dharma and the Śāstras: when the Pāṇḍavas left for the forest, Vidura (Dharmadeva born) said to Yudhiṣṭhira, 'Draupadī is dharmārtha-kuśalā dharmacāriṇī', skilled in Dharma and Artha.
Her life teaches men too: how men should and should not be, the shamelessness and lack of morals of those who misbehave with women and their end. A progressive society is one where women are safe, free and flourishing, and all of us have a role. Hence let us invoke her memory every morning and through her embrace Mahābhārata to fulfil life's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Ahalyā, Draupadī, Kuntī, Tārā and Mandodarī; remembering them each morning before dawn removes great 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Women's potential and the pañca-kanyā verse
- Self-confidence is the key; Amma names Padmini, Hathi Rani, Mirabai, Jhansi Rani.
- 'ahalyā draupadī kuntī tārā mandodarī tathā': remembering them daily destroys great sins.
- Draupadī = pratah-smaraṇīyā (to be remembered in the morning).
Check for understanding: Who are the pañca-kanyās and why are they remembered?
Model answer: Ahalyā, Draupadī, Kuntī, Tārā and Mandodarī; remembering them each morning before dawn removes great 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Draupadī the manager
- Āraṇya Parva: Satyabhāmā asks how she controls the Pāṇḍavas.
- Manages thousands of servants (knows names, work, clothes); knows revenue and expenditure.
- Balances home and career; important lesson today.
Check for understanding: How does Draupadī's reply to Satyabhāmā show her managerial skills?
Model answer: She managed thousands of servants, knowing their names, work and garments, and knew the king's revenue and expenditure, serving each Pāṇḍava as Nārada advised.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Pativratyam and polyandry
- Nārada's advice at Khāṇḍavaprastha: one husband at a time; full dedication.
- Karṇa's insult (calling her a vesyā) refuted: she did not choose; niyoga / divine will.
- Previous birth: asked Parameśvara for a husband with all qualities five times → five husbands.
- After the dice game she did not leave; saved the Pāṇḍavas.
Check for understanding: How does the chapter answer Karṇa's accusation about Draupadī?
Model answer: She upheld pativratyam under Nārada's rule; she did not choose five husbands but received them through divine will from a boon she asked five times; and she stayed with the Pāṇḍavas after the dice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Vipatti-dhairya (courage in crisis)
- Jayadratha's abduction: warned him, urged him to beg forgiveness.
- Kīcaka: Sudeṣṇā sided with him; Draupadī persuaded Bhīma to kill him.
- Dice-game court: spoke even when none answered; saved the day.
- No depression, no grudge against God or life.
Check for understanding: Define vipatti-dhairya and give three examples from Draupadī's life.
Model answer: Courage in crisis: facing Jayadratha's abduction, Kīcaka's assault, and the dice-game humiliation without despair.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Amma's teaching
- 'Women are not weak; compassion misread as weakness.'
- Eagle and chicken: realise your nature; sky is birthright.
- Prepare through steady effort; remove 'I am powerless' thinking.
Check for understanding: Narrate Draupadī and Kīcaka.
Model answer: In Virāṭa's palace Kīcaka harassed her; Queen Sudeṣṇā sided with him and sent her to his quarters; she escaped his force and persuaded Bhīma to kill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Faith, wisdom and lessons
- Prayed to Kṛṣṇa; he rescued her.
- Vidura (Dharmadeva): dharmārtha-kuśalā dharmacāriṇī.
- Lessons for men: respect and morals; society must make women safe, free, flourishing.
- Invoke her every morning.
Check for understanding: What is Amma's eagle story and its moral?
Model answer: A baby eagle raised with chicks believed it was a chicken until another eagle showed it its reflection; then it soared. Women must realise their potential and discard the thought that they are powerless.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Ahalyā, Draupadī, Kuntī, Tārā and Mandodarī; remembering them each morning before dawn removes great sins.
Q2. She managed thousands of servants, knowing their names, work and garments, and knew the king's revenue and expenditure, serving each Pāṇḍava as Nārada advised.
Q3. She upheld pativratyam under Nārada's rule; she did not choose five husbands but received them through divine will from a boon she asked five times; and she stayed with the Pāṇḍavas after the dice game.
Q4. Courage in crisis: facing Jayadratha's abduction, Kīcaka's assault, and the dice-game humiliation without despair.
Q5. In Virāṭa's palace Kīcaka harassed her; Queen Sudeṣṇā sided with him and sent her to his quarters; she escaped his force and persuaded Bhīma to kill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A baby eagle raised with chicks believed it was a chicken until another eagle showed it its reflection; then it soared. Women must realise their potential and discard the thought that they are powerless.
Q7. That she is dharmārtha-kuśalā dharmacāriṇī, skilled in Dharma and Artha and always following Dharma.
Q8. Her story shows how men should and should not behave toward women and the fate of the immoral.
Q9. Draupadī managed state and household duties and her role as partner of five husbands, a model in an age when people neglect home for career.
Q10. Women who are safe, free and flourishing, with everyone playing a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Ahalyā, Draupadī, Kuntī, Tārā and Mandodarī; remembering them each morning before dawn removes great sins.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13 · Yājñasenī: A Woman from Fire</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13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13</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Yājñasenī: A Woman from Fire</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165 to 172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Pañca-kanyā verse: Ahalyā, Draupadī, Kuntī, Tārā, Mandodarī; remembering them each morning destroys great sins.</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Managerial skill (Āraṇya Parva, to Satyabhāmā): knew thousands of servants and the king's revenue and expenditure.</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Pativratyam under Nārada's advice; five husbands = niyoga/divine will (boon asked five times from Parameśvara), not choice.</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Vipatti-dhairya: Jayadratha's abduction, Kīcaka, dice-game humiliation; prayer to Kṛṣṇa.</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Vidura: 'dharmārtha-kuśalā dharmacāriṇī'; lessons for men too; Amma's eagle and chicken story.</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Who are the pañca-kanyās and why are they remembered?</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Women's potential and the pañca-kanyā verse</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Women's potential and the …</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Draupadī the manager</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Pativratyam and polyandry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Vipatti-dhairya (courage i…</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Amma's teaching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Faith, wisdom and lessons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Self-confidence is the key; Amma names Padmini, Hathi Rani, Mirabai, Jhansi Rani.</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'ahalyā draupadī kuntī tārā mandodarī tathā': remembering them daily destroys great sins.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Draupadī = pratah-smaraṇīyā (to be remembered in the morning).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Draupadī the manager</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Women's potential and the …</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Draupadī the manager</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Pativratyam and polyandry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Vipatti-dhairya (courage i…</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Amma's teaching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Faith, wisdom and lessons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Āraṇya Parva: Satyabhāmā asks how she controls the Pāṇḍavas.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Manages thousands of servants (knows names, work, clothes); knows revenue and expenditure.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Balances home and career; important lesson today.</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Pativratyam and polyandry</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Women's potential and the …</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Draupadī the manager</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Pativratyam and polyandry</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Vipatti-dhairya (courage i…</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Amma's teaching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Faith, wisdom and lessons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Nārada's advice at Khāṇḍavaprastha: one husband at a time; full dedication.</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Karṇa's insult (calling her a vesyā) refuted: she did not choose; niyoga / divine will.</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Previous birth: asked Parameśvara for a husband with all qualities five times → five husbands.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After the dice game she did not leave; saved the Pāṇḍavas.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Vipatti-dhairya (courage in crisis)</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Women's potential and the …</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Draupadī the manager</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Pativratyam and polyandry</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Vipatti-dhairya (courage i…</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Amma's teaching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Faith, wisdom and lessons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Jayadratha's abduction: warned him, urged him to beg forgiveness.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Kīcaka: Sudeṣṇā sided with him; Draupadī persuaded Bhīma to kill him.</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Dice-game court: spoke even when none answered; saved the day.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No depression, no grudge against God or life.</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Amma's teaching</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Women's potential and the …</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Draupadī the manager</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Pativratyam and polyandry</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Vipatti-dhairya (courage i…</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Amma's teaching</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Faith, wisdom and lessons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'Women are not weak; compassion misread as weakness.'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Eagle and chicken: realise your nature; sky is birthright.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Prepare through steady effort; remove 'I am powerless' thinking.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Faith, wisdom and lessons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Women's potential and the …</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Draupadī the manager</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Pativratyam and polyandry</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Vipatti-dhairya (courage i…</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Amma's teaching</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Faith, wisdom and lessons</a:t>
            </a:r>
            <a:endParaRPr lang="en-US" sz="1050" dirty="0"/>
          </a:p>
        </p:txBody>
      </p:sp>
      <p:sp>
        <p:nvSpPr>
          <p:cNvPr id="13"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4"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5" name="Text 12"/>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6" name="Text 13"/>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Prayed to Kṛṣṇa; he rescued her.</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Vidura (Dharmadeva): dharmārtha-kuśalā dharmacāriṇī.</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Lessons for men: respect and morals; society must make women safe, free, flourishing.</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Invoke her every morning.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Yājñasenī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Draupadī, born from Drupada's yajña fire.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Pañca-kanyā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Five women remembered each morning: Ahalyā, Draupadī, Kuntī, Tārā, Mandodarī.</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Pratah-smaraṇīyā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One to be remembered in the morning.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Pativratyam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Chaste devotion to one's husband.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Niyoga (here)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Destiny/divine will; her five husbands were not her choice.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Vipatti-dhairya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Courage in crisis.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Dharmārtha-kuśalā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Skilled in Dharma and Artha (Vidura's words).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Vesyā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Courtesan; insult used by Karṇa.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Parameśvara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Śiva, from whom she asked a boon in her previous birth.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Pañca-kanyās</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5 (Ahalyā, Draupadī, Kuntī, Tārā, Mandodarī)</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Times she asked for a husband (boon)</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5</a:t>
            </a:r>
            <a:endParaRPr lang="en-US" sz="18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Husbands</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5 Pāṇḍavas, one at a time per Nārada's rule</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Servants she managed</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Thousands</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Crises mentioned</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3: Jayadratha, Kīcaka, dice-game court</a:t>
            </a:r>
            <a:endParaRPr lang="en-US" sz="13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Icons named by Amma</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Padmini, Hathi Rani, Mirabai, Jhansi Rani</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Draupadī (Yājñasenī)</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Heroine; manager, devoted wife, courageous.</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Satyabhāmā</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Asks Draupadī how she controls the Pāṇḍavas.</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N</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Nārada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Advised the marriage arrangement.</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Karṇa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Insulted her in the dice game.</a:t>
            </a:r>
            <a:endParaRPr lang="en-US" sz="1200" dirty="0"/>
          </a:p>
        </p:txBody>
      </p:sp>
      <p:sp>
        <p:nvSpPr>
          <p:cNvPr id="24" name="Person row 5"/>
          <p:cNvSpPr/>
          <p:nvPr/>
        </p:nvSpPr>
        <p:spPr>
          <a:xfrm>
            <a:off x="365760" y="3419856"/>
            <a:ext cx="8412480" cy="530352"/>
          </a:xfrm>
          <a:prstGeom prst="roundRect">
            <a:avLst>
              <a:gd name="adj" fmla="val 10345"/>
            </a:avLst>
          </a:prstGeom>
          <a:solidFill>
            <a:srgbClr val="FFF4D6"/>
          </a:solidFill>
          <a:ln w="9525">
            <a:solidFill>
              <a:srgbClr val="EAD9C4"/>
            </a:solidFill>
            <a:prstDash val="solid"/>
          </a:ln>
        </p:spPr>
      </p:sp>
      <p:sp>
        <p:nvSpPr>
          <p:cNvPr id="25" name="Initial"/>
          <p:cNvSpPr/>
          <p:nvPr/>
        </p:nvSpPr>
        <p:spPr>
          <a:xfrm>
            <a:off x="457200" y="3483864"/>
            <a:ext cx="402336" cy="402336"/>
          </a:xfrm>
          <a:prstGeom prst="ellipse">
            <a:avLst/>
          </a:prstGeom>
          <a:solidFill>
            <a:srgbClr val="1565C0"/>
          </a:solidFill>
          <a:ln w="12700">
            <a:solidFill>
              <a:srgbClr val="1565C0"/>
            </a:solidFill>
            <a:prstDash val="solid"/>
          </a:ln>
        </p:spPr>
      </p:sp>
      <p:sp>
        <p:nvSpPr>
          <p:cNvPr id="26" name="Text 23"/>
          <p:cNvSpPr txBox="1"/>
          <p:nvPr/>
        </p:nvSpPr>
        <p:spPr>
          <a:xfrm>
            <a:off x="457200" y="3483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J</a:t>
            </a:r>
            <a:endParaRPr lang="en-US" sz="1400" dirty="0"/>
          </a:p>
        </p:txBody>
      </p:sp>
      <p:sp>
        <p:nvSpPr>
          <p:cNvPr id="27" name="Text 24"/>
          <p:cNvSpPr txBox="1"/>
          <p:nvPr/>
        </p:nvSpPr>
        <p:spPr>
          <a:xfrm>
            <a:off x="1005840" y="3419856"/>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Jayadratha</a:t>
            </a:r>
            <a:endParaRPr lang="en-US" sz="1300" dirty="0"/>
          </a:p>
        </p:txBody>
      </p:sp>
      <p:sp>
        <p:nvSpPr>
          <p:cNvPr id="28" name="Text 25"/>
          <p:cNvSpPr txBox="1"/>
          <p:nvPr/>
        </p:nvSpPr>
        <p:spPr>
          <a:xfrm>
            <a:off x="3566160" y="3419856"/>
            <a:ext cx="5120640" cy="530352"/>
          </a:xfrm>
          <a:prstGeom prst="rect">
            <a:avLst/>
          </a:prstGeom>
          <a:noFill/>
          <a:ln/>
        </p:spPr>
        <p:txBody>
          <a:bodyPr wrap="square" lIns="0" tIns="0" rIns="0" bIns="0" rtlCol="0" anchor="ctr"/>
          <a:lstStyle/>
          <a:p>
            <a:pPr indent="0" marL="0">
              <a:buNone/>
            </a:pPr>
            <a:r>
              <a:rPr lang="en-US" sz="1200" dirty="0">
                <a:solidFill>
                  <a:srgbClr val="2A2A2A"/>
                </a:solidFill>
              </a:rPr>
              <a:t>Abducted her from the forest.</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00796B"/>
          </a:solidFill>
          <a:ln w="12700">
            <a:solidFill>
              <a:srgbClr val="00796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Kīcaka and Sudeṣṇā</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Harasser and the queen who aided him.</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AD1457"/>
          </a:solidFill>
          <a:ln w="12700">
            <a:solidFill>
              <a:srgbClr val="AD1457"/>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Bhīma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Killed Kīcaka at her urging.</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455A64"/>
          </a:solidFill>
          <a:ln w="12700">
            <a:solidFill>
              <a:srgbClr val="455A64"/>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V</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Vidura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Praised her as dharmārtha-kuśalā.</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8C2F1B"/>
          </a:solidFill>
          <a:ln w="12700">
            <a:solidFill>
              <a:srgbClr val="8C2F1B"/>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Amma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Eagle story; 'women are not weak'.</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802005"/>
          </a:xfrm>
          <a:prstGeom prst="roundRect">
            <a:avLst>
              <a:gd name="adj" fmla="val 9121"/>
            </a:avLst>
          </a:prstGeom>
          <a:solidFill>
            <a:srgbClr val="FFF4D6"/>
          </a:solidFill>
          <a:ln w="12700">
            <a:solidFill>
              <a:srgbClr val="EAD9C4"/>
            </a:solidFill>
            <a:prstDash val="solid"/>
          </a:ln>
        </p:spPr>
      </p:sp>
      <p:sp>
        <p:nvSpPr>
          <p:cNvPr id="5" name="Text 2"/>
          <p:cNvSpPr txBox="1"/>
          <p:nvPr/>
        </p:nvSpPr>
        <p:spPr>
          <a:xfrm>
            <a:off x="548640" y="1005840"/>
            <a:ext cx="3840480" cy="802005"/>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ahalyā draupadī kuntī tārā mandodarī tathā; pañca-kanyā smared nityaṃ mahā-pātaka-nāśanam</a:t>
            </a:r>
            <a:endParaRPr lang="en-US" sz="1300" dirty="0"/>
          </a:p>
        </p:txBody>
      </p:sp>
      <p:sp>
        <p:nvSpPr>
          <p:cNvPr id="6" name="Text 3"/>
          <p:cNvSpPr txBox="1"/>
          <p:nvPr/>
        </p:nvSpPr>
        <p:spPr>
          <a:xfrm>
            <a:off x="4572000" y="1005840"/>
            <a:ext cx="4069080" cy="802005"/>
          </a:xfrm>
          <a:prstGeom prst="rect">
            <a:avLst/>
          </a:prstGeom>
          <a:noFill/>
          <a:ln/>
        </p:spPr>
        <p:txBody>
          <a:bodyPr wrap="square" lIns="0" tIns="0" rIns="0" bIns="0" rtlCol="0" anchor="ctr"/>
          <a:lstStyle/>
          <a:p>
            <a:pPr indent="0" marL="0">
              <a:buNone/>
            </a:pPr>
            <a:r>
              <a:rPr lang="en-US" sz="1300" dirty="0">
                <a:solidFill>
                  <a:srgbClr val="2A2A2A"/>
                </a:solidFill>
              </a:rPr>
              <a:t>Remember these five women every morning to remove great sins.</a:t>
            </a:r>
            <a:endParaRPr lang="en-US" sz="1300" dirty="0"/>
          </a:p>
        </p:txBody>
      </p:sp>
      <p:sp>
        <p:nvSpPr>
          <p:cNvPr id="7" name="Sloka card 2"/>
          <p:cNvSpPr/>
          <p:nvPr/>
        </p:nvSpPr>
        <p:spPr>
          <a:xfrm>
            <a:off x="365760" y="1917573"/>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1917573"/>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'dharmārtha-kuśalā dharmacāriṇī' (Vidura on Draupadī)</a:t>
            </a:r>
            <a:endParaRPr lang="en-US" sz="1300" dirty="0"/>
          </a:p>
        </p:txBody>
      </p:sp>
      <p:sp>
        <p:nvSpPr>
          <p:cNvPr id="9" name="Text 6"/>
          <p:cNvSpPr txBox="1"/>
          <p:nvPr/>
        </p:nvSpPr>
        <p:spPr>
          <a:xfrm>
            <a:off x="4572000" y="1917573"/>
            <a:ext cx="4069080" cy="595630"/>
          </a:xfrm>
          <a:prstGeom prst="rect">
            <a:avLst/>
          </a:prstGeom>
          <a:noFill/>
          <a:ln/>
        </p:spPr>
        <p:txBody>
          <a:bodyPr wrap="square" lIns="0" tIns="0" rIns="0" bIns="0" rtlCol="0" anchor="ctr"/>
          <a:lstStyle/>
          <a:p>
            <a:pPr indent="0" marL="0">
              <a:buNone/>
            </a:pPr>
            <a:r>
              <a:rPr lang="en-US" sz="1300" dirty="0">
                <a:solidFill>
                  <a:srgbClr val="2A2A2A"/>
                </a:solidFill>
              </a:rPr>
              <a:t>She follows Dharma and is skilled in Dharma and Artha.</a:t>
            </a:r>
            <a:endParaRPr lang="en-US" sz="1300" dirty="0"/>
          </a:p>
        </p:txBody>
      </p:sp>
      <p:sp>
        <p:nvSpPr>
          <p:cNvPr id="10" name="Sloka card 3"/>
          <p:cNvSpPr/>
          <p:nvPr/>
        </p:nvSpPr>
        <p:spPr>
          <a:xfrm>
            <a:off x="365760" y="2622931"/>
            <a:ext cx="8412480" cy="595630"/>
          </a:xfrm>
          <a:prstGeom prst="roundRect">
            <a:avLst>
              <a:gd name="adj" fmla="val 12281"/>
            </a:avLst>
          </a:prstGeom>
          <a:solidFill>
            <a:srgbClr val="FFF4D6"/>
          </a:solidFill>
          <a:ln w="12700">
            <a:solidFill>
              <a:srgbClr val="EAD9C4"/>
            </a:solidFill>
            <a:prstDash val="solid"/>
          </a:ln>
        </p:spPr>
      </p:sp>
      <p:sp>
        <p:nvSpPr>
          <p:cNvPr id="11" name="Text 8"/>
          <p:cNvSpPr txBox="1"/>
          <p:nvPr/>
        </p:nvSpPr>
        <p:spPr>
          <a:xfrm>
            <a:off x="548640" y="2622931"/>
            <a:ext cx="3840480" cy="595630"/>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Amma: 'Women are not weak...'</a:t>
            </a:r>
            <a:endParaRPr lang="en-US" sz="1300" dirty="0"/>
          </a:p>
        </p:txBody>
      </p:sp>
      <p:sp>
        <p:nvSpPr>
          <p:cNvPr id="12" name="Text 9"/>
          <p:cNvSpPr txBox="1"/>
          <p:nvPr/>
        </p:nvSpPr>
        <p:spPr>
          <a:xfrm>
            <a:off x="4572000" y="2622931"/>
            <a:ext cx="4069080" cy="595630"/>
          </a:xfrm>
          <a:prstGeom prst="rect">
            <a:avLst/>
          </a:prstGeom>
          <a:noFill/>
          <a:ln/>
        </p:spPr>
        <p:txBody>
          <a:bodyPr wrap="square" lIns="0" tIns="0" rIns="0" bIns="0" rtlCol="0" anchor="ctr"/>
          <a:lstStyle/>
          <a:p>
            <a:pPr indent="0" marL="0">
              <a:buNone/>
            </a:pPr>
            <a:r>
              <a:rPr lang="en-US" sz="1300" dirty="0">
                <a:solidFill>
                  <a:srgbClr val="2A2A2A"/>
                </a:solidFill>
              </a:rPr>
              <a:t>Compassion and sympathy are strengths often misread as weakness.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Draupadī's crises and responses</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618535"/>
                <a:gridCol w="5793945"/>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Crisis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Draupadī's response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Jayadratha's abduction (forest)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Warned him of her husbands' strength; urged him to release her and beg forgiveness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Kīcaka (Virāṭa's palace)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Faced him alone despite Sudeṣṇā's support; escaped; urged Bhīma to kill him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Dice game (Kaurava court)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Questioned the court, kept composure, prayed to Kṛṣṇa; saved her husbands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Karṇa's charge vs the book's reply</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3316811"/>
                <a:gridCol w="5095669"/>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Charge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Reply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She is a vesyā because she has five husbands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She followed Nārada's one-at-a-time rule and pativratyam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She chose five husbands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It was niyoga/divine will from a boon she asked five times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She would be disloyal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After the dice game she did not leave the Pāṇḍavas; she saved them</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Pañca-kanyā: A-D-K-T-M = Ahalyā, Draupadī, Kuntī, Tārā, Mandodarī.</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Three crises: Jayadratha, Kīcaka, dice court (J-K-D).</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Boon 5 times → 5 husbands.</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Vidura's words: dharmārtha-kuśalā dharmacāriṇī.</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Amma's story: eagle raised among chicks; reflection in lake.</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Satyabhāmā asks; Nārada advises.</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Who are the pañca-kanyās and why are they remembered?</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How does Draupadī's reply to Satyabhāmā show her managerial skills?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How does the chapter answer Karṇa's accusation about Draupadī?</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Define vipatti-dhairya and give three examples from Draupadī's life.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Narrate Draupadī and Kīcaka.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is Amma's eagle story and its moral?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What did Vidura say about Draupadī?</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Why is Draupadī relevant to men as well?</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does the chapter say about work-life balance?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does a progressive society need, according to the chapter?</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 Who are the pañca-kanyās and why are they remembered?</a:t>
            </a:r>
            <a:endParaRPr lang="en-US" sz="1200" dirty="0"/>
          </a:p>
          <a:p>
            <a:pPr indent="0" marL="0">
              <a:buNone/>
            </a:pPr>
            <a:r>
              <a:rPr lang="en-US" sz="1200" dirty="0">
                <a:solidFill>
                  <a:srgbClr val="2A2A2A"/>
                </a:solidFill>
              </a:rPr>
              <a:t>Ahalyā, Draupadī, Kuntī, Tārā and Mandodarī; remembering them each morning before dawn removes great sins.</a:t>
            </a:r>
            <a:endParaRPr lang="en-US" sz="1200" dirty="0"/>
          </a:p>
        </p:txBody>
      </p:sp>
      <p:sp>
        <p:nvSpPr>
          <p:cNvPr id="6" name="Answer 2"/>
          <p:cNvSpPr/>
          <p:nvPr/>
        </p:nvSpPr>
        <p:spPr>
          <a:xfrm>
            <a:off x="365760" y="1751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How does Draupadī's reply to Satyabhāmā show her managerial skills?</a:t>
            </a:r>
            <a:endParaRPr lang="en-US" sz="1200" dirty="0"/>
          </a:p>
          <a:p>
            <a:pPr indent="0" marL="0">
              <a:buNone/>
            </a:pPr>
            <a:r>
              <a:rPr lang="en-US" sz="1200" dirty="0">
                <a:solidFill>
                  <a:srgbClr val="2A2A2A"/>
                </a:solidFill>
              </a:rPr>
              <a:t>She managed thousands of servants, knowing their names, work and garments, and knew the king's revenue and expenditure, serving each Pāṇḍava as Nārada advised.</a:t>
            </a:r>
            <a:endParaRPr lang="en-US" sz="1200" dirty="0"/>
          </a:p>
        </p:txBody>
      </p:sp>
      <p:sp>
        <p:nvSpPr>
          <p:cNvPr id="8" name="Answer 3"/>
          <p:cNvSpPr/>
          <p:nvPr/>
        </p:nvSpPr>
        <p:spPr>
          <a:xfrm>
            <a:off x="365760" y="2514600"/>
            <a:ext cx="8412480" cy="890016"/>
          </a:xfrm>
          <a:prstGeom prst="roundRect">
            <a:avLst>
              <a:gd name="adj" fmla="val 6164"/>
            </a:avLst>
          </a:prstGeom>
          <a:solidFill>
            <a:srgbClr val="FFF4D6"/>
          </a:solidFill>
          <a:ln w="9525">
            <a:solidFill>
              <a:srgbClr val="EAD9C4"/>
            </a:solidFill>
            <a:prstDash val="solid"/>
          </a:ln>
        </p:spPr>
      </p:sp>
      <p:sp>
        <p:nvSpPr>
          <p:cNvPr id="9" name="Text 6"/>
          <p:cNvSpPr txBox="1"/>
          <p:nvPr/>
        </p:nvSpPr>
        <p:spPr>
          <a:xfrm>
            <a:off x="457200" y="25146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Q3. How does the chapter answer Karṇa's accusation about Draupadī?</a:t>
            </a:r>
            <a:endParaRPr lang="en-US" sz="1200" dirty="0"/>
          </a:p>
          <a:p>
            <a:pPr indent="0" marL="0">
              <a:buNone/>
            </a:pPr>
            <a:r>
              <a:rPr lang="en-US" sz="1200" dirty="0">
                <a:solidFill>
                  <a:srgbClr val="2A2A2A"/>
                </a:solidFill>
              </a:rPr>
              <a:t>She upheld pativratyam under Nārada's rule; she did not choose five husbands but received them through divine will from a boon she asked five times; and she stayed with the Pāṇḍavas after the dice game.</a:t>
            </a:r>
            <a:endParaRPr lang="en-US" sz="1200" dirty="0"/>
          </a:p>
        </p:txBody>
      </p:sp>
      <p:sp>
        <p:nvSpPr>
          <p:cNvPr id="10" name="Answer 4"/>
          <p:cNvSpPr/>
          <p:nvPr/>
        </p:nvSpPr>
        <p:spPr>
          <a:xfrm>
            <a:off x="365760" y="34686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4686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Define vipatti-dhairya and give three examples from Draupadī's life.</a:t>
            </a:r>
            <a:endParaRPr lang="en-US" sz="1200" dirty="0"/>
          </a:p>
          <a:p>
            <a:pPr indent="0" marL="0">
              <a:buNone/>
            </a:pPr>
            <a:r>
              <a:rPr lang="en-US" sz="1200" dirty="0">
                <a:solidFill>
                  <a:srgbClr val="2A2A2A"/>
                </a:solidFill>
              </a:rPr>
              <a:t>Courage in crisis: facing Jayadratha's abduction, Kīcaka's assault, and the dice-game humiliation without despair.</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Narrate Draupadī and Kīcaka.</a:t>
            </a:r>
            <a:endParaRPr lang="en-US" sz="1200" dirty="0"/>
          </a:p>
          <a:p>
            <a:pPr indent="0" marL="0">
              <a:buNone/>
            </a:pPr>
            <a:r>
              <a:rPr lang="en-US" sz="1200" dirty="0">
                <a:solidFill>
                  <a:srgbClr val="2A2A2A"/>
                </a:solidFill>
              </a:rPr>
              <a:t>In Virāṭa's palace Kīcaka harassed her; Queen Sudeṣṇā sided with him and sent her to his quarters; she escaped his force and persuaded Bhīma to kill him.</a:t>
            </a:r>
            <a:endParaRPr lang="en-US" sz="1200" dirty="0"/>
          </a:p>
        </p:txBody>
      </p:sp>
      <p:sp>
        <p:nvSpPr>
          <p:cNvPr id="6" name="Answer 6"/>
          <p:cNvSpPr/>
          <p:nvPr/>
        </p:nvSpPr>
        <p:spPr>
          <a:xfrm>
            <a:off x="365760" y="1751076"/>
            <a:ext cx="8412480" cy="890016"/>
          </a:xfrm>
          <a:prstGeom prst="roundRect">
            <a:avLst>
              <a:gd name="adj" fmla="val 6164"/>
            </a:avLst>
          </a:prstGeom>
          <a:solidFill>
            <a:srgbClr val="FFFFFF"/>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Q6. What is Amma's eagle story and its moral?</a:t>
            </a:r>
            <a:endParaRPr lang="en-US" sz="1200" dirty="0"/>
          </a:p>
          <a:p>
            <a:pPr indent="0" marL="0">
              <a:buNone/>
            </a:pPr>
            <a:r>
              <a:rPr lang="en-US" sz="1200" dirty="0">
                <a:solidFill>
                  <a:srgbClr val="2A2A2A"/>
                </a:solidFill>
              </a:rPr>
              <a:t>A baby eagle raised with chicks believed it was a chicken until another eagle showed it its reflection; then it soared. Women must realise their potential and discard the thought that they are powerless.</a:t>
            </a:r>
            <a:endParaRPr lang="en-US" sz="1200" dirty="0"/>
          </a:p>
        </p:txBody>
      </p:sp>
      <p:sp>
        <p:nvSpPr>
          <p:cNvPr id="8" name="Answer 7"/>
          <p:cNvSpPr/>
          <p:nvPr/>
        </p:nvSpPr>
        <p:spPr>
          <a:xfrm>
            <a:off x="365760" y="2705100"/>
            <a:ext cx="8412480" cy="699516"/>
          </a:xfrm>
          <a:prstGeom prst="roundRect">
            <a:avLst>
              <a:gd name="adj" fmla="val 7843"/>
            </a:avLst>
          </a:prstGeom>
          <a:solidFill>
            <a:srgbClr val="FFFFFF"/>
          </a:solidFill>
          <a:ln w="9525">
            <a:solidFill>
              <a:srgbClr val="EAD9C4"/>
            </a:solidFill>
            <a:prstDash val="solid"/>
          </a:ln>
        </p:spPr>
      </p:sp>
      <p:sp>
        <p:nvSpPr>
          <p:cNvPr id="9" name="Text 6"/>
          <p:cNvSpPr txBox="1"/>
          <p:nvPr/>
        </p:nvSpPr>
        <p:spPr>
          <a:xfrm>
            <a:off x="457200" y="27051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Q7. What did Vidura say about Draupadī?</a:t>
            </a:r>
            <a:endParaRPr lang="en-US" sz="1200" dirty="0"/>
          </a:p>
          <a:p>
            <a:pPr indent="0" marL="0">
              <a:buNone/>
            </a:pPr>
            <a:r>
              <a:rPr lang="en-US" sz="1200" dirty="0">
                <a:solidFill>
                  <a:srgbClr val="2A2A2A"/>
                </a:solidFill>
              </a:rPr>
              <a:t>That she is dharmārtha-kuśalā dharmacāriṇī, skilled in Dharma and Artha and always following Dharma.</a:t>
            </a:r>
            <a:endParaRPr lang="en-US" sz="1200" dirty="0"/>
          </a:p>
        </p:txBody>
      </p:sp>
      <p:sp>
        <p:nvSpPr>
          <p:cNvPr id="10" name="Answer 8"/>
          <p:cNvSpPr/>
          <p:nvPr/>
        </p:nvSpPr>
        <p:spPr>
          <a:xfrm>
            <a:off x="365760" y="3468624"/>
            <a:ext cx="8412480" cy="509016"/>
          </a:xfrm>
          <a:prstGeom prst="roundRect">
            <a:avLst>
              <a:gd name="adj" fmla="val 10778"/>
            </a:avLst>
          </a:prstGeom>
          <a:solidFill>
            <a:srgbClr val="FFFFFF"/>
          </a:solidFill>
          <a:ln w="9525">
            <a:solidFill>
              <a:srgbClr val="EAD9C4"/>
            </a:solidFill>
            <a:prstDash val="solid"/>
          </a:ln>
        </p:spPr>
      </p:sp>
      <p:sp>
        <p:nvSpPr>
          <p:cNvPr id="11" name="Text 8"/>
          <p:cNvSpPr txBox="1"/>
          <p:nvPr/>
        </p:nvSpPr>
        <p:spPr>
          <a:xfrm>
            <a:off x="457200" y="3468624"/>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Q8. Why is Draupadī relevant to men as well?</a:t>
            </a:r>
            <a:endParaRPr lang="en-US" sz="1200" dirty="0"/>
          </a:p>
          <a:p>
            <a:pPr indent="0" marL="0">
              <a:buNone/>
            </a:pPr>
            <a:r>
              <a:rPr lang="en-US" sz="1200" dirty="0">
                <a:solidFill>
                  <a:srgbClr val="2A2A2A"/>
                </a:solidFill>
              </a:rPr>
              <a:t>Her story shows how men should and should not behave toward women and the fate of the immoral.</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What does the chapter say about work-life balance?</a:t>
            </a:r>
            <a:endParaRPr lang="en-US" sz="1200" dirty="0"/>
          </a:p>
          <a:p>
            <a:pPr indent="0" marL="0">
              <a:buNone/>
            </a:pPr>
            <a:r>
              <a:rPr lang="en-US" sz="1200" dirty="0">
                <a:solidFill>
                  <a:srgbClr val="2A2A2A"/>
                </a:solidFill>
              </a:rPr>
              <a:t>Draupadī managed state and household duties and her role as partner of five husbands, a model in an age when people neglect home for career.</a:t>
            </a:r>
            <a:endParaRPr lang="en-US" sz="1200" dirty="0"/>
          </a:p>
        </p:txBody>
      </p:sp>
      <p:sp>
        <p:nvSpPr>
          <p:cNvPr id="6" name="Answer 10"/>
          <p:cNvSpPr/>
          <p:nvPr/>
        </p:nvSpPr>
        <p:spPr>
          <a:xfrm>
            <a:off x="365760" y="1751076"/>
            <a:ext cx="8412480" cy="509016"/>
          </a:xfrm>
          <a:prstGeom prst="roundRect">
            <a:avLst>
              <a:gd name="adj" fmla="val 10778"/>
            </a:avLst>
          </a:prstGeom>
          <a:solidFill>
            <a:srgbClr val="FFF4D6"/>
          </a:solidFill>
          <a:ln w="9525">
            <a:solidFill>
              <a:srgbClr val="EAD9C4"/>
            </a:solidFill>
            <a:prstDash val="solid"/>
          </a:ln>
        </p:spPr>
      </p:sp>
      <p:sp>
        <p:nvSpPr>
          <p:cNvPr id="7" name="Text 4"/>
          <p:cNvSpPr txBox="1"/>
          <p:nvPr/>
        </p:nvSpPr>
        <p:spPr>
          <a:xfrm>
            <a:off x="457200" y="1751076"/>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Q10. What does a progressive society need, according to the chapter?</a:t>
            </a:r>
            <a:endParaRPr lang="en-US" sz="1200" dirty="0"/>
          </a:p>
          <a:p>
            <a:pPr indent="0" marL="0">
              <a:buNone/>
            </a:pPr>
            <a:r>
              <a:rPr lang="en-US" sz="1200" dirty="0">
                <a:solidFill>
                  <a:srgbClr val="2A2A2A"/>
                </a:solidFill>
              </a:rPr>
              <a:t>Women who are safe, free and flourishing, with everyone playing a role.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Born from?</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Drupada's yajña fire (Yājñasenī).</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Who asked Draupadī about managing husbands?</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Satyabhāmā.</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Who killed Kīcaka?</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Bhīma.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Who calls her dharmārtha-kuśalā?</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Vidura.</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Pañca-kanyā verse: Ahalyā, Draupadī, Kuntī, Tārā, Mandodarī; remembering them each morning destroys great sins.</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Managerial skill (Āraṇya Parva, to Satyabhāmā): knew thousands of servants and the king's revenue and expenditure.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Pativratyam under Nārada's advice; five husbands = niyoga/divine will (boon asked five times from Parameśvara), not choice.</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Vipatti-dhairya: Jayadratha's abduction, Kīcaka, dice-game humiliation; prayer to Kṛṣṇa.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Vidura: 'dharmārtha-kuśalā dharmacāriṇī'; lessons for men too; Amma's eagle and chicken story.</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13: Yājñasenī: A Woman from Fire</dc:title>
  <dc:subject>PptxGenJS Presentation</dc:subject>
  <dc:creator>ADM Teaching Deck</dc:creator>
  <cp:lastModifiedBy>ADM Teaching Deck</cp:lastModifiedBy>
  <cp:revision>1</cp:revision>
  <dcterms:created xsi:type="dcterms:W3CDTF">2026-10-04T11:54:27Z</dcterms:created>
  <dcterms:modified xsi:type="dcterms:W3CDTF">2026-10-04T11:54:27Z</dcterms:modified>
</cp:coreProperties>
</file>