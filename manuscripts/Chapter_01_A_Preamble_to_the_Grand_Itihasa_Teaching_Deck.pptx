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8b048f7-c177-cec9-4a47-e0cec18b5bd4}">
          <p14:sldIdLst>
            <p14:sldId id="256"/>
            <p14:sldId id="257"/>
            <p14:sldId id="258"/>
            <p14:sldId id="259"/>
          </p14:sldIdLst>
        </p14:section>
        <p14:section name="Lesson" id="{7d046b89-e4bd-2345-ac16-ca59f402f7f5}">
          <p14:sldIdLst>
            <p14:sldId id="260"/>
            <p14:sldId id="261"/>
            <p14:sldId id="262"/>
            <p14:sldId id="263"/>
            <p14:sldId id="264"/>
            <p14:sldId id="265"/>
            <p14:sldId id="266"/>
            <p14:sldId id="267"/>
          </p14:sldIdLst>
        </p14:section>
        <p14:section name="Key facts" id="{79004709-89e3-bd6d-6c6e-c5703a554cca}">
          <p14:sldIdLst>
            <p14:sldId id="268"/>
            <p14:sldId id="269"/>
            <p14:sldId id="270"/>
            <p14:sldId id="271"/>
            <p14:sldId id="272"/>
            <p14:sldId id="273"/>
            <p14:sldId id="274"/>
            <p14:sldId id="275"/>
            <p14:sldId id="276"/>
            <p14:sldId id="277"/>
            <p14:sldId id="278"/>
            <p14:sldId id="279"/>
          </p14:sldIdLst>
        </p14:section>
        <p14:section name="Review" id="{4d40afb3-1460-50b1-88af-2c7989925a82}">
          <p14:sldIdLst>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book opens with a question: can knowledge be measured? Mahābhārata itself records such a measurement. The Devas placed the four Vedas (Ṛg, Yajur, Sāma, Atharva) on one side of a scale and Mahābhārata on the other, and the scale tipped towards Mahābhārata. The Vedas, which have no beginning or end, are accepted as the supreme source of wisdom, but Mahābhārata (like all Itihāsas and Purāṇas) exists to convey the ideas of the Vedas to people who are not trained in them. For this reason it is called the pañcama-veda, the fifth Veda. The Chāndogya Upaniṣad also calls Purāṇas and Itihāsas the fifth Veda, and the Nāṭyaśāstra and Āyurveda are sometimes placed in the same category.
The name itself carries the idea of weighing: 'mahattvāt bhāravattvāc ca mahābhāratam ucyate'. It is great in size: about eighteen lakh words or one lakh ślokas, four times Rāmāyaṇa, and the Greek epics Iliad and Odyssey together are only about one-tenth of it. It is the biggest literary work in human history. Its greatness also lies in content: philosophy, spirituality, devotional hymns (Viṣṇu Sahasranāma, Śiva Sahasranāma), dharma-adharma debates, politics, warfare, history, geography and aesthetics. Its Bhagavadgītā was seen by Ādi Śaṅkarācārya as the essence of all the Vedas and as the base for his darśana; Abhinavagupta, Madhvācārya and Rāmānujācārya also wrote on it, there are around 227 discourses on it in Saṃskṛtam alone, and Lokmānya Tilak's Gītārahasyam (focus: Karmayoga) inspired the freedom movement, as the Gītā also inspired Gandhi and Aurobindo. The Itihāsa's influence runs through films, serials, novels, place and personal names, traditions and temples, and once reached Indonesia and Cambodia and is now global.
The chapter then defines Itihāsa. The word means 'so indeed it was'. It is not mere history (analysis and interpretation of the past), not historical fiction (history plus imagination), not a myth (stories around divine beings), and not an epic in Aristotle's sense (a narrative about one incident with origin, progress and consequence). Calling it an 'epic' is a categorical blunder, because it imposes the genre of one language on another. An Itihāsa narrates past events as stories that carry instruction on the four puruṣārthas. Swami Vivekananda called Itihāsas the encyclopedia of knowledge and held that they present an ideal culture our civilisation has yet to reach. Vyāsa's own verse (MB 1.56.33) claims that whatever is said about dharma, artha, kāma and mokṣa here may be found elsewhere, but what is not here is found nowhere.
Puruṣārthas are explained simply: kāma is desire; artha is the effort (wealth) needed to fulfil desire; dharma is the care taken not to upset the balance with nature and fellow beings while pursuing artha and kāma; mokṣa is freedom from bondage to artha and kāma. Bhāratīya culture says earn artha and enjoy kāma in accordance with dharma, and so walk towards mokṣa. Mahābhārata (1.1.205) also says the Veda fears the person of half-knowledge (alpaśruta), so Vedic meaning must be explained through Itihāsa and Purāṇa. The characters are historical, yet they also mirror our inner conflicts; Mata Amritanandamayi Devi says the Mahābhārata war represents our internal struggles.
The author is Maharṣi Veda Vyāsa, born Kṛṣṇa Dvaipāyana to Satyavatī and Parāśara Muni on an island (hence Dvaipāyana). He divided the Vedas into four and composed the fifth Veda. Tradition credits him with the eighteen Purāṇas, a commentary on Patañjali's Yoga Sūtras and the Brahmasūtra; the Bhāgavata Purāṇa counts him among the twenty-two main avatars of Viṣṇu; in the Gītā (10.37) Kṛṣṇa says 'Among Maharṣis I am Vyāsa'. He is also a character inside the story, at the beginning and the end. Regional versions say that on Brahmā's advice Gaṇapati became the scribe, under a pact: Vyāsa must dictate without pause, and Gaṇeśa would write only after understanding each verse. The Itihāsa was narrated by Vaiśampāyana in Janamejaya's sarpa-satra and by Ugraśravas (son of Lomaharṣaṇa) to the Ṛṣis at Naimiṣāraṇya in Śaunaka's satra. Ādi Parva says Vyāsa composed sixty lakh ślokas: 30 lakh for the Devas, 15 lakh for the Pitṛs, 14 lakh for the Gandharvas and 1 lakh for humankind.
Inside the story, Vyāsa gives a tree metaphor in Ādi Parva: Duryodhana is a huge tree of anger (Karṇa the trunk, Śakuni the branch, Duḥśāsana the flowers and fruits, blind Dhṛtarāṣṭra the roots), while Yudhiṣṭhira is a tree of Dharma (Arjuna the trunk, Bhīma the branch, Nakula-Sahadeva the flowers and fruits, and Kṛṣṇa, the Brahmajñānis and the Vedas the roots). The cast includes Devas, Asuras, Rākṣasas, Yakṣas, Gandharvas, Apsarasas, Nāgas, kings, purohitas, traders, sūtas, ṛṣis, queens, dāsas, niṣādas, mlecchas, yavanas, animals, birds, rivers and mountains. Hastināpura and Indraprastha are the main centres, with Dvārakā, the Gaṅgā, Magadha, Pañcāla and Matsya often central too. It begins with Janamejaya, then goes back to Bhīṣma, Kuru, Bharata and even creation. Subplots include Garuḍa, Nala, Duṣyanta, Śrī Rāma, Viśvāmitra, Śibi, Rantideva, Paraśurāma and Hariścandra.
Conclusion: the Itihāsa teaches us to judge actions by the whole trail of karma and karmaphala, including earlier lives, and not just the present context. It goes beyond simple true-false or good-evil, openly discussing the adharma of the dharmic side and the dharma of the adharmic side, and warns that dharma-tattva is subtle. It is known as Jaya, Bhārata, Kṛṣṇaveda and Mahābhārata, and begins with the maṅgalācaraṇa śloka: 'nārāyaṇaṃ namaskṛtya naraṃ caiva narottamam, devīṃ sarasvatīṃ vyāsaṃ tato jayam udīrayet'. Nara-Nārāyaṇa were Mahāmunis, parts of Viṣṇu, who took birth in Dvāpara Yuga as Kṛṣṇa and Arjuna. The reader is invited to approach with śraddhā and saddharmaniṣṭhā, treating the study as an upanayana (initiation) into the wisdom of Bhāratamātā.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Mahābhārata is the 'fifth Veda': the largest work in world literature, an Itihāsa (not a myth or epic) that teaches the four puruṣārthas, and the one place where 'what is not here is nowhere else'.
Full chapter summary:
The book opens with a question: can knowledge be measured? Mahābhārata itself records such a measurement. The Devas placed the four Vedas (Ṛg, Yajur, Sāma, Atharva) on one side of a scale and Mahābhārata on the other, and the scale tipped towards Mahābhārata. The Vedas, which have no beginning or end, are accepted as the supreme source of wisdom, but Mahābhārata (like all Itihāsas and Purāṇas) exists to convey the ideas of the Vedas to people who are not trained in them. For this reason it is called the pañcama-veda, the fifth Veda. The Chāndogya Upaniṣad also calls Purāṇas and Itihāsas the fifth Veda, and the Nāṭyaśāstra and Āyurveda are sometimes placed in the same category.
The name itself carries the idea of weighing: 'mahattvāt bhāravattvāc ca mahābhāratam ucyate'. It is great in size: about eighteen lakh words or one lakh ślokas, four times Rāmāyaṇa, and the Greek epics Iliad and Odyssey together are only about one-tenth of it. It is the biggest literary work in human history. Its greatness also lies in content: philosophy, spirituality, devotional hymns (Viṣṇu Sahasranāma, Śiva Sahasranāma), dharma-adharma debates, politics, warfare, history, geography and aesthetics. Its Bhagavadgītā was seen by Ādi Śaṅkarācārya as the essence of all the Vedas and as the base for his darśana; Abhinavagupta, Madhvācārya and Rāmānujācārya also wrote on it, there are around 227 discourses on it in Saṃskṛtam alone, and Lokmānya Tilak's Gītārahasyam (focus: Karmayoga) inspired the freedom movement, as the Gītā also inspired Gandhi and Aurobindo. The Itihāsa's influence runs through films, serials, novels, place and personal names, traditions and temples, and once reached Indonesia and Cambodia and is now global.
The chapter then defines Itihāsa. The word means 'so indeed it was'. It is not mere history (analysis and interpretation of the past), not historical fiction (history plus imagination), not a myth (stories around divine beings), and not an epic in Aristotle's sense (a narrative about one incident with origin, progress and consequence). Calling it an 'epic' is a categorical blunder, because it imposes the genre of one language on another. An Itihāsa narrates past events as stories that carry instruction on the four puruṣārthas. Swami Vivekananda called Itihāsas the encyclopedia of knowledge and held that they present an ideal culture our civilisation has yet to reach. Vyāsa's own verse (MB 1.56.33) claims that whatever is said about dharma, artha, kāma and mokṣa here may be found elsewhere, but what is not here is found nowhere.
Puruṣārthas are explained simply: kāma is desire; artha is the effort (wealth) needed to fulfil desire; dharma is the care taken not to upset the balance with nature and fellow beings while pursuing artha and kāma; mokṣa is freedom from bondage to artha and kāma. Bhāratīya culture says earn artha and enjoy kāma in accordance with dharma, and so walk towards mokṣa. Mahābhārata (1.1.205) also says the Veda fears the person of half-knowledge (alpaśruta), so Vedic meaning must be explained through Itihāsa and Purāṇa. The characters are historical, yet they also mirror our inner conflicts; Mata Amritanandamayi Devi says the Mahābhārata war represents our internal struggles.
The author is Maharṣi Veda Vyāsa, born Kṛṣṇa Dvaipāyana to Satyavatī and Parāśara Muni on an island (hence Dvaipāyana). He divided the Vedas into four and composed the fifth Veda. Tradition credits him with the eighteen Purāṇas, a commentary on Patañjali's Yoga Sūtras and the Brahmasūtra; the Bhāgavata Purāṇa counts him among the twenty-two main avatars of Viṣṇu; in the Gītā (10.37) Kṛṣṇa says 'Among Maharṣis I am Vyāsa'. He is also a character inside the story, at the beginning and the end. Regional versions say that on Brahmā's advice Gaṇapati became the scribe, under a pact: Vyāsa must dictate without pause, and Gaṇeśa would write only after understanding each verse. The Itihāsa was narrated by Vaiśampāyana in Janamejaya's sarpa-satra and by Ugraśravas (son of Lomaharṣaṇa) to the Ṛṣis at Naimiṣāraṇya in Śaunaka's satra. Ādi Parva says Vyāsa composed sixty lakh ślokas: 30 lakh for the Devas, 15 lakh for the Pitṛs, 14 lakh for the Gandharvas and 1 lakh for humankind.
Inside the story, Vyāsa gives a tree metaphor in Ādi Parva: Duryodhana is a huge tree of anger (Karṇa the trunk, Śakuni the branch, Duḥśāsana the flowers and fruits, blind Dhṛtarāṣṭra the roots), while Yudhiṣṭhira is a tree of Dharma (Arjuna the trunk, Bhīma the branch, Nakula-Sahadeva the flowers and fruits, and Kṛṣṇa, the Brahmajñānis and the Vedas the roots). The cast includes Devas, Asuras, Rākṣasas, Yakṣas, Gandharvas, Apsarasas, Nāgas, kings, purohitas, traders, sūtas, ṛṣis, queens, dāsas, niṣādas, mlecchas, yavanas, animals, birds, rivers and mountains. Hastināpura and Indraprastha are the main centres, with Dvārakā, the Gaṅgā, Magadha, Pañcāla and Matsya often central too. It begins with Janamejaya, then goes back to Bhīṣma, Kuru, Bharata and even creation. Subplots include Garuḍa, Nala, Duṣyanta, Śrī Rāma, Viśvāmitra, Śibi, Rantideva, Paraśurāma and Hariścandra.
Conclusion: the Itihāsa teaches us to judge actions by the whole trail of karma and karmaphala, including earlier lives, and not just the present context. It goes beyond simple true-false or good-evil, openly discussing the adharma of the dharmic side and the dharma of the adharmic side, and warns that dharma-tattva is subtle. It is known as Jaya, Bhārata, Kṛṣṇaveda and Mahābhārata, and begins with the maṅgalācaraṇa śloka: 'nārāyaṇaṃ namaskṛtya naraṃ caiva narottamam, devīṃ sarasvatīṃ vyāsaṃ tato jayam udīrayet'. Nara-Nārāyaṇa were Mahāmunis, parts of Viṣṇu, who took birth in Dvāpara Yuga as Kṛṣṇa and Arjuna. The reader is invited to approach with śraddhā and saddharmaniṣṭhā, treating the study as an upanayana (initiation) into the wisdom of Bhāratamātā.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When the Devas weighed the four Vedas against it, the scale tipped towards Mahābhārata. It also conveys the Vedas' supreme ideas to untrained people, as Itihāsa. Chāndogya Upaniṣad calls Purāṇas and Itihāsas the fifth Veda.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weighing of knowledge
- Devas weighed the 4 Vedas (Ṛg, Yajur, Sāma, Atharva) against Mahābhārata; the scale tipped towards Mahābhārata.
- Vedas have no beginning or end: an infinite source of wisdom, accepted as supreme by both Itihāsas.
- All Itihāsas and Purāṇas aim to convey Vedic ideas to untrained people.
- Called pañcama-veda (fifth Veda). Chāndogya Upaniṣad (7.1.2) says the same of Purāṇas and Itihāsas; Nāṭyaśāstra and Āyurveda are sometimes classed so.
Check for understanding: Why is Mahābhārata called the fifth Veda?
Model answer: When the Devas weighed the four Vedas against it, the scale tipped towards Mahābhārata. It also conveys the Vedas' supreme ideas to untrained people, as Itihāsa. Chāndogya Upaniṣad calls Purāṇas and Itihāsas the fifth Veda.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Name, size and greatness
- Verse: mahattvāt bhāravattvāc ca mahābhāratam ucyate (named for greatness and weight).
- 18 lakh words / 1 lakh ślokas; 4 times Rāmāyaṇa; Iliad + Odyssey = only one-tenth.
- Contents: philosophy, spirituality, devotion, dharma-adharma, politics, warfare, history, geography, aesthetics.
- Contains Viṣṇu Sahasranāma and Śiva Sahasranāma, and stutis of Śiva, Viṣṇu, Durgā and Agni.
Check for understanding: Explain the meaning and derivation of the name Mahābhārata.
Model answer: From 'mahattvāt bhāravattvāc ca mahābhāratam ucyate': because of greatness (mahattva) and weight/size (bhāravattva). It has about 18 lakh words (1 lakh ślokas).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The Bhagavadgītā connection
- Ādi Śaṅkarācārya: Gītā = quintessence of all the Vedas ('gītā-śāstraṃ samasta-vedārtha-sāra-saṅgraha-bhūtam').
- Commentators: Abhinavagupta (Kaśmīra Śaiva), Madhvācārya (Dvaita), Rāmānujācārya (Viśiṣṭādvaita).
- About 227 discourses on the Gītā in Saṃskṛtam alone.
- Tilak: Gītārahasyam (Karmayoga) for the freedom movement; Gandhi and Aurobindo inspired by Gītā.
- Influence: media, names of places and people, traditions, temples; earlier Indonesia and Cambodia, now worldwide.
Check for understanding: Compare the size of Mahābhārata with Rāmāyaṇa and the Greek epics.
Model answer: It is four times Rāmāyaṇa; Iliad and Odyssey together are only one-tenth of it. It is the biggest literary work in human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What is an Itihāsa?
- Iti + ha + āsa = 'so indeed it was'.
- Not history (analysis and interpretation of past), not historical fiction (history plus imagination), not myth (divine beings), not epic (Aristotle: one incident, origin-progress-consequence).
- Definition: 'dharmārtha-kāma-mokṣāṇām upadeśa-samanvitam, pūrva-vṛtta-kathā-yuktam itihāsaṃ pracakṣate'.
- Calling it an epic = categorical blunder.
- Vivekananda: encyclopedia of knowledge; presents an ideal culture still to be achieved.
- MB 1.56.33: 'what is here may be found elsewhere; what is not here is found nowhere.'
Check for understanding: What is an Itihāsa? How is it different from history, myth and epic?
Model answer: 'Iti ha āsa' = so indeed it was. It tells past events as stories that carry instruction on dharma, artha, kāma and mokṣa. History is analysis of the past; fiction adds imagination; myth is about divine beings; an epic (Aristotle) is built on one incident with origin, progress and consequences. Itihāsa fits none, so calling it an epic is a categorical blunder.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The four puruṣārthas
- Kāma = desire.
- Artha = effort/wealth to fulfil desire.
- Dharma = care not to disturb balance with nature and fellow beings.
- Mokṣa = freedom from the bondage of artha and kāma.
- Rule: earn artha and enjoy kāma in accordance with dharma; then all beings move towards mokṣa.
- MB 1.1.205: Veda fears the alpaśruta (half-knowledgeable); so explain Veda through Itihāsa-Purāṇa.
- Characters are historic and also mirror inner conflicts; the war represents our internal struggle (Amritanandamayi Devi).
Check for understanding: Explain the four puruṣārthas as given in this chapter.
Model answer: Kāma: desire. Artha: effort/wealth to fulfil desire. Dharma: care to keep the balance with nature and fellow beings. Mokṣa: freedom from bondage to artha and kāma. Artha and kāma must be pursued per dharma, leading all beings towards mokṣa.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The author, scribe and narrators
- Vyāsa: born Kṛṣṇa Dvaipāyana to Satyavatī and Parāśara; island birth.
- Divided Vedas into four; composed the fifth Veda; credited with 18 Purāṇas, commentary on Yoga Sūtras, Brahmasūtra.
- Bhāgavata Purāṇa: one of 22 main avatars of Viṣṇu. Gītā 10.37: 'Among Maharṣis I am Vyāsa'.
- Vyāsa is also a character in the story (beginning and end).
- Regional versions: Brahmā advised; Gaṇapati wrote; pact: no pause in dictation / write only after understanding.
- Narrators: Vaiśampāyana (Janamejaya's sarpa-satra) and Ugraśravas son of Lomaharṣaṇa (Naimiṣāraṇya, Śaunaka's satra).
- Vyāsa also narrated to son Śuka and other śiṣyas.
- 60 lakh ślokas: 30 (Devas), 15 (Pitṛs), 14 (Gandharvas), 1 (humans).
Check for understanding: What does MB 1.56.33 declare?
Model answer: Whatever is said here about dharma, artha, kāma and mokṣa may be found elsewhere; what is not here is found nowhere. It shows the text's completeness.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Inside the Itihāsa: cast, places, subplots
- Tree metaphor (Ādi Parva) comparing Duryodhana and Yudhiṣṭhira.
- Beings: Devas, Asuras, Rākṣasas, Yakṣas, Gandharvas, Apsarasas, Nāgas; humans of all kinds incl. kings, purohitas, traders, sūtas, ṛṣis, dāsas, niṣādas, mlecchas, yavanas.
- Centres: Hastināpura, Indraprastha; also Dvārakā, Gaṅgā, Magadha, Pañcāla, Matsya.
- Vaṃśas: Bharata, Vṛṣṇi (Kṛṣṇa), Pauravā.
- Starts with Janamejaya, then goes back to Bhīṣma, Kuru, Bharata, even creation.
- Subplots: Garuḍa, Nala, Duṣyanta, Śrī Rāma, Viśvāmitra, Śibi, Rantideva, Paraśurāma, Hariścandra.
Check for understanding: Why does the Veda need Itihāsa and Purāṇa (MB 1.1.205)?
Model answer: The Veda is 'afraid' of alpaśrutas, people with half-knowledge who may misinterpret it, so its essence is explained through Itihāsa and Purāṇa.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Conclusion and maṅgalācaraṇa
- View actions through karma and karmaphala, including previous lives.
- Goes beyond truth-false and good-evil; shows the adharma of the dharmic side and dharma of the adharmic side.
- Dharma-tattva is subtle, difficult to grasp.
- Four names: Jaya, Bhārata, Kṛṣṇaveda, Mahābhārata.
- Begins with maṅgalācaraṇa: salute Nara-Nārāyaṇa, Sarasvatī and Vyāsa, then recite Jaya.
- Approach with śraddhā and saddharmaniṣṭhā; study = upanayana into the wisdom of Bhāratamātā.
Check for understanding: Who was Vyāsa? List five facts.
Model answer: Born Kṛṣṇa Dvaipāyana to Satyavatī and Parāśara; born on an island; divided the Vedas into four; composed the fifth Veda; credited with 18 Purāṇas, a Yoga Sūtra commentary and Brahmasūtra; one of 22 avatars of Viṣṇu; a character in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When the Devas weighed the four Vedas against it, the scale tipped towards Mahābhārata. It also conveys the Vedas' supreme ideas to untrained people, as Itihāsa. Chāndogya Upaniṣad calls Purāṇas and Itihāsas the fifth Veda.
Q2. From 'mahattvāt bhāravattvāc ca mahābhāratam ucyate': because of greatness (mahattva) and weight/size (bhāravattva). It has about 18 lakh words (1 lakh ślokas).
Q3. It is four times Rāmāyaṇa; Iliad and Odyssey together are only one-tenth of it. It is the biggest literary work in human history.
Q4. 'Iti ha āsa' = so indeed it was. It tells past events as stories that carry instruction on dharma, artha, kāma and mokṣa. History is analysis of the past; fiction adds imagination; myth is about divine beings; an epic (Aristotle) is built on one incident with origin, progress and consequences. Itihāsa fits none, so calling it an epic is a categorical blunder.
Q5. Kāma: desire. Artha: effort/wealth to fulfil desire. Dharma: care to keep the balance with nature and fellow beings. Mokṣa: freedom from bondage to artha and kāma. Artha and kāma must be pursued per dharma, leading all beings towards mokṣa.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Whatever is said here about dharma, artha, kāma and mokṣa may be found elsewhere; what is not here is found nowhere. It shows the text's completeness.
Q7. The Veda is 'afraid' of alpaśrutas, people with half-knowledge who may misinterpret it, so its essence is explained through Itihāsa and Purāṇa.
Q8. Born Kṛṣṇa Dvaipāyana to Satyavatī and Parāśara; born on an island; divided the Vedas into four; composed the fifth Veda; credited with 18 Purāṇas, a Yoga Sūtra commentary and Brahmasūtra; one of 22 avatars of Viṣṇu; a character in the story.
Q9. On Brahmā's advice Gaṇapati became scribe. Gaṇeśa required Vyāsa to dictate without pause; Vyāsa required that Gaṇeśa write only after fully understanding each verse. (Regional versions.)
Q10. Vaiśampāyana, on Vyāsa's command, at Janamejaya's sarpa-satra; and Ugraśravas, son of Lomaharṣaṇa, to the Ṛṣis at Naimiṣāraṇya in Śaunaka's satra.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Duryodhana is a tree of anger: roots Dhṛtarāṣṭra, trunk Karṇa, branch Śakuni, flowers and fruits Duḥśāsana. Yudhiṣṭhira is a tree of Dharma: roots Kṛṣṇa, Brahmajñānis and the Vedas; trunk Arjuna; branch Bhīma; flowers and fruits Nakula-Sahadeva.
Q12. Śaṅkara called it the essence of the Vedas; Abhinavagupta, Madhva and Rāmānuja wrote on it; about 227 discourses exist in Saṃskṛtam; Tilak wrote Gītārahasyam (Karmayoga); Gandhi and Aurobindo were inspired by it.
Q13. Actions must be seen through karma and karmaphala, including past lives. The text shows adharma on the dharmic side and dharma on the adharmic side, and says dharma-tattva is subtle. Truth-false and good-evil alone are not enough.
Q14. Having bowed to Nārāyaṇa, to Nara the best of men, to Goddess Sarasvatī and to Vyāsa, one should recite Jaya. Nara-Nārāyaṇa are Mahāmunis who took birth as Arjuna and Kṛṣṇa in Dvāpara Yuga.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When the Devas weighed the four Vedas against it, the scale tipped towards Mahābhārata. It also conveys the Vedas' supreme ideas to untrained people, as Itihāsa. Chāndogya Upaniṣad calls Purāṇas and Itihāsas the fifth Veda.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 · A Preamble to the Grand Itihāsa</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1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 Preamble to the Grand Itihāsa</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3 to 14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Devas weighed the four Vedas against Mahābhārata and the scale tipped towards Mahābhārata, so it is called the pañcama-veda (fifth Veda).</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Name = from mahattva (greatness) + bhāravattva (weight): great in size and in substance.</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Itihāsa = 'iti ha āsa' = 'so indeed it was'. It is not history, myth or epic; it teaches dharma, artha, kāma, mokṣa through true stories.</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Author: Maharṣi Veda Vyāsa; scribe (in regional versions): Gaṇapati; narrators: Vaiśampāyana and Ugraśravas.</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Begins with the maṅgalācaraṇa śloka to Nara-Nārāyaṇa, Sarasvatī and Vyāsa.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Why is Mahābhārata called the fifth Veda?</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weighing of knowledge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The weighing of knowledge</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Devas weighed the 4 Vedas (Ṛg, Yajur, Sāma, Atharva) against Mahābhārata; the scale tipped towards Mahābhārata.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Vedas have no beginning or end: an infinite source of wisdom, accepted as supreme by both Itihāsas.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All Itihāsas and Purāṇas aim to convey Vedic ideas to untrained people.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Called pañcama-veda (fifth Veda). Chāndogya Upaniṣad (7.1.2) says the same of Purāṇas and Itihāsas; Nāṭyaśāstra and Āyurveda are sometimes classed so.</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Name, size and greatness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Name, size and greatness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Verse: mahattvāt bhāravattvāc ca mahābhāratam ucyate (named for greatness and weight).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18 lakh words / 1 lakh ślokas; 4 times Rāmāyaṇa; Iliad + Odyssey = only one-tenth.</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Contents: philosophy, spirituality, devotion, dharma-adharma, politics, warfare, history, geography, aesthetics.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Contains Viṣṇu Sahasranāma and Śiva Sahasranāma, and stutis of Śiva, Viṣṇu, Durgā and Agni.</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Bhagavadgītā connection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The Bhagavadgītā connection</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Ādi Śaṅkarācārya: Gītā = quintessence of all the Vedas ('gītā-śāstraṃ samasta-vedārtha-sāra-saṅgraha-bhūtam').</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Commentators: Abhinavagupta (Kaśmīra Śaiva), Madhvācārya (Dvaita), Rāmānujācārya (Viśiṣṭādvaita).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About 227 discourses on the Gītā in Saṃskṛtam alone.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Tilak: Gītārahasyam (Karmayoga) for the freedom movement; Gandhi and Aurobindo inspired by Gītā.</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Influence: media, names of places and people, traditions, temples; earlier Indonesia and Cambodia, now worldwide.</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is an Itihāsa?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What is an Itihāsa?</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Iti + ha + āsa = 'so indeed it was'.</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Not history (analysis and interpretation of past), not historical fiction (history plus imagination), not myth (divine beings), not epic (Aristotle: one incident, origin-progress-consequence).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Definition: 'dharmārtha-kāma-mokṣāṇām upadeśa-samanvitam, pūrva-vṛtta-kathā-yuktam itihāsaṃ pracakṣate'.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Calling it an epic = categorical blunder.</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Vivekananda: encyclopedia of knowledge; presents an ideal culture still to be achieved.</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MB 1.56.33: 'what is here may be found elsewhere; what is not here is found nowhere.'</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four puruṣārthas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The four puruṣārthas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Kāma = desire.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Artha = effort/wealth to fulfil desire.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Dharma = care not to disturb balance with nature and fellow beings.</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Mokṣa = freedom from the bondage of artha and kāma.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Rule: earn artha and enjoy kāma in accordance with dharma; then all beings move towards mokṣa.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MB 1.1.205: Veda fears the alpaśruta (half-knowledgeable); so explain Veda through Itihāsa-Purāṇa.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Characters are historic and also mirror inner conflicts; the war represents our internal struggle (Amritanandamayi Devi).</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author, scribe and narrators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The author, scribe and nar…</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Vyāsa: born Kṛṣṇa Dvaipāyana to Satyavatī and Parāśara; island birth.</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Divided Vedas into four; composed the fifth Veda; credited with 18 Purāṇas, commentary on Yoga Sūtras, Brahmasūtra.</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Bhāgavata Purāṇa: one of 22 main avatars of Viṣṇu. Gītā 10.37: 'Among Maharṣis I am Vyāsa'.</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Vyāsa is also a character in the story (beginning and end).</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Regional versions: Brahmā advised; Gaṇapati wrote; pact: no pause in dictation / write only after understanding.</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Narrators: Vaiśampāyana (Janamejaya's sarpa-satra) and Ugraśravas son of Lomaharṣaṇa (Naimiṣāraṇya, Śaunaka's satra).</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Vyāsa also narrated to son Śuka and other śiṣyas.</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60 lakh ślokas: 30 (Devas), 15 (Pitṛs), 14 (Gandharvas), 1 (humans).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Inside the Itihāsa: cast, places, subplots</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2" name="Current section"/>
          <p:cNvSpPr/>
          <p:nvPr/>
        </p:nvSpPr>
        <p:spPr>
          <a:xfrm>
            <a:off x="457200" y="3694176"/>
            <a:ext cx="2286000" cy="356616"/>
          </a:xfrm>
          <a:prstGeom prst="roundRect">
            <a:avLst>
              <a:gd name="adj" fmla="val 12821"/>
            </a:avLst>
          </a:prstGeom>
          <a:solidFill>
            <a:srgbClr val="F2B632"/>
          </a:solidFill>
          <a:ln w="12700">
            <a:solidFill>
              <a:srgbClr val="F2B632"/>
            </a:solidFill>
            <a:prstDash val="solid"/>
          </a:ln>
        </p:spPr>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G  Inside the Itihāsa: cast, …</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AD1457"/>
          </a:solidFill>
          <a:ln w="12700">
            <a:solidFill>
              <a:srgbClr val="AD1457"/>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G</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Tree metaphor (Ādi Parva) comparing Duryodhana and Yudhiṣṭhira.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Beings: Devas, Asuras, Rākṣasas, Yakṣas, Gandharvas, Apsarasas, Nāgas; humans of all kinds incl. kings, purohitas, traders, sūtas, ṛṣis, dāsas, niṣādas, mlecchas, yavanas.</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Centres: Hastināpura, Indraprastha; also Dvārakā, Gaṅgā, Magadha, Pañcāla, Matsya.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Vaṃśas: Bharata, Vṛṣṇi (Kṛṣṇa), Pauravā.</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Starts with Janamejaya, then goes back to Bhīṣma, Kuru, Bharata, even creation.</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Subplots: Garuḍa, Nala, Duṣyanta, Śrī Rāma, Viśvāmitra, Śibi, Rantideva, Paraśurāma, Hariścandra.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Conclusion and maṅgalācaraṇa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weighing of knowledge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Name, size and greatness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Bhagavadgītā connection</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What is an Itihāsa?</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four puruṣārthas</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The author, scribe and nar…</a:t>
            </a:r>
            <a:endParaRPr lang="en-US" sz="1050" dirty="0"/>
          </a:p>
        </p:txBody>
      </p:sp>
      <p:sp>
        <p:nvSpPr>
          <p:cNvPr id="12" name="Text 9"/>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Inside the Itihāsa: cast, …</a:t>
            </a:r>
            <a:endParaRPr lang="en-US" sz="1050" dirty="0"/>
          </a:p>
        </p:txBody>
      </p:sp>
      <p:sp>
        <p:nvSpPr>
          <p:cNvPr id="13" name="Current section"/>
          <p:cNvSpPr/>
          <p:nvPr/>
        </p:nvSpPr>
        <p:spPr>
          <a:xfrm>
            <a:off x="457200" y="4078224"/>
            <a:ext cx="2286000" cy="356616"/>
          </a:xfrm>
          <a:prstGeom prst="roundRect">
            <a:avLst>
              <a:gd name="adj" fmla="val 12821"/>
            </a:avLst>
          </a:prstGeom>
          <a:solidFill>
            <a:srgbClr val="F2B632"/>
          </a:solidFill>
          <a:ln w="12700">
            <a:solidFill>
              <a:srgbClr val="F2B632"/>
            </a:solidFill>
            <a:prstDash val="solid"/>
          </a:ln>
        </p:spPr>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H  Conclusion and maṅgalācara…</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455A64"/>
          </a:solidFill>
          <a:ln w="12700">
            <a:solidFill>
              <a:srgbClr val="455A64"/>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H</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View actions through karma and karmaphala, including previous lives.</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Goes beyond truth-false and good-evil; shows the adharma of the dharmic side and dharma of the adharmic side.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Dharma-tattva is subtle, difficult to grasp.</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Four names: Jaya, Bhārata, Kṛṣṇaveda, Mahābhārata.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Begins with maṅgalācaraṇa: salute Nara-Nārāyaṇa, Sarasvatī and Vyāsa, then recite Jaya.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Approach with śraddhā and saddharmaniṣṭhā; study = upanayana into the wisdom of Bhāratamātā.</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(1/3)</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Itihāsa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'iti ha āsa' = 'so indeed it was'; narrates past events as stories that teach the four puruṣārthas. Not history, myth or epic.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Pañcama-veda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'Fifth Veda'; title of Mahābhārata (and Purāṇas/Itihāsas).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Puruṣārtha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four goals of life: dharma, artha, kāma, mokṣa.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Care not to disturb the balance with nature and fellow beings while seeking artha and kāma.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Artha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Effort, translated as wealth, put in to fulfil desires.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Kāma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Desire; anything a person wants in worldly life.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Mokṣa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Final freedom from bondage to artha and kāma.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Alpaśruta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person of half-knowledge, who may misinterpret the Vedas.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(2/3)</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Maṅgalācaraṇa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Auspicious invocation verse at the start of a work.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Jaya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Original name of Mahābhārata (also Bhārata, Kṛṣṇaveda).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Bhāṣya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Classical commentary; many ācāryas wrote Bhāṣyas on the Gītā.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Karmaphala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Fruit of action; actions must be judged along the trail of karma, including past lives.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Dharma-tattva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subtle principle of dharma; hard to grasp.</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Sarpa-satra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Serpent sacrifice of Janamejaya, where Vaiśampāyana narrated the Itihāsa.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(3/3)</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Śraddhā and saddharmaniṣṭhā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Faith/earnestness and commitment to right dharma; attitude needed to study the text.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Upanayana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Initiation; study of Mahābhārata is likened to an initiation into wisdom.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Vedas weighed against MB</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4 (Ṛg, Yajur, Sāma, Atharva)</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Size of Mahābhārata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18 lakh words / 1 lakh ślokas</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Compared with Rāmāyaṇa</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4 times bigger</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Iliad + Odyssey</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About one-tenth of Mahābhārata</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Discourses on Gītā in Saṃskṛtam</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Around 227</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Vyāsa's total ślokas (Ādi Parva)</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60 lakh: 30 Devas, 15 Pitṛs, 14 Gandharvas, 1 human</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Vyāsa as avatar</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One of 22 main avatars of Viṣṇu (Bhāgavata Purāṇa)</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Purāṇas credited to Vyāsa</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18</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Key verse numbers</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MB 1.56.33 (what is here/elsewhere); MB 1.1.205 (Veda and alpaśruta); Gītā 10.37; Chāndogya Upaniṣad 7.1.2</a:t>
            </a:r>
            <a:endParaRPr lang="en-US" sz="11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Names of the work</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4: Jaya, Bhārata, Kṛṣṇaveda, Mahābhārata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Vyāsa (Kṛṣṇa Dvaipāyana)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Author and character; son of Satyavatī and Parāśara.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Gaṇapati / Gaṇeśa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Scribe in regional versions; wrote only after understanding.</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Brahmā</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Advised Vyāsa to use Gaṇapati as scribe.</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Vaiśampāyana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Narrator in Janamejaya's sarpa-satra.</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U</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Ugraśravas (son of Lomaharṣaṇa)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Narrator to Ṛṣis at Naimiṣāraṇya, Śaunaka's satra.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J</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Janamejaya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King; Itihāsa begins with him; grandson of Abhimanyu.</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Ā</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Ādi Śaṅkarācārya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Called Gītā the essence of the Vedas.</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Abhinavagupta, Madhvācārya, Rāmānujācārya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Commentators on Gītā (Kaśmīra Śaiva, Dvaita, Viśiṣṭādvaita).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L</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Lokmānya Tilak</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Gītārahasyam, emphasising Karmayoga.</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E07B00"/>
          </a:solidFill>
          <a:ln w="12700">
            <a:solidFill>
              <a:srgbClr val="E07B0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Gandhi and Aurobindo</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Freedom fighters inspired by the Gītā.</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2E7D32"/>
          </a:solidFill>
          <a:ln w="12700">
            <a:solidFill>
              <a:srgbClr val="2E7D32"/>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Nara-Nārāyaṇa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Mahāmunis; born as Arjuna and Kṛṣṇa in Dvāpara Yuga.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6A1B9A"/>
          </a:solidFill>
          <a:ln w="12700">
            <a:solidFill>
              <a:srgbClr val="6A1B9A"/>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Naimiṣāraṇya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Forest where Ugraśravas narrated the Itihāsa.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1565C0"/>
          </a:solidFill>
          <a:ln w="12700">
            <a:solidFill>
              <a:srgbClr val="1565C0"/>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Hastināpura, Indraprastha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Chief centres of the story.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(1/2)</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mahattvāt bhāravattvāc ca mahābhāratam ucyate</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Source of the name: because of greatness and weight.</a:t>
            </a:r>
            <a:endParaRPr lang="en-US" sz="1300" dirty="0"/>
          </a:p>
        </p:txBody>
      </p:sp>
      <p:sp>
        <p:nvSpPr>
          <p:cNvPr id="7" name="Sloka card 2"/>
          <p:cNvSpPr/>
          <p:nvPr/>
        </p:nvSpPr>
        <p:spPr>
          <a:xfrm>
            <a:off x="365760" y="1711198"/>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1711198"/>
            <a:ext cx="3840480" cy="80200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dharmārtha-kāma-mokṣāṇām upadeśa-samanvitam, pūrva-vṛtta-kathā-yuktam itihāsaṃ pracakṣate</a:t>
            </a:r>
            <a:endParaRPr lang="en-US" sz="1300" dirty="0"/>
          </a:p>
        </p:txBody>
      </p:sp>
      <p:sp>
        <p:nvSpPr>
          <p:cNvPr id="9" name="Text 6"/>
          <p:cNvSpPr txBox="1"/>
          <p:nvPr/>
        </p:nvSpPr>
        <p:spPr>
          <a:xfrm>
            <a:off x="4572000" y="1711198"/>
            <a:ext cx="4069080" cy="802005"/>
          </a:xfrm>
          <a:prstGeom prst="rect">
            <a:avLst/>
          </a:prstGeom>
          <a:noFill/>
          <a:ln/>
        </p:spPr>
        <p:txBody>
          <a:bodyPr wrap="square" lIns="0" tIns="0" rIns="0" bIns="0" rtlCol="0" anchor="ctr"/>
          <a:lstStyle/>
          <a:p>
            <a:pPr indent="0" marL="0">
              <a:buNone/>
            </a:pPr>
            <a:r>
              <a:rPr lang="en-US" sz="1300" dirty="0">
                <a:solidFill>
                  <a:srgbClr val="2A2A2A"/>
                </a:solidFill>
              </a:rPr>
              <a:t>Definition of Itihāsa: stories of the past carrying instruction on the four puruṣārthas.</a:t>
            </a:r>
            <a:endParaRPr lang="en-US" sz="1300" dirty="0"/>
          </a:p>
        </p:txBody>
      </p:sp>
      <p:sp>
        <p:nvSpPr>
          <p:cNvPr id="10" name="Sloka card 3"/>
          <p:cNvSpPr/>
          <p:nvPr/>
        </p:nvSpPr>
        <p:spPr>
          <a:xfrm>
            <a:off x="365760" y="2622931"/>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2622931"/>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dharme cārthe ca kāme ca mokṣe ca bharatarṣabha; yad ihāsti tad anyatra, yan nehāsti na tat kvacit (MB 1.56.33)</a:t>
            </a:r>
            <a:endParaRPr lang="en-US" sz="1300" dirty="0"/>
          </a:p>
        </p:txBody>
      </p:sp>
      <p:sp>
        <p:nvSpPr>
          <p:cNvPr id="12" name="Text 9"/>
          <p:cNvSpPr txBox="1"/>
          <p:nvPr/>
        </p:nvSpPr>
        <p:spPr>
          <a:xfrm>
            <a:off x="4572000" y="2622931"/>
            <a:ext cx="4069080" cy="802005"/>
          </a:xfrm>
          <a:prstGeom prst="rect">
            <a:avLst/>
          </a:prstGeom>
          <a:noFill/>
          <a:ln/>
        </p:spPr>
        <p:txBody>
          <a:bodyPr wrap="square" lIns="0" tIns="0" rIns="0" bIns="0" rtlCol="0" anchor="ctr"/>
          <a:lstStyle/>
          <a:p>
            <a:pPr indent="0" marL="0">
              <a:buNone/>
            </a:pPr>
            <a:r>
              <a:rPr lang="en-US" sz="1300" dirty="0">
                <a:solidFill>
                  <a:srgbClr val="2A2A2A"/>
                </a:solidFill>
              </a:rPr>
              <a:t>What is here may be found elsewhere; what is not here is found nowhere. Proves its completeness.</a:t>
            </a:r>
            <a:endParaRPr lang="en-US" sz="1300" dirty="0"/>
          </a:p>
        </p:txBody>
      </p:sp>
      <p:sp>
        <p:nvSpPr>
          <p:cNvPr id="13" name="Sloka card 4"/>
          <p:cNvSpPr/>
          <p:nvPr/>
        </p:nvSpPr>
        <p:spPr>
          <a:xfrm>
            <a:off x="365760" y="3534664"/>
            <a:ext cx="8412480" cy="595630"/>
          </a:xfrm>
          <a:prstGeom prst="roundRect">
            <a:avLst>
              <a:gd name="adj" fmla="val 12281"/>
            </a:avLst>
          </a:prstGeom>
          <a:solidFill>
            <a:srgbClr val="FFF4D6"/>
          </a:solidFill>
          <a:ln w="12700">
            <a:solidFill>
              <a:srgbClr val="EAD9C4"/>
            </a:solidFill>
            <a:prstDash val="solid"/>
          </a:ln>
        </p:spPr>
      </p:sp>
      <p:sp>
        <p:nvSpPr>
          <p:cNvPr id="14" name="Text 11"/>
          <p:cNvSpPr txBox="1"/>
          <p:nvPr/>
        </p:nvSpPr>
        <p:spPr>
          <a:xfrm>
            <a:off x="548640" y="3534664"/>
            <a:ext cx="3840480" cy="59563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itihāsa-purāṇābhyāṃ vedaṃ samupabṛṃhayet (MB 1.1.205)</a:t>
            </a:r>
            <a:endParaRPr lang="en-US" sz="1300" dirty="0"/>
          </a:p>
        </p:txBody>
      </p:sp>
      <p:sp>
        <p:nvSpPr>
          <p:cNvPr id="15" name="Text 12"/>
          <p:cNvSpPr txBox="1"/>
          <p:nvPr/>
        </p:nvSpPr>
        <p:spPr>
          <a:xfrm>
            <a:off x="4572000" y="3534664"/>
            <a:ext cx="4069080" cy="595630"/>
          </a:xfrm>
          <a:prstGeom prst="rect">
            <a:avLst/>
          </a:prstGeom>
          <a:noFill/>
          <a:ln/>
        </p:spPr>
        <p:txBody>
          <a:bodyPr wrap="square" lIns="0" tIns="0" rIns="0" bIns="0" rtlCol="0" anchor="ctr"/>
          <a:lstStyle/>
          <a:p>
            <a:pPr indent="0" marL="0">
              <a:buNone/>
            </a:pPr>
            <a:r>
              <a:rPr lang="en-US" sz="1300" dirty="0">
                <a:solidFill>
                  <a:srgbClr val="2A2A2A"/>
                </a:solidFill>
              </a:rPr>
              <a:t>Explain the Veda through Itihāsa and Purāṇa, since the Veda fears the alpaśruta.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(2/2)</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gītā-śāstraṃ samasta-vedārtha-sāra-saṅgraha-bhūtam</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Śaṅkarācārya: the Gītā is the essence of all Vedic meaning.</a:t>
            </a:r>
            <a:endParaRPr lang="en-US" sz="1300" dirty="0"/>
          </a:p>
        </p:txBody>
      </p:sp>
      <p:sp>
        <p:nvSpPr>
          <p:cNvPr id="7" name="Sloka card 2"/>
          <p:cNvSpPr/>
          <p:nvPr/>
        </p:nvSpPr>
        <p:spPr>
          <a:xfrm>
            <a:off x="365760" y="1711198"/>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1711198"/>
            <a:ext cx="3840480" cy="802005"/>
          </a:xfrm>
          <a:prstGeom prst="rect">
            <a:avLst/>
          </a:prstGeom>
          <a:noFill/>
          <a:ln/>
        </p:spPr>
        <p:txBody>
          <a:bodyPr wrap="square" lIns="0" tIns="0" rIns="0" bIns="0" rtlCol="0" anchor="ctr"/>
          <a:lstStyle/>
          <a:p>
            <a:pPr indent="0" marL="0">
              <a:buNone/>
            </a:pPr>
            <a:r>
              <a:rPr lang="en-US" sz="1300" i="1" dirty="0">
                <a:solidFill>
                  <a:srgbClr val="1565C0"/>
                </a:solidFill>
                <a:latin typeface="Cambria" pitchFamily="34" charset="0"/>
                <a:ea typeface="Cambria" pitchFamily="34" charset="-122"/>
                <a:cs typeface="Cambria" pitchFamily="34" charset="-120"/>
              </a:rPr>
              <a:t>nārāyaṇaṃ namaskṛtya naraṃ caiva narottamam; devīṃ sarasvatīṃ vyāsaṃ tato jayam udīrayet</a:t>
            </a:r>
            <a:endParaRPr lang="en-US" sz="1300" dirty="0"/>
          </a:p>
        </p:txBody>
      </p:sp>
      <p:sp>
        <p:nvSpPr>
          <p:cNvPr id="9" name="Text 6"/>
          <p:cNvSpPr txBox="1"/>
          <p:nvPr/>
        </p:nvSpPr>
        <p:spPr>
          <a:xfrm>
            <a:off x="4572000" y="1711198"/>
            <a:ext cx="4069080" cy="802005"/>
          </a:xfrm>
          <a:prstGeom prst="rect">
            <a:avLst/>
          </a:prstGeom>
          <a:noFill/>
          <a:ln/>
        </p:spPr>
        <p:txBody>
          <a:bodyPr wrap="square" lIns="0" tIns="0" rIns="0" bIns="0" rtlCol="0" anchor="ctr"/>
          <a:lstStyle/>
          <a:p>
            <a:pPr indent="0" marL="0">
              <a:buNone/>
            </a:pPr>
            <a:r>
              <a:rPr lang="en-US" sz="1300" dirty="0">
                <a:solidFill>
                  <a:srgbClr val="2A2A2A"/>
                </a:solidFill>
              </a:rPr>
              <a:t>Maṅgalācaraṇa: salute Nārāyaṇa, Nara, Sarasvatī and Vyāsa before reciting Jaya.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Itihāsa vs. History, Myth and Epic</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94828"/>
                <a:gridCol w="631765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Genre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is (as per the book)</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History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Analysis and interpretation of the past.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Historical fiction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History plus imagination and literary tools.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Myth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Stories about the divine or beings with divine powers, though they discuss ideology, morality and righteousness.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Epic (Aristotle)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Narrative around one incident, its origin, progress and consequences.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Itihāsa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Past events told as stories to teach dharma, artha, kāma, mokṣa; has none of the epic's single-incident pattern.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two trees (Ādi Parva metaphor)</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Duryodhana's tree (anger)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Yudhiṣṭhira's tree (Dharma)</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Roots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Dhṛtarāṣṭra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 Brahmajñānis, the Vedas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Trunk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Branch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Śakuni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Flowers and fruits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Duḥśāsana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Nakula and Sahadeva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MB = M.A.P. : Mahattva (greatness) + bhāra (weight) -&gt; named for size AND substance.</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Itihāsa test: 'iti ha āsa' (so indeed it was) + teaches 4 puruṣārthas. Remember D-A-K-M order as in the verse: Dharma, Artha, Kāma, Mokṣa.</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Tree trick: Roots-Trunk-Branch-Fruit. Duryodhana: Dhṛtarāṣṭra-Karṇa-Śakuni-Duḥśāsana. Yudhiṣṭhira: Kṛṣṇa-Arjuna-Bhīma-Nakula/Sahadeva.</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60 lakh split: 30 + 15 + 14 + 1 = 60 (Devas, Pitṛs, Gandharvas, Humans).</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Numbers to memorise: 4 Vedas, 18 lakh words, 1 lakh ślokas, 4x Rāmāyaṇa, 1/10 Iliad+Odyssey, 227 Gītā discourses, 22 avatars, 18 Purāṇas.</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Three Gītā schools named: Kaśmīra Śaiva (Abhinavagupta), Dvaita (Madhva), Viśiṣṭādvaita (Rāmānuja) plus Śaṅkara (Advaita).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Why is Mahābhārata called the fifth Veda?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Explain the meaning and derivation of the name Mahābhārata.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Compare the size of Mahābhārata with Rāmāyaṇa and the Greek epics.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What is an Itihāsa? How is it different from history, myth and epic?</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Explain the four puruṣārthas as given in this chapter.</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does MB 1.56.33 declare?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Why does the Veda need Itihāsa and Purāṇa (MB 1.1.205)?</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Who was Vyāsa? List five facts.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Describe the Vyāsa-Gaṇapati pact.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Who narrated Mahābhārata and where?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Q14)</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Describe Vyāsa's tree metaphor for Duryodhana and Yudhiṣṭhira.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Q12.  How has the Bhagavadgītā influenced Indian thought?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Q13.  What does the conclusion say about judging actions and dharma?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Q14.  Translate and explain the maṅgalācaraṇa śloka.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(1/5)</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Why is Mahābhārata called the fifth Veda?</a:t>
            </a:r>
            <a:endParaRPr lang="en-US" sz="1200" dirty="0"/>
          </a:p>
          <a:p>
            <a:pPr indent="0" marL="0">
              <a:buNone/>
            </a:pPr>
            <a:r>
              <a:rPr lang="en-US" sz="1200" dirty="0">
                <a:solidFill>
                  <a:srgbClr val="2A2A2A"/>
                </a:solidFill>
              </a:rPr>
              <a:t>When the Devas weighed the four Vedas against it, the scale tipped towards Mahābhārata. It also conveys the Vedas' supreme ideas to untrained people, as Itihāsa. Chāndogya Upaniṣad calls Purāṇas and Itihāsas the fifth Veda.</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Explain the meaning and derivation of the name Mahābhārata.</a:t>
            </a:r>
            <a:endParaRPr lang="en-US" sz="1200" dirty="0"/>
          </a:p>
          <a:p>
            <a:pPr indent="0" marL="0">
              <a:buNone/>
            </a:pPr>
            <a:r>
              <a:rPr lang="en-US" sz="1200" dirty="0">
                <a:solidFill>
                  <a:srgbClr val="2A2A2A"/>
                </a:solidFill>
              </a:rPr>
              <a:t>From 'mahattvāt bhāravattvāc ca mahābhāratam ucyate': because of greatness (mahattva) and weight/size (bhāravattva). It has about 18 lakh words (1 lakh ślokas).</a:t>
            </a:r>
            <a:endParaRPr lang="en-US" sz="1200" dirty="0"/>
          </a:p>
        </p:txBody>
      </p:sp>
      <p:sp>
        <p:nvSpPr>
          <p:cNvPr id="8" name="Answer 3"/>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Compare the size of Mahābhārata with Rāmāyaṇa and the Greek epics.</a:t>
            </a:r>
            <a:endParaRPr lang="en-US" sz="1200" dirty="0"/>
          </a:p>
          <a:p>
            <a:pPr indent="0" marL="0">
              <a:buNone/>
            </a:pPr>
            <a:r>
              <a:rPr lang="en-US" sz="1200" dirty="0">
                <a:solidFill>
                  <a:srgbClr val="2A2A2A"/>
                </a:solidFill>
              </a:rPr>
              <a:t>It is four times Rāmāyaṇa; Iliad and Odyssey together are only one-tenth of it. It is the biggest literary work in human history.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(2/5)</a:t>
            </a:r>
            <a:endParaRPr lang="en-US" sz="2600" dirty="0"/>
          </a:p>
        </p:txBody>
      </p:sp>
      <p:sp>
        <p:nvSpPr>
          <p:cNvPr id="4" name="Answer 4"/>
          <p:cNvSpPr/>
          <p:nvPr/>
        </p:nvSpPr>
        <p:spPr>
          <a:xfrm>
            <a:off x="365760" y="987552"/>
            <a:ext cx="8412480" cy="1080516"/>
          </a:xfrm>
          <a:prstGeom prst="roundRect">
            <a:avLst>
              <a:gd name="adj" fmla="val 5078"/>
            </a:avLst>
          </a:prstGeom>
          <a:solidFill>
            <a:srgbClr val="FFFFFF"/>
          </a:solidFill>
          <a:ln w="9525">
            <a:solidFill>
              <a:srgbClr val="EAD9C4"/>
            </a:solidFill>
            <a:prstDash val="solid"/>
          </a:ln>
        </p:spPr>
      </p:sp>
      <p:sp>
        <p:nvSpPr>
          <p:cNvPr id="5" name="Text 2"/>
          <p:cNvSpPr txBox="1"/>
          <p:nvPr/>
        </p:nvSpPr>
        <p:spPr>
          <a:xfrm>
            <a:off x="457200" y="987552"/>
            <a:ext cx="8229600" cy="1080516"/>
          </a:xfrm>
          <a:prstGeom prst="rect">
            <a:avLst/>
          </a:prstGeom>
          <a:noFill/>
          <a:ln/>
        </p:spPr>
        <p:txBody>
          <a:bodyPr wrap="square" lIns="0" tIns="0" rIns="0" bIns="0" rtlCol="0" anchor="ctr"/>
          <a:lstStyle/>
          <a:p>
            <a:pPr indent="0" marL="0">
              <a:buNone/>
            </a:pPr>
            <a:r>
              <a:rPr lang="en-US" sz="1200" b="1" dirty="0">
                <a:solidFill>
                  <a:srgbClr val="8C2F1B"/>
                </a:solidFill>
              </a:rPr>
              <a:t>Q4. What is an Itihāsa? How is it different from history, myth and epic?</a:t>
            </a:r>
            <a:endParaRPr lang="en-US" sz="1200" dirty="0"/>
          </a:p>
          <a:p>
            <a:pPr indent="0" marL="0">
              <a:buNone/>
            </a:pPr>
            <a:r>
              <a:rPr lang="en-US" sz="1200" dirty="0">
                <a:solidFill>
                  <a:srgbClr val="2A2A2A"/>
                </a:solidFill>
              </a:rPr>
              <a:t>'Iti ha āsa' = so indeed it was. It tells past events as stories that carry instruction on dharma, artha, kāma and mokṣa. History is analysis of the past; fiction adds imagination; myth is about divine beings; an epic (Aristotle) is built on one incident with origin, progress and consequences. Itihāsa fits none, so calling it an epic is a categorical blunder.</a:t>
            </a:r>
            <a:endParaRPr lang="en-US" sz="1200" dirty="0"/>
          </a:p>
        </p:txBody>
      </p:sp>
      <p:sp>
        <p:nvSpPr>
          <p:cNvPr id="6" name="Answer 5"/>
          <p:cNvSpPr/>
          <p:nvPr/>
        </p:nvSpPr>
        <p:spPr>
          <a:xfrm>
            <a:off x="365760" y="2132076"/>
            <a:ext cx="8412480" cy="890016"/>
          </a:xfrm>
          <a:prstGeom prst="roundRect">
            <a:avLst>
              <a:gd name="adj" fmla="val 6164"/>
            </a:avLst>
          </a:prstGeom>
          <a:solidFill>
            <a:srgbClr val="FFFFFF"/>
          </a:solidFill>
          <a:ln w="9525">
            <a:solidFill>
              <a:srgbClr val="EAD9C4"/>
            </a:solidFill>
            <a:prstDash val="solid"/>
          </a:ln>
        </p:spPr>
      </p:sp>
      <p:sp>
        <p:nvSpPr>
          <p:cNvPr id="7" name="Text 4"/>
          <p:cNvSpPr txBox="1"/>
          <p:nvPr/>
        </p:nvSpPr>
        <p:spPr>
          <a:xfrm>
            <a:off x="457200" y="2132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Q5. Explain the four puruṣārthas as given in this chapter.</a:t>
            </a:r>
            <a:endParaRPr lang="en-US" sz="1200" dirty="0"/>
          </a:p>
          <a:p>
            <a:pPr indent="0" marL="0">
              <a:buNone/>
            </a:pPr>
            <a:r>
              <a:rPr lang="en-US" sz="1200" dirty="0">
                <a:solidFill>
                  <a:srgbClr val="2A2A2A"/>
                </a:solidFill>
              </a:rPr>
              <a:t>Kāma: desire. Artha: effort/wealth to fulfil desire. Dharma: care to keep the balance with nature and fellow beings. Mokṣa: freedom from bondage to artha and kāma. Artha and kāma must be pursued per dharma, leading all beings towards mokṣa.</a:t>
            </a:r>
            <a:endParaRPr lang="en-US" sz="1200" dirty="0"/>
          </a:p>
        </p:txBody>
      </p:sp>
      <p:sp>
        <p:nvSpPr>
          <p:cNvPr id="8" name="Answer 6"/>
          <p:cNvSpPr/>
          <p:nvPr/>
        </p:nvSpPr>
        <p:spPr>
          <a:xfrm>
            <a:off x="365760" y="30861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3086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does MB 1.56.33 declare?</a:t>
            </a:r>
            <a:endParaRPr lang="en-US" sz="1200" dirty="0"/>
          </a:p>
          <a:p>
            <a:pPr indent="0" marL="0">
              <a:buNone/>
            </a:pPr>
            <a:r>
              <a:rPr lang="en-US" sz="1200" dirty="0">
                <a:solidFill>
                  <a:srgbClr val="2A2A2A"/>
                </a:solidFill>
              </a:rPr>
              <a:t>Whatever is said here about dharma, artha, kāma and mokṣa may be found elsewhere; what is not here is found nowhere. It shows the text's completeness.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(3/5)</a:t>
            </a:r>
            <a:endParaRPr lang="en-US" sz="2600" dirty="0"/>
          </a:p>
        </p:txBody>
      </p:sp>
      <p:sp>
        <p:nvSpPr>
          <p:cNvPr id="4" name="Answer 7"/>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Why does the Veda need Itihāsa and Purāṇa (MB 1.1.205)?</a:t>
            </a:r>
            <a:endParaRPr lang="en-US" sz="1200" dirty="0"/>
          </a:p>
          <a:p>
            <a:pPr indent="0" marL="0">
              <a:buNone/>
            </a:pPr>
            <a:r>
              <a:rPr lang="en-US" sz="1200" dirty="0">
                <a:solidFill>
                  <a:srgbClr val="2A2A2A"/>
                </a:solidFill>
              </a:rPr>
              <a:t>The Veda is 'afraid' of alpaśrutas, people with half-knowledge who may misinterpret it, so its essence is explained through Itihāsa and Purāṇa.</a:t>
            </a:r>
            <a:endParaRPr lang="en-US" sz="1200" dirty="0"/>
          </a:p>
        </p:txBody>
      </p:sp>
      <p:sp>
        <p:nvSpPr>
          <p:cNvPr id="6" name="Answer 8"/>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Q8. Who was Vyāsa? List five facts.</a:t>
            </a:r>
            <a:endParaRPr lang="en-US" sz="1200" dirty="0"/>
          </a:p>
          <a:p>
            <a:pPr indent="0" marL="0">
              <a:buNone/>
            </a:pPr>
            <a:r>
              <a:rPr lang="en-US" sz="1200" dirty="0">
                <a:solidFill>
                  <a:srgbClr val="2A2A2A"/>
                </a:solidFill>
              </a:rPr>
              <a:t>Born Kṛṣṇa Dvaipāyana to Satyavatī and Parāśara; born on an island; divided the Vedas into four; composed the fifth Veda; credited with 18 Purāṇas, a Yoga Sūtra commentary and Brahmasūtra; one of 22 avatars of Viṣṇu; a character in the story.</a:t>
            </a:r>
            <a:endParaRPr lang="en-US" sz="1200" dirty="0"/>
          </a:p>
        </p:txBody>
      </p:sp>
      <p:sp>
        <p:nvSpPr>
          <p:cNvPr id="8" name="Answer 9"/>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Describe the Vyāsa-Gaṇapati pact.</a:t>
            </a:r>
            <a:endParaRPr lang="en-US" sz="1200" dirty="0"/>
          </a:p>
          <a:p>
            <a:pPr indent="0" marL="0">
              <a:buNone/>
            </a:pPr>
            <a:r>
              <a:rPr lang="en-US" sz="1200" dirty="0">
                <a:solidFill>
                  <a:srgbClr val="2A2A2A"/>
                </a:solidFill>
              </a:rPr>
              <a:t>On Brahmā's advice Gaṇapati became scribe. Gaṇeśa required Vyāsa to dictate without pause; Vyāsa required that Gaṇeśa write only after fully understanding each verse. (Regional versions.)</a:t>
            </a:r>
            <a:endParaRPr lang="en-US" sz="1200" dirty="0"/>
          </a:p>
        </p:txBody>
      </p:sp>
      <p:sp>
        <p:nvSpPr>
          <p:cNvPr id="10" name="Answer 10"/>
          <p:cNvSpPr/>
          <p:nvPr/>
        </p:nvSpPr>
        <p:spPr>
          <a:xfrm>
            <a:off x="365760" y="34686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468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Who narrated Mahābhārata and where?</a:t>
            </a:r>
            <a:endParaRPr lang="en-US" sz="1200" dirty="0"/>
          </a:p>
          <a:p>
            <a:pPr indent="0" marL="0">
              <a:buNone/>
            </a:pPr>
            <a:r>
              <a:rPr lang="en-US" sz="1200" dirty="0">
                <a:solidFill>
                  <a:srgbClr val="2A2A2A"/>
                </a:solidFill>
              </a:rPr>
              <a:t>Vaiśampāyana, on Vyāsa's command, at Janamejaya's sarpa-satra; and Ugraśravas, son of Lomaharṣaṇa, to the Ṛṣis at Naimiṣāraṇya in Śaunaka's satra.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(4/5)</a:t>
            </a:r>
            <a:endParaRPr lang="en-US" sz="2600" dirty="0"/>
          </a:p>
        </p:txBody>
      </p:sp>
      <p:sp>
        <p:nvSpPr>
          <p:cNvPr id="4" name="Answer 11"/>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Q11. Describe Vyāsa's tree metaphor for Duryodhana and Yudhiṣṭhira.</a:t>
            </a:r>
            <a:endParaRPr lang="en-US" sz="1200" dirty="0"/>
          </a:p>
          <a:p>
            <a:pPr indent="0" marL="0">
              <a:buNone/>
            </a:pPr>
            <a:r>
              <a:rPr lang="en-US" sz="1200" dirty="0">
                <a:solidFill>
                  <a:srgbClr val="2A2A2A"/>
                </a:solidFill>
              </a:rPr>
              <a:t>Duryodhana is a tree of anger: roots Dhṛtarāṣṭra, trunk Karṇa, branch Śakuni, flowers and fruits Duḥśāsana. Yudhiṣṭhira is a tree of Dharma: roots Kṛṣṇa, Brahmajñānis and the Vedas; trunk Arjuna; branch Bhīma; flowers and fruits Nakula-Sahadeva.</a:t>
            </a:r>
            <a:endParaRPr lang="en-US" sz="1200" dirty="0"/>
          </a:p>
        </p:txBody>
      </p:sp>
      <p:sp>
        <p:nvSpPr>
          <p:cNvPr id="6" name="Answer 12"/>
          <p:cNvSpPr/>
          <p:nvPr/>
        </p:nvSpPr>
        <p:spPr>
          <a:xfrm>
            <a:off x="365760" y="1941576"/>
            <a:ext cx="8412480" cy="890016"/>
          </a:xfrm>
          <a:prstGeom prst="roundRect">
            <a:avLst>
              <a:gd name="adj" fmla="val 6164"/>
            </a:avLst>
          </a:prstGeom>
          <a:solidFill>
            <a:srgbClr val="FFFFFF"/>
          </a:solidFill>
          <a:ln w="9525">
            <a:solidFill>
              <a:srgbClr val="EAD9C4"/>
            </a:solidFill>
            <a:prstDash val="solid"/>
          </a:ln>
        </p:spPr>
      </p:sp>
      <p:sp>
        <p:nvSpPr>
          <p:cNvPr id="7" name="Text 4"/>
          <p:cNvSpPr txBox="1"/>
          <p:nvPr/>
        </p:nvSpPr>
        <p:spPr>
          <a:xfrm>
            <a:off x="457200" y="19415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Q12. How has the Bhagavadgītā influenced Indian thought?</a:t>
            </a:r>
            <a:endParaRPr lang="en-US" sz="1200" dirty="0"/>
          </a:p>
          <a:p>
            <a:pPr indent="0" marL="0">
              <a:buNone/>
            </a:pPr>
            <a:r>
              <a:rPr lang="en-US" sz="1200" dirty="0">
                <a:solidFill>
                  <a:srgbClr val="2A2A2A"/>
                </a:solidFill>
              </a:rPr>
              <a:t>Śaṅkara called it the essence of the Vedas; Abhinavagupta, Madhva and Rāmānuja wrote on it; about 227 discourses exist in Saṃskṛtam; Tilak wrote Gītārahasyam (Karmayoga); Gandhi and Aurobindo were inspired by it.</a:t>
            </a:r>
            <a:endParaRPr lang="en-US" sz="1200" dirty="0"/>
          </a:p>
        </p:txBody>
      </p:sp>
      <p:sp>
        <p:nvSpPr>
          <p:cNvPr id="8" name="Answer 13"/>
          <p:cNvSpPr/>
          <p:nvPr/>
        </p:nvSpPr>
        <p:spPr>
          <a:xfrm>
            <a:off x="365760" y="2895600"/>
            <a:ext cx="8412480" cy="890016"/>
          </a:xfrm>
          <a:prstGeom prst="roundRect">
            <a:avLst>
              <a:gd name="adj" fmla="val 6164"/>
            </a:avLst>
          </a:prstGeom>
          <a:solidFill>
            <a:srgbClr val="FFFFFF"/>
          </a:solidFill>
          <a:ln w="9525">
            <a:solidFill>
              <a:srgbClr val="EAD9C4"/>
            </a:solidFill>
            <a:prstDash val="solid"/>
          </a:ln>
        </p:spPr>
      </p:sp>
      <p:sp>
        <p:nvSpPr>
          <p:cNvPr id="9" name="Text 6"/>
          <p:cNvSpPr txBox="1"/>
          <p:nvPr/>
        </p:nvSpPr>
        <p:spPr>
          <a:xfrm>
            <a:off x="457200" y="28956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Q13. What does the conclusion say about judging actions and dharma?</a:t>
            </a:r>
            <a:endParaRPr lang="en-US" sz="1200" dirty="0"/>
          </a:p>
          <a:p>
            <a:pPr indent="0" marL="0">
              <a:buNone/>
            </a:pPr>
            <a:r>
              <a:rPr lang="en-US" sz="1200" dirty="0">
                <a:solidFill>
                  <a:srgbClr val="2A2A2A"/>
                </a:solidFill>
              </a:rPr>
              <a:t>Actions must be seen through karma and karmaphala, including past lives. The text shows adharma on the dharmic side and dharma on the adharmic side, and says dharma-tattva is subtle. Truth-false and good-evil alone are not enough.</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(5/5)</a:t>
            </a:r>
            <a:endParaRPr lang="en-US" sz="2600" dirty="0"/>
          </a:p>
        </p:txBody>
      </p:sp>
      <p:sp>
        <p:nvSpPr>
          <p:cNvPr id="4" name="Answer 14"/>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Q14. Translate and explain the maṅgalācaraṇa śloka.</a:t>
            </a:r>
            <a:endParaRPr lang="en-US" sz="1200" dirty="0"/>
          </a:p>
          <a:p>
            <a:pPr indent="0" marL="0">
              <a:buNone/>
            </a:pPr>
            <a:r>
              <a:rPr lang="en-US" sz="1200" dirty="0">
                <a:solidFill>
                  <a:srgbClr val="2A2A2A"/>
                </a:solidFill>
              </a:rPr>
              <a:t>Having bowed to Nārāyaṇa, to Nara the best of men, to Goddess Sarasvatī and to Vyāsa, one should recite Jaya. Nara-Nārāyaṇa are Mahāmunis who took birth as Arjuna and Kṛṣṇa in Dvāpara Yuga.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Fifth Veda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Mahābhārata (pañcama-veda).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Size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18 lakh words, 1 lakh ślokas.</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Itihāsa means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'So indeed it was'.</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Scribe in regional versions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Gaṇapati.</a:t>
            </a:r>
            <a:endParaRPr lang="en-US" sz="1300" dirty="0"/>
          </a:p>
        </p:txBody>
      </p:sp>
      <p:sp>
        <p:nvSpPr>
          <p:cNvPr id="16" name="Recall 5"/>
          <p:cNvSpPr/>
          <p:nvPr/>
        </p:nvSpPr>
        <p:spPr>
          <a:xfrm>
            <a:off x="365760" y="3383280"/>
            <a:ext cx="4114800" cy="1051560"/>
          </a:xfrm>
          <a:prstGeom prst="roundRect">
            <a:avLst>
              <a:gd name="adj" fmla="val 8696"/>
            </a:avLst>
          </a:prstGeom>
          <a:solidFill>
            <a:srgbClr val="FFFFFF"/>
          </a:solidFill>
          <a:ln w="25400">
            <a:solidFill>
              <a:srgbClr val="1565C0"/>
            </a:solidFill>
            <a:prstDash val="solid"/>
          </a:ln>
          <a:effectLst>
            <a:outerShdw sx="100000" sy="100000" kx="0" ky="0" algn="bl" rotWithShape="0" blurRad="63500" dist="25400" dir="5400000">
              <a:srgbClr val="000000">
                <a:alpha val="12000"/>
              </a:srgbClr>
            </a:outerShdw>
          </a:effectLst>
        </p:spPr>
      </p:sp>
      <p:sp>
        <p:nvSpPr>
          <p:cNvPr id="17" name="Text 14"/>
          <p:cNvSpPr txBox="1"/>
          <p:nvPr/>
        </p:nvSpPr>
        <p:spPr>
          <a:xfrm>
            <a:off x="502920" y="3438144"/>
            <a:ext cx="3840480" cy="502920"/>
          </a:xfrm>
          <a:prstGeom prst="rect">
            <a:avLst/>
          </a:prstGeom>
          <a:noFill/>
          <a:ln/>
        </p:spPr>
        <p:txBody>
          <a:bodyPr wrap="square" lIns="0" tIns="0" rIns="0" bIns="0" rtlCol="0" anchor="ctr"/>
          <a:lstStyle/>
          <a:p>
            <a:pPr indent="0" marL="0">
              <a:buNone/>
            </a:pPr>
            <a:r>
              <a:rPr lang="en-US" sz="1400" b="1" dirty="0">
                <a:solidFill>
                  <a:srgbClr val="1565C0"/>
                </a:solidFill>
              </a:rPr>
              <a:t>Four names = ?</a:t>
            </a:r>
            <a:endParaRPr lang="en-US" sz="1400" dirty="0"/>
          </a:p>
        </p:txBody>
      </p:sp>
      <p:sp>
        <p:nvSpPr>
          <p:cNvPr id="18" name="Text 15"/>
          <p:cNvSpPr txBox="1"/>
          <p:nvPr/>
        </p:nvSpPr>
        <p:spPr>
          <a:xfrm>
            <a:off x="502920" y="3950208"/>
            <a:ext cx="3840480" cy="438912"/>
          </a:xfrm>
          <a:prstGeom prst="rect">
            <a:avLst/>
          </a:prstGeom>
          <a:noFill/>
          <a:ln/>
        </p:spPr>
        <p:txBody>
          <a:bodyPr wrap="square" lIns="0" tIns="0" rIns="0" bIns="0" rtlCol="0" anchor="ctr"/>
          <a:lstStyle/>
          <a:p>
            <a:pPr indent="0" marL="0">
              <a:buNone/>
            </a:pPr>
            <a:r>
              <a:rPr lang="en-US" sz="1300" dirty="0">
                <a:solidFill>
                  <a:srgbClr val="2A2A2A"/>
                </a:solidFill>
              </a:rPr>
              <a:t>Jaya, Bhārata, Kṛṣṇaveda, Mahābhārata.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Devas weighed the four Vedas against Mahābhārata and the scale tipped towards Mahābhārata, so it is called the pañcama-veda (fifth Veda).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Name = from mahattva (greatness) + bhāravattva (weight): great in size and in substance.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Itihāsa = 'iti ha āsa' = 'so indeed it was'. It is not history, myth or epic; it teaches dharma, artha, kāma, mokṣa through true stories.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Author: Maharṣi Veda Vyāsa; scribe (in regional versions): Gaṇapati; narrators: Vaiśampāyana and Ugraśravas.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Begins with the maṅgalācaraṇa śloka to Nara-Nārāyaṇa, Sarasvatī and Vyāsa.</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A Preamble to the Grand Itihāsa</dc:title>
  <dc:subject>PptxGenJS Presentation</dc:subject>
  <dc:creator>ADM Teaching Deck</dc:creator>
  <cp:lastModifiedBy>ADM Teaching Deck</cp:lastModifiedBy>
  <cp:revision>1</cp:revision>
  <dcterms:created xsi:type="dcterms:W3CDTF">2026-10-04T11:54:20Z</dcterms:created>
  <dcterms:modified xsi:type="dcterms:W3CDTF">2026-10-04T11:54:20Z</dcterms:modified>
</cp:coreProperties>
</file>