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e0d9914-15c2-3083-b05d-a94e5deee5b6}">
          <p14:sldIdLst>
            <p14:sldId id="256"/>
            <p14:sldId id="257"/>
            <p14:sldId id="258"/>
            <p14:sldId id="259"/>
          </p14:sldIdLst>
        </p14:section>
        <p14:section name="Lesson" id="{431eba9d-ea85-e207-f759-00810ead9004}">
          <p14:sldIdLst>
            <p14:sldId id="260"/>
            <p14:sldId id="261"/>
            <p14:sldId id="262"/>
            <p14:sldId id="263"/>
            <p14:sldId id="264"/>
            <p14:sldId id="265"/>
          </p14:sldIdLst>
        </p14:section>
        <p14:section name="Key facts" id="{683ca180-19c3-45fd-0561-512dea8377ee}">
          <p14:sldIdLst>
            <p14:sldId id="266"/>
            <p14:sldId id="267"/>
            <p14:sldId id="268"/>
            <p14:sldId id="269"/>
            <p14:sldId id="270"/>
            <p14:sldId id="271"/>
            <p14:sldId id="272"/>
          </p14:sldIdLst>
        </p14:section>
        <p14:section name="Review" id="{cba18b67-21bb-da04-3d89-1129e3fe3301}">
          <p14:sldIdLst>
            <p14:sldId id="273"/>
            <p14:sldId id="274"/>
            <p14:sldId id="275"/>
            <p14:sldId id="276"/>
            <p14:sldId id="277"/>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Teacher's script for the whole chapter (summary):
Reading Mahābhārata feels like meeting the divine: devas thunder 'Bhīṣma, Bhīṣma' at Devavrata's vow and shower flowers when the Pāṇḍavas are born, while a donkey brays at Duryodhana's birth. The chapter opens with Maharṣi Aṇīmāṇḍavya, wrongly taken for a thief, impaled on a spear; the thieves died but he lived, and the spear could not be removed even after the king released him. When he reached Yama's abode, he cursed Yama-Dharma for misinterpreting Dharma. Even Dharmadeva is not above Dharma. The Itihāsa gives complex logic, contexts and emotions, forcing the student to churn heart and mind, and that churning itself builds understanding of Dharma.
Bhīṣma Pratijñā (Ādi Parva): Devavrata, the appointed yuvarāja, learns of his father Śantanu's love for Satyavatī. Her father's condition was that her son be the next king; Śantanu rejected it, but Devavrata accepted on his own, without counsel, taking a lifelong vow of brahmacarya and giving up the throne. He earned the name Bhīṣma and the power to choose the time of death. The book questions it: his father's life, the kingdom and his own life did not depend on it; it only served his father's kāma. As yuvarāja he had a duty to seek permission and counsel, and no one could be sure Satyavatī's sons would be morally and intellectually fit kings. Her sons died childless (Vicitravīrya left widows Ambikā and Ambālikā). Satyavatī asked Bhīṣma both to father heirs (niyoga) and to take the throne; he refused both. Vyāsa fathered Dhṛtarāṣṭra and Pāṇḍu, and Vidura (born to a maid); the blind Dhṛtarāṣṭra and the sons of the maid could not be king, Pāṇḍu ruled well but died soon, and the throne was empty again. Stable kingship came only after the war, in which 18 akṣauhiṇīs died.
Nuance: the vow was a feat impossible for most men. Even Arjuna could not keep his twelve years of brahmacarya in exile after entering when Yudhiṣṭhira and Draupadī were together, and Śantanu (Mahābhiṣa, born as Śantanu on Brahmā's instruction) was drawn to Gaṅgā and Satyavatī. So Bhīṣma is the brahmacarya archetype. But bound by his vow, he became powerless before a blind king and his son. Is he the archetype of Dharma or of Pratijñā? When vows contradict Dharma, what then? The chapter studies vows of Gāndhārī, Arjuna and Bhīma.
Gāndhārī, daughter of Subala of Gāndhāra, was married to the blind Dhṛtarāṣṭra after Bhīṣma's proposal. On learning this, she blindfolded herself, resolving never to experience more than her husband. Praised widely, but was it right? Modern scholars ask whether marriage needs equality or compatibility, and complementing each other. The hasty vow blinded her to Duryodhana's stubbornness and ego; improper parenting contributed to unprincipled characters, and keeping her eyes closed also means turning a blind eye to her sons' deeds. Had she instead been her husband's eyes, things might differ. Amma: motherhood is as vast as the universe, and with it a woman can influence the world; Gāndhārī failed to influence her children. Her vow came from an instant emotion at a young age, not clarity.
Arjuna's vow: after Abhimanyu was killed on day 13, he swore to kill Jayadratha before sunset the next day. Droṇa had built the Cakravyūha; Jayadratha's interference stopped the other Pāṇḍava warriors from following Abhimanyu in; Abhimanyu broke in, killed Duryodhana's son and many princes, but was attacked by many warriors together against dharmayuddha ethics and killed by a final blow from Duḥśāsana's son. Duryodhana and Droṇa arranged three vyūhas to shield Jayadratha. Bhīma, Sātyaki and Arjuna tore through, but Jayadratha hid behind Droṇa and sunset was near. Kṛṣṇa's Sudarśana cakra masked the sun; Jayadratha came out; Kṛṣṇa withdrew the cakra and Arjuna killed him with the Pāśupatāstra using his Gāṇḍīva. The vow came from anger, not clear thought, and succeeded only by Kṛṣṇa's intervention.
Bhīma's vows: after the dice game and Draupadī's humiliation he vowed to kill Duḥśāsana, tear open his chest and drink his blood; when Duryodhana gestured Draupadī to sit on his thigh, he vowed to break it. Yet in Udyoga Parva, when Kṛṣṇa consulted all the Pāṇḍavas and Draupadī before the peace mission, Bhīma favoured peace, willing to forgo his vows. In war he killed Duḥśāsana without conflict with Dharma. In the final mace duel (Duryodhana chose Bhīma; the Kaurava side then had Duryodhana, Aśvatthāmā, Kṛpa and Kṛtavarmā), Bhīma tired and Kṛṣṇa signalled him to strike the thigh; so the thigh-blow followed Kṛṣṇa's instruction, not merely his vow. Though taken in anger, his vows did not cloud his judgement.
Summary: all three vows were emotional. Gāndhārī's blinded her to her children's adharma, ending in bloodshed; Arjuna's could have trapped him; Bhīma's was tempered by Dharma. We too make vows in emotion ('I won't talk to him', silent treatment). Ask: (1) was it made from intellectual clarity or spontaneous outburst? (2) if from emotion, after seeing the bigger picture, is it still beneficial for us or society? If yes, keep it; otherwise drop it. Kṛṣṇa too vowed not to take up arms: he joined one side unarmed while his Yādava army went to Duryodhana. When Bhīṣma took a counter-vow to make him break it and Arjuna's reverence held him back, Kṛṣṇa rushed at Bhīṣma with a chariot wheel; Arjuna's promise to fight fully pacified him. Kṛṣṇa told Bhīṣma he misused his boon of choosing the hour of death against warriors without such protection. Kṛṣṇa was not held back by his vow and acted with clarity for Dharma: the true Pratijñā archetype, unlike Bhīṣma who trapped himself.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idea: Vows made in emotion can bind or blind us: Bhīṣma (brahmacarya), Gāndhārī (blindfold), Arjuna (Jayadratha) and Bhīma (Duḥśāsana and Duryodhana) show how to examine a vow, while Kṛṣṇa is the Pratijñā archetype who is never trapped by his vow.
Full chapter summary:
Reading Mahābhārata feels like meeting the divine: devas thunder 'Bhīṣma, Bhīṣma' at Devavrata's vow and shower flowers when the Pāṇḍavas are born, while a donkey brays at Duryodhana's birth. The chapter opens with Maharṣi Aṇīmāṇḍavya, wrongly taken for a thief, impaled on a spear; the thieves died but he lived, and the spear could not be removed even after the king released him. When he reached Yama's abode, he cursed Yama-Dharma for misinterpreting Dharma. Even Dharmadeva is not above Dharma. The Itihāsa gives complex logic, contexts and emotions, forcing the student to churn heart and mind, and that churning itself builds understanding of Dharma.
Bhīṣma Pratijñā (Ādi Parva): Devavrata, the appointed yuvarāja, learns of his father Śantanu's love for Satyavatī. Her father's condition was that her son be the next king; Śantanu rejected it, but Devavrata accepted on his own, without counsel, taking a lifelong vow of brahmacarya and giving up the throne. He earned the name Bhīṣma and the power to choose the time of death. The book questions it: his father's life, the kingdom and his own life did not depend on it; it only served his father's kāma. As yuvarāja he had a duty to seek permission and counsel, and no one could be sure Satyavatī's sons would be morally and intellectually fit kings. Her sons died childless (Vicitravīrya left widows Ambikā and Ambālikā). Satyavatī asked Bhīṣma both to father heirs (niyoga) and to take the throne; he refused both. Vyāsa fathered Dhṛtarāṣṭra and Pāṇḍu, and Vidura (born to a maid); the blind Dhṛtarāṣṭra and the sons of the maid could not be king, Pāṇḍu ruled well but died soon, and the throne was empty again. Stable kingship came only after the war, in which 18 akṣauhiṇīs died.
Nuance: the vow was a feat impossible for most men. Even Arjuna could not keep his twelve years of brahmacarya in exile after entering when Yudhiṣṭhira and Draupadī were together, and Śantanu (Mahābhiṣa, born as Śantanu on Brahmā's instruction) was drawn to Gaṅgā and Satyavatī. So Bhīṣma is the brahmacarya archetype. But bound by his vow, he became powerless before a blind king and his son. Is he the archetype of Dharma or of Pratijñā? When vows contradict Dharma, what then? The chapter studies vows of Gāndhārī, Arjuna and Bhīma.
Gāndhārī, daughter of Subala of Gāndhāra, was married to the blind Dhṛtarāṣṭra after Bhīṣma's proposal. On learning this, she blindfolded herself, resolving never to experience more than her husband. Praised widely, but was it right? Modern scholars ask whether marriage needs equality or compatibility, and complementing each other. The hasty vow blinded her to Duryodhana's stubbornness and ego; improper parenting contributed to unprincipled characters, and keeping her eyes closed also means turning a blind eye to her sons' deeds. Had she instead been her husband's eyes, things might differ. Amma: motherhood is as vast as the universe, and with it a woman can influence the world; Gāndhārī failed to influence her children. Her vow came from an instant emotion at a young age, not clarity.
Arjuna's vow: after Abhimanyu was killed on day 13, he swore to kill Jayadratha before sunset the next day. Droṇa had built the Cakravyūha; Jayadratha's interference stopped the other Pāṇḍava warriors from following Abhimanyu in; Abhimanyu broke in, killed Duryodhana's son and many princes, but was attacked by many warriors together against dharmayuddha ethics and killed by a final blow from Duḥśāsana's son. Duryodhana and Droṇa arranged three vyūhas to shield Jayadratha. Bhīma, Sātyaki and Arjuna tore through, but Jayadratha hid behind Droṇa and sunset was near. Kṛṣṇa's Sudarśana cakra masked the sun; Jayadratha came out; Kṛṣṇa withdrew the cakra and Arjuna killed him with the Pāśupatāstra using his Gāṇḍīva. The vow came from anger, not clear thought, and succeeded only by Kṛṣṇa's intervention.
Bhīma's vows: after the dice game and Draupadī's humiliation he vowed to kill Duḥśāsana, tear open his chest and drink his blood; when Duryodhana gestured Draupadī to sit on his thigh, he vowed to break it. Yet in Udyoga Parva, when Kṛṣṇa consulted all the Pāṇḍavas and Draupadī before the peace mission, Bhīma favoured peace, willing to forgo his vows. In war he killed Duḥśāsana without conflict with Dharma. In the final mace duel (Duryodhana chose Bhīma; the Kaurava side then had Duryodhana, Aśvatthāmā, Kṛpa and Kṛtavarmā), Bhīma tired and Kṛṣṇa signalled him to strike the thigh; so the thigh-blow followed Kṛṣṇa's instruction, not merely his vow. Though taken in anger, his vows did not cloud his judgement.
Summary: all three vows were emotional. Gāndhārī's blinded her to her children's adharma, ending in bloodshed; Arjuna's could have trapped him; Bhīma's was tempered by Dharma. We too make vows in emotion ('I won't talk to him', silent treatment). Ask: (1) was it made from intellectual clarity or spontaneous outburst? (2) if from emotion, after seeing the bigger picture, is it still beneficial for us or society? If yes, keep it; otherwise drop it. Kṛṣṇa too vowed not to take up arms: he joined one side unarmed while his Yādava army went to Duryodhana. When Bhīṣma took a counter-vow to make him break it and Arjuna's reverence held him back, Kṛṣṇa rushed at Bhīṣma with a chariot wheel; Arjuna's promise to fight fully pacified him. Kṛṣṇa told Bhīṣma he misused his boon of choosing the hour of death against warriors without such protection. Kṛṣṇa was not held back by his vow and acted with clarity for Dharma: the true Pratijñā archetype, unlike Bhīṣma who trapped himself.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minutes (think-pair-share) before revealing.
Model answer: Devavrata took a lifelong vow of brahmacarya and gave up the throne so Śantanu could marry Satyavatī, earning the name Bhīṣma and the boon of choosing his death. The chapter notes no life or kingdom depended on it, it only served his father's kāma, he did not consult, and it led to an unstable throne and the war.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storyline of the chapter in this order. Each numbered box is one teaching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Introduction: Dharma is complex
- Devas shout 'Bhīṣma' at Devavrata's vow; flowers at Pāṇḍavas' birth; donkey brays at Duryodhana's birth.
- Aṇīmāṇḍavya: impaled by mistake, lived with the spear; cursed Yama-Dharma for misinterpreting Dharma: Dharmadeva is not above Dharma.
- MB gives complex logic, contexts and emotions: studying it means 'churning', which builds understanding of Dharma.
Check for understanding: Explain the Bhīṣma Pratijñā and the chapter's critique of it.
Model answer: Devavrata took a lifelong vow of brahmacarya and gave up the throne so Śantanu could marry Satyavatī, earning the name Bhīṣma and the boon of choosing his death. The chapter notes no life or kingdom depended on it, it only served his father's kāma, he did not consult, and it led to an unstable throne and the war.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Bhīṣma Pratijñā
- Devavrata = yuvarāja; Satyavatī's father's condition: her son to be king; Śantanu refused; Devavrata accepted without counsel.
- Vow: lifelong brahmacarya + renounced throne; name Bhīṣma; boon: choose time of death.
- Critique: did not save father's life, kingdom or his own life; served father's kāma; no notice or consultation.
- Satyavatī's sons Citrāṅgada and Vicitravīrya died childless; widows Ambikā, Ambālikā; Bhīṣma refused niyoga and kingship.
- Vyāsa fathered Dhṛtarāṣṭra, Pāṇḍu, Vidura; throne unstable until end of war; 18 akṣauhiṇīs died.
- Strength: feat impossible for most (even Arjuna failed 12-year brahmacarya); Śantanu = Mahābhiṣa; Bhīṣma = Brahmacarya archetype, not Dharma archetype; powerless before blind king and son.
Check for understanding: Why does the chapter call Bhīṣma the brahmacarya archetype but not the Pratijñā or Dharma archetype?
Model answer: His self-control was extraordinary, unlike Arjuna's or Śantanu's, yet bound by the vow he was powerless before a blind king and his son and could not respond to adharma. Kṛṣṇa is the Pratijñā archetype.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Gāndhārī's Pratijñā
- Daughter of Subala, Gāndhāra; blindfolded herself on hearing of the match with blind Dhṛtarāṣṭra.
- Praised, but hasty and emotional; equality vs compatibility in marriage.
- Result: Duryodhana's ego uncorrected; 'turned a blind eye' to sons' acts.
- Alternative: be her husband's eyes. Amma: motherhood's power to influence the world.
Check for understanding: What was Satyavatī's request to Bhīṣma after Vicitravīrya died and why did it matter?
Model answer: She asked him to father heirs with the widows and to take the throne. His refusal meant the vow had no remaining purpose, yet he kept it, and Vyāsa fathered Dhṛtarāṣṭra, Pāṇḍu and Vidura.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Arjuna's Pratijñā
- Vow: kill Jayadratha before sunset (after Abhimanyu died on day 13).
- Droṇa's Cakravyūha; Jayadratha blocked others; Abhimanyu killed by many together (adharma); final blow by Duḥśāsana's son.
- Kaurava defence: three vyūhas; Jayadratha hid behind Droṇa.
- Kṛṣṇa's Sudarśana cakra masked the sun; Jayadratha emerged; Pāśupatāstra with Gāṇḍīva.
- Born of anger; saved only by Kṛṣṇa.
Check for understanding: Discuss Gāndhārī's Pratijñā.
Model answer: She blindfolded herself on hearing she would marry the blind Dhṛtarāṣṭra. Praised, but it was hasty; she could not guide Duryodhana, 'turned a blind eye' to her sons' deeds, and could have been her husband's eyes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Bhīma's Pratijñās
- Vow 1: kill Duḥśāsana, tear chest, drink blood. Vow 2: break Duryodhana's thigh (after thigh-sit gesture).
- Udyoga Parva: he approved peace, ready to drop vows.
- Killed Duḥśāsana without conflicting Dharma.
- Mace duel: Kṛṣṇa signalled him to hit the thigh: act followed Kṛṣṇa's instruction.
- Took vows in anger but did not let it cloud judgement.
Check for understanding: Narrate Arjuna's Pratijñā and its fulfilment.
Model answer: After Abhimanyu's death on day 13, he vowed to kill Jayadratha before sunset. Droṇa's three vyūhas protected him; Kṛṣṇa masked the sun with the Sudarśana cakra, Jayadratha came out, the sun reappeared and Arjuna killed him with the Pāśupatāstra.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 Lessons and the archetype
- Gāndhārī's vow = blinded; Arjuna's = could trap; Bhīma's = Dharma first.
- Daily vows: 'I won't talk to him', silent treatment.
- Q1: clarity or outburst? Q2: still beneficial to self/society? Keep or drop.
- Kṛṣṇa's vow: unarmed; Bhīṣma's counter-vow; Kṛṣṇa ran with chariot wheel; Arjuna's promise calmed him; Kṛṣṇa not tied by vow.
- Kṛṣṇa = Pratijñā archetype; Bhīṣma = trapped by his vow.
Check for understanding: Why were Abhimanyu's circumstances adharmic?
Model answer: Jayadratha blocked the other Pāṇḍavas from entering the Cakravyūha, and many powerful warriors attacked Abhimanyu at once, breaking dharmayuddha ethics.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memorise these figures; they are frequently asked in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Sanskrit aloud slowly; students repeat; then discuss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revision sheet: ask students to redraw it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invent their own mnemonics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Devavrata took a lifelong vow of brahmacarya and gave up the throne so Śantanu could marry Satyavatī, earning the name Bhīṣma and the boon of choosing his death. The chapter notes no life or kingdom depended on it, it only served his father's kāma, he did not consult, and it led to an unstable throne and the war.
Q2. His self-control was extraordinary, unlike Arjuna's or Śantanu's, yet bound by the vow he was powerless before a blind king and his son and could not respond to adharma. Kṛṣṇa is the Pratijñā archetype.
Q3. She asked him to father heirs with the widows and to take the throne. His refusal meant the vow had no remaining purpose, yet he kept it, and Vyāsa fathered Dhṛtarāṣṭra, Pāṇḍu and Vidura.
Q4. She blindfolded herself on hearing she would marry the blind Dhṛtarāṣṭra. Praised, but it was hasty; she could not guide Duryodhana, 'turned a blind eye' to her sons' deeds, and could have been her husband's eyes instead.
Q5. After Abhimanyu's death on day 13, he vowed to kill Jayadratha before sunset. Droṇa's three vyūhas protected him; Kṛṣṇa masked the sun with the Sudarśana cakra, Jayadratha came out, the sun reappeared and Arjuna killed him with the Pāśupatāstra.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Q6. Jayadratha blocked the other Pāṇḍavas from entering the Cakravyūha, and many powerful warriors attacked Abhimanyu at once, breaking dharmayuddha ethics.
Q7. He took them in rage but preferred peace in Udyoga Parva, killed Duḥśāsana in battle within Dharma, and broke Duryodhana's thigh only on Kṛṣṇa's signal in a mace duel.
Q8. Was it from intellectual clarity or a spontaneous outburst? If emotional, after seeing the bigger picture, is it still beneficial for us or society? If not, drop it.
Q9. He vowed not to bear arms in the war. When Bhīṣma's resolve threatened the Pāṇḍavas and Arjuna held back, Kṛṣṇa charged with a chariot wheel, not held by his vow, and told Bhīṣma he was misusing his boon.
Q10. He cursed Yama for misinterpreting Dharma: even Dharmadeva is not above Dharma; Dharma is complex and needs 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left part aloud; students answer; reveal the right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warm-up question and let students answer it now.
Model answer: Devavrata took a lifelong vow of brahmacarya and gave up the throne so Śantanu could marry Satyavatī, earning the name Bhīṣma and the boon of choosing his death. The chapter notes no life or kingdom depended on it, it only served his father's kāma, he did not consult, and it led to an unstable throne and the war.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B0F1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4828032"/>
            <a:ext cx="6858000" cy="228600"/>
          </a:xfrm>
          <a:prstGeom prst="rect">
            <a:avLst/>
          </a:prstGeom>
          <a:noFill/>
          <a:ln/>
        </p:spPr>
        <p:txBody>
          <a:bodyPr wrap="square" lIns="0" tIns="0" rIns="0" bIns="0" rtlCol="0" anchor="ctr"/>
          <a:lstStyle/>
          <a:p>
            <a:pPr indent="0" marL="0">
              <a:buNone/>
            </a:pPr>
            <a:r>
              <a:rPr lang="en-US" sz="900" dirty="0">
                <a:solidFill>
                  <a:srgbClr val="9A8A8A"/>
                </a:solidFill>
                <a:latin typeface="Calibri" pitchFamily="34" charset="0"/>
                <a:ea typeface="Calibri" pitchFamily="34" charset="-122"/>
                <a:cs typeface="Calibri" pitchFamily="34" charset="-120"/>
              </a:rPr>
              <a:t>Chapter 7 · Pratijñā (The Vow)</a:t>
            </a:r>
            <a:endParaRPr lang="en-US" sz="900" dirty="0"/>
          </a:p>
        </p:txBody>
      </p:sp>
      <p:sp>
        <p:nvSpPr>
          <p:cNvPr id="3" name="Text 1"/>
          <p:cNvSpPr/>
          <p:nvPr>
            <p:ph idx="101"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8C2F1B"/>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C">
    <p:bg>
      <p:bgPr>
        <a:solidFill>
          <a:srgbClr val="2B0F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F2B632"/>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art" descr="/tmp/img/ch07_cover.png">    </p:cNvPr>
          <p:cNvPicPr>
            <a:picLocks noChangeAspect="1"/>
          </p:cNvPicPr>
          <p:nvPr/>
        </p:nvPicPr>
        <p:blipFill>
          <a:blip r:embed="rId1"/>
          <a:stretch>
            <a:fillRect/>
          </a:stretch>
        </p:blipFill>
        <p:spPr>
          <a:xfrm>
            <a:off x="5669280" y="777240"/>
            <a:ext cx="3291840" cy="3291840"/>
          </a:xfrm>
          <a:prstGeom prst="rect">
            <a:avLst/>
          </a:prstGeom>
        </p:spPr>
      </p:pic>
      <p:sp>
        <p:nvSpPr>
          <p:cNvPr id="3" name="Text 0"/>
          <p:cNvSpPr txBox="1"/>
          <p:nvPr/>
        </p:nvSpPr>
        <p:spPr>
          <a:xfrm>
            <a:off x="548640" y="914400"/>
            <a:ext cx="4937760" cy="365760"/>
          </a:xfrm>
          <a:prstGeom prst="rect">
            <a:avLst/>
          </a:prstGeom>
          <a:noFill/>
          <a:ln/>
        </p:spPr>
        <p:txBody>
          <a:bodyPr wrap="square" lIns="0" tIns="0" rIns="0" bIns="0" rtlCol="0" anchor="ctr"/>
          <a:lstStyle/>
          <a:p>
            <a:pPr indent="0" marL="0">
              <a:buNone/>
            </a:pPr>
            <a:r>
              <a:rPr lang="en-US" sz="1600" b="1" spc="600" kern="0" dirty="0">
                <a:solidFill>
                  <a:srgbClr val="F2B632"/>
                </a:solidFill>
                <a:latin typeface="Calibri" pitchFamily="34" charset="0"/>
                <a:ea typeface="Calibri" pitchFamily="34" charset="-122"/>
                <a:cs typeface="Calibri" pitchFamily="34" charset="-120"/>
              </a:rPr>
              <a:t>CHAPTER 7</a:t>
            </a:r>
            <a:endParaRPr lang="en-US" sz="1600" dirty="0"/>
          </a:p>
        </p:txBody>
      </p:sp>
      <p:sp>
        <p:nvSpPr>
          <p:cNvPr id="4" name="Text 1"/>
          <p:cNvSpPr txBox="1"/>
          <p:nvPr/>
        </p:nvSpPr>
        <p:spPr>
          <a:xfrm>
            <a:off x="548640" y="1325880"/>
            <a:ext cx="4937760" cy="17373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Pratijñā (The Vow)</a:t>
            </a:r>
            <a:endParaRPr lang="en-US" sz="3600" dirty="0"/>
          </a:p>
        </p:txBody>
      </p:sp>
      <p:sp>
        <p:nvSpPr>
          <p:cNvPr id="5" name="Text 2"/>
          <p:cNvSpPr txBox="1"/>
          <p:nvPr/>
        </p:nvSpPr>
        <p:spPr>
          <a:xfrm>
            <a:off x="548640" y="3154680"/>
            <a:ext cx="4937760" cy="320040"/>
          </a:xfrm>
          <a:prstGeom prst="rect">
            <a:avLst/>
          </a:prstGeom>
          <a:noFill/>
          <a:ln/>
        </p:spPr>
        <p:txBody>
          <a:bodyPr wrap="square" lIns="0" tIns="0" rIns="0" bIns="0" rtlCol="0" anchor="ctr"/>
          <a:lstStyle/>
          <a:p>
            <a:pPr indent="0" marL="0">
              <a:buNone/>
            </a:pPr>
            <a:r>
              <a:rPr lang="en-US" sz="1500" i="1" dirty="0">
                <a:solidFill>
                  <a:srgbClr val="F6D9A0"/>
                </a:solidFill>
                <a:latin typeface="Cambria" pitchFamily="34" charset="0"/>
                <a:ea typeface="Cambria" pitchFamily="34" charset="-122"/>
                <a:cs typeface="Cambria" pitchFamily="34" charset="-120"/>
              </a:rPr>
              <a:t>Strategic Lessons from Mahābhārata</a:t>
            </a:r>
            <a:endParaRPr lang="en-US" sz="1500" dirty="0"/>
          </a:p>
        </p:txBody>
      </p:sp>
      <p:sp>
        <p:nvSpPr>
          <p:cNvPr id="6" name="Text 3"/>
          <p:cNvSpPr txBox="1"/>
          <p:nvPr/>
        </p:nvSpPr>
        <p:spPr>
          <a:xfrm>
            <a:off x="548640" y="3520440"/>
            <a:ext cx="4937760" cy="274320"/>
          </a:xfrm>
          <a:prstGeom prst="rect">
            <a:avLst/>
          </a:prstGeom>
          <a:noFill/>
          <a:ln/>
        </p:spPr>
        <p:txBody>
          <a:bodyPr wrap="square" lIns="0" tIns="0" rIns="0" bIns="0" rtlCol="0" anchor="ctr"/>
          <a:lstStyle/>
          <a:p>
            <a:pPr indent="0" marL="0">
              <a:buNone/>
            </a:pPr>
            <a:r>
              <a:rPr lang="en-US" sz="1200" dirty="0">
                <a:solidFill>
                  <a:srgbClr val="CDB8B8"/>
                </a:solidFill>
                <a:latin typeface="Calibri" pitchFamily="34" charset="0"/>
                <a:ea typeface="Calibri" pitchFamily="34" charset="-122"/>
                <a:cs typeface="Calibri" pitchFamily="34" charset="-120"/>
              </a:rPr>
              <a:t>Teaching deck · Book pages 83 to 94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What students will learn</a:t>
            </a:r>
            <a:endParaRPr lang="en-US" sz="2600" dirty="0"/>
          </a:p>
        </p:txBody>
      </p:sp>
      <p:sp>
        <p:nvSpPr>
          <p:cNvPr id="4" name="Objective card 1"/>
          <p:cNvSpPr/>
          <p:nvPr/>
        </p:nvSpPr>
        <p:spPr>
          <a:xfrm>
            <a:off x="365760" y="1005840"/>
            <a:ext cx="8412480" cy="640080"/>
          </a:xfrm>
          <a:prstGeom prst="roundRect">
            <a:avLst>
              <a:gd name="adj" fmla="val 11429"/>
            </a:avLst>
          </a:prstGeom>
          <a:solidFill>
            <a:srgbClr val="FFF4D6"/>
          </a:solidFill>
          <a:ln w="9525">
            <a:solidFill>
              <a:srgbClr val="EAD9C4"/>
            </a:solidFill>
            <a:prstDash val="solid"/>
          </a:ln>
        </p:spPr>
      </p:sp>
      <p:sp>
        <p:nvSpPr>
          <p:cNvPr id="5" name="Number 1"/>
          <p:cNvSpPr/>
          <p:nvPr/>
        </p:nvSpPr>
        <p:spPr>
          <a:xfrm>
            <a:off x="502920" y="1143000"/>
            <a:ext cx="365760" cy="365760"/>
          </a:xfrm>
          <a:prstGeom prst="ellipse">
            <a:avLst/>
          </a:prstGeom>
          <a:solidFill>
            <a:srgbClr val="8C2F1B"/>
          </a:solidFill>
          <a:ln w="12700">
            <a:solidFill>
              <a:srgbClr val="8C2F1B"/>
            </a:solidFill>
            <a:prstDash val="solid"/>
          </a:ln>
        </p:spPr>
      </p:sp>
      <p:sp>
        <p:nvSpPr>
          <p:cNvPr id="6" name="Text 3"/>
          <p:cNvSpPr txBox="1"/>
          <p:nvPr/>
        </p:nvSpPr>
        <p:spPr>
          <a:xfrm>
            <a:off x="502920" y="11430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005840" y="1005840"/>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Bhīṣma is the Brahmacarya archetype, but his Pratijñā served only his father's kāma and left the throne empty; Kṛṣṇa is the Pratijñā archetype.</a:t>
            </a:r>
            <a:endParaRPr lang="en-US" sz="1400" dirty="0"/>
          </a:p>
        </p:txBody>
      </p:sp>
      <p:sp>
        <p:nvSpPr>
          <p:cNvPr id="8" name="Objective card 2"/>
          <p:cNvSpPr/>
          <p:nvPr/>
        </p:nvSpPr>
        <p:spPr>
          <a:xfrm>
            <a:off x="365760" y="1719072"/>
            <a:ext cx="8412480" cy="640080"/>
          </a:xfrm>
          <a:prstGeom prst="roundRect">
            <a:avLst>
              <a:gd name="adj" fmla="val 11429"/>
            </a:avLst>
          </a:prstGeom>
          <a:solidFill>
            <a:srgbClr val="FFF4D6"/>
          </a:solidFill>
          <a:ln w="9525">
            <a:solidFill>
              <a:srgbClr val="EAD9C4"/>
            </a:solidFill>
            <a:prstDash val="solid"/>
          </a:ln>
        </p:spPr>
      </p:sp>
      <p:sp>
        <p:nvSpPr>
          <p:cNvPr id="9" name="Number 2"/>
          <p:cNvSpPr/>
          <p:nvPr/>
        </p:nvSpPr>
        <p:spPr>
          <a:xfrm>
            <a:off x="502920" y="1856232"/>
            <a:ext cx="365760" cy="365760"/>
          </a:xfrm>
          <a:prstGeom prst="ellipse">
            <a:avLst/>
          </a:prstGeom>
          <a:solidFill>
            <a:srgbClr val="E07B00"/>
          </a:solidFill>
          <a:ln w="12700">
            <a:solidFill>
              <a:srgbClr val="E07B00"/>
            </a:solidFill>
            <a:prstDash val="solid"/>
          </a:ln>
        </p:spPr>
      </p:sp>
      <p:sp>
        <p:nvSpPr>
          <p:cNvPr id="10" name="Text 7"/>
          <p:cNvSpPr txBox="1"/>
          <p:nvPr/>
        </p:nvSpPr>
        <p:spPr>
          <a:xfrm>
            <a:off x="502920" y="18562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1005840" y="1719072"/>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Gāndhārī's blindfold: noble-looking but hasty; she could not correct Duryodhana.</a:t>
            </a:r>
            <a:endParaRPr lang="en-US" sz="1400" dirty="0"/>
          </a:p>
        </p:txBody>
      </p:sp>
      <p:sp>
        <p:nvSpPr>
          <p:cNvPr id="12" name="Objective card 3"/>
          <p:cNvSpPr/>
          <p:nvPr/>
        </p:nvSpPr>
        <p:spPr>
          <a:xfrm>
            <a:off x="365760" y="2432304"/>
            <a:ext cx="8412480" cy="640080"/>
          </a:xfrm>
          <a:prstGeom prst="roundRect">
            <a:avLst>
              <a:gd name="adj" fmla="val 11429"/>
            </a:avLst>
          </a:prstGeom>
          <a:solidFill>
            <a:srgbClr val="FFF4D6"/>
          </a:solidFill>
          <a:ln w="9525">
            <a:solidFill>
              <a:srgbClr val="EAD9C4"/>
            </a:solidFill>
            <a:prstDash val="solid"/>
          </a:ln>
        </p:spPr>
      </p:sp>
      <p:sp>
        <p:nvSpPr>
          <p:cNvPr id="13" name="Number 3"/>
          <p:cNvSpPr/>
          <p:nvPr/>
        </p:nvSpPr>
        <p:spPr>
          <a:xfrm>
            <a:off x="502920" y="2569464"/>
            <a:ext cx="365760" cy="365760"/>
          </a:xfrm>
          <a:prstGeom prst="ellipse">
            <a:avLst/>
          </a:prstGeom>
          <a:solidFill>
            <a:srgbClr val="2E7D32"/>
          </a:solidFill>
          <a:ln w="12700">
            <a:solidFill>
              <a:srgbClr val="2E7D32"/>
            </a:solidFill>
            <a:prstDash val="solid"/>
          </a:ln>
        </p:spPr>
      </p:sp>
      <p:sp>
        <p:nvSpPr>
          <p:cNvPr id="14" name="Text 11"/>
          <p:cNvSpPr txBox="1"/>
          <p:nvPr/>
        </p:nvSpPr>
        <p:spPr>
          <a:xfrm>
            <a:off x="502920" y="25694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Text 12"/>
          <p:cNvSpPr txBox="1"/>
          <p:nvPr/>
        </p:nvSpPr>
        <p:spPr>
          <a:xfrm>
            <a:off x="1005840" y="2432304"/>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Arjuna's vow to kill Jayadratha before sunset was saved by Kṛṣṇa's Sudarśana cakra (sunset illusion).</a:t>
            </a:r>
            <a:endParaRPr lang="en-US" sz="1400" dirty="0"/>
          </a:p>
        </p:txBody>
      </p:sp>
      <p:sp>
        <p:nvSpPr>
          <p:cNvPr id="16" name="Objective card 4"/>
          <p:cNvSpPr/>
          <p:nvPr/>
        </p:nvSpPr>
        <p:spPr>
          <a:xfrm>
            <a:off x="365760" y="3145536"/>
            <a:ext cx="8412480" cy="640080"/>
          </a:xfrm>
          <a:prstGeom prst="roundRect">
            <a:avLst>
              <a:gd name="adj" fmla="val 11429"/>
            </a:avLst>
          </a:prstGeom>
          <a:solidFill>
            <a:srgbClr val="FFF4D6"/>
          </a:solidFill>
          <a:ln w="9525">
            <a:solidFill>
              <a:srgbClr val="EAD9C4"/>
            </a:solidFill>
            <a:prstDash val="solid"/>
          </a:ln>
        </p:spPr>
      </p:sp>
      <p:sp>
        <p:nvSpPr>
          <p:cNvPr id="17" name="Number 4"/>
          <p:cNvSpPr/>
          <p:nvPr/>
        </p:nvSpPr>
        <p:spPr>
          <a:xfrm>
            <a:off x="502920" y="3282696"/>
            <a:ext cx="365760" cy="365760"/>
          </a:xfrm>
          <a:prstGeom prst="ellipse">
            <a:avLst/>
          </a:prstGeom>
          <a:solidFill>
            <a:srgbClr val="6A1B9A"/>
          </a:solidFill>
          <a:ln w="12700">
            <a:solidFill>
              <a:srgbClr val="6A1B9A"/>
            </a:solidFill>
            <a:prstDash val="solid"/>
          </a:ln>
        </p:spPr>
      </p:sp>
      <p:sp>
        <p:nvSpPr>
          <p:cNvPr id="18" name="Text 15"/>
          <p:cNvSpPr txBox="1"/>
          <p:nvPr/>
        </p:nvSpPr>
        <p:spPr>
          <a:xfrm>
            <a:off x="502920" y="32826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Text 16"/>
          <p:cNvSpPr txBox="1"/>
          <p:nvPr/>
        </p:nvSpPr>
        <p:spPr>
          <a:xfrm>
            <a:off x="1005840" y="3145536"/>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Bhīma took two vows in rage but still chose Dharma (approved peace; fought fairly; thigh-strike on Kṛṣṇa's signal).</a:t>
            </a:r>
            <a:endParaRPr lang="en-US" sz="1400" dirty="0"/>
          </a:p>
        </p:txBody>
      </p:sp>
      <p:sp>
        <p:nvSpPr>
          <p:cNvPr id="20" name="Objective card 5"/>
          <p:cNvSpPr/>
          <p:nvPr/>
        </p:nvSpPr>
        <p:spPr>
          <a:xfrm>
            <a:off x="365760" y="3858768"/>
            <a:ext cx="8412480" cy="640080"/>
          </a:xfrm>
          <a:prstGeom prst="roundRect">
            <a:avLst>
              <a:gd name="adj" fmla="val 11429"/>
            </a:avLst>
          </a:prstGeom>
          <a:solidFill>
            <a:srgbClr val="FFF4D6"/>
          </a:solidFill>
          <a:ln w="9525">
            <a:solidFill>
              <a:srgbClr val="EAD9C4"/>
            </a:solidFill>
            <a:prstDash val="solid"/>
          </a:ln>
        </p:spPr>
      </p:sp>
      <p:sp>
        <p:nvSpPr>
          <p:cNvPr id="21" name="Number 5"/>
          <p:cNvSpPr/>
          <p:nvPr/>
        </p:nvSpPr>
        <p:spPr>
          <a:xfrm>
            <a:off x="502920" y="3995928"/>
            <a:ext cx="365760" cy="365760"/>
          </a:xfrm>
          <a:prstGeom prst="ellipse">
            <a:avLst/>
          </a:prstGeom>
          <a:solidFill>
            <a:srgbClr val="1565C0"/>
          </a:solidFill>
          <a:ln w="12700">
            <a:solidFill>
              <a:srgbClr val="1565C0"/>
            </a:solidFill>
            <a:prstDash val="solid"/>
          </a:ln>
        </p:spPr>
      </p:sp>
      <p:sp>
        <p:nvSpPr>
          <p:cNvPr id="22" name="Text 19"/>
          <p:cNvSpPr txBox="1"/>
          <p:nvPr/>
        </p:nvSpPr>
        <p:spPr>
          <a:xfrm>
            <a:off x="502920" y="39959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3" name="Text 20"/>
          <p:cNvSpPr txBox="1"/>
          <p:nvPr/>
        </p:nvSpPr>
        <p:spPr>
          <a:xfrm>
            <a:off x="1005840" y="3858768"/>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Test any vow: was it made in clarity or outburst? is it still beneficial? If not, drop it.</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Warm-up: think first</a:t>
            </a:r>
            <a:endParaRPr lang="en-US" sz="2600" dirty="0"/>
          </a:p>
        </p:txBody>
      </p:sp>
      <p:sp>
        <p:nvSpPr>
          <p:cNvPr id="4" name="Question mark circle"/>
          <p:cNvSpPr/>
          <p:nvPr/>
        </p:nvSpPr>
        <p:spPr>
          <a:xfrm>
            <a:off x="548640" y="1325880"/>
            <a:ext cx="2103120" cy="2103120"/>
          </a:xfrm>
          <a:prstGeom prst="ellipse">
            <a:avLst/>
          </a:prstGeom>
          <a:solidFill>
            <a:srgbClr val="8C2F1B"/>
          </a:solidFill>
          <a:ln w="38100">
            <a:solidFill>
              <a:srgbClr val="F2B632"/>
            </a:solidFill>
            <a:prstDash val="solid"/>
          </a:ln>
        </p:spPr>
      </p:sp>
      <p:sp>
        <p:nvSpPr>
          <p:cNvPr id="5" name="Text 2"/>
          <p:cNvSpPr txBox="1"/>
          <p:nvPr/>
        </p:nvSpPr>
        <p:spPr>
          <a:xfrm>
            <a:off x="548640" y="1325880"/>
            <a:ext cx="2103120" cy="2103120"/>
          </a:xfrm>
          <a:prstGeom prst="rect">
            <a:avLst/>
          </a:prstGeom>
          <a:noFill/>
          <a:ln/>
        </p:spPr>
        <p:txBody>
          <a:bodyPr wrap="square" lIns="0" tIns="0" rIns="0" bIns="0" rtlCol="0" anchor="ctr"/>
          <a:lstStyle/>
          <a:p>
            <a:pPr algn="ctr" indent="0" marL="0">
              <a:buNone/>
            </a:pPr>
            <a:r>
              <a:rPr lang="en-US" sz="11000" b="1" dirty="0">
                <a:solidFill>
                  <a:srgbClr val="F2B632"/>
                </a:solidFill>
                <a:latin typeface="Cambria" pitchFamily="34" charset="0"/>
                <a:ea typeface="Cambria" pitchFamily="34" charset="-122"/>
                <a:cs typeface="Cambria" pitchFamily="34" charset="-120"/>
              </a:rPr>
              <a:t>?</a:t>
            </a:r>
            <a:endParaRPr lang="en-US" sz="11000" dirty="0"/>
          </a:p>
        </p:txBody>
      </p:sp>
      <p:sp>
        <p:nvSpPr>
          <p:cNvPr id="6" name="Warm-up card"/>
          <p:cNvSpPr/>
          <p:nvPr/>
        </p:nvSpPr>
        <p:spPr>
          <a:xfrm>
            <a:off x="3017520" y="1188720"/>
            <a:ext cx="5760720" cy="2377440"/>
          </a:xfrm>
          <a:prstGeom prst="roundRect">
            <a:avLst>
              <a:gd name="adj" fmla="val 3846"/>
            </a:avLst>
          </a:prstGeom>
          <a:solidFill>
            <a:srgbClr val="FFF4D6"/>
          </a:solidFill>
          <a:ln w="12700">
            <a:solidFill>
              <a:srgbClr val="EAD9C4"/>
            </a:solidFill>
            <a:prstDash val="solid"/>
          </a:ln>
        </p:spPr>
      </p:sp>
      <p:sp>
        <p:nvSpPr>
          <p:cNvPr id="7" name="Text 4"/>
          <p:cNvSpPr txBox="1"/>
          <p:nvPr/>
        </p:nvSpPr>
        <p:spPr>
          <a:xfrm>
            <a:off x="3246120" y="1188720"/>
            <a:ext cx="5303520" cy="2377440"/>
          </a:xfrm>
          <a:prstGeom prst="rect">
            <a:avLst/>
          </a:prstGeom>
          <a:noFill/>
          <a:ln/>
        </p:spPr>
        <p:txBody>
          <a:bodyPr wrap="square" lIns="0" tIns="0" rIns="0" bIns="0" rtlCol="0" anchor="ctr"/>
          <a:lstStyle/>
          <a:p>
            <a:pPr indent="0" marL="0">
              <a:buNone/>
            </a:pPr>
            <a:r>
              <a:rPr lang="en-US" sz="2400" b="1" dirty="0">
                <a:solidFill>
                  <a:srgbClr val="2A2A2A"/>
                </a:solidFill>
                <a:latin typeface="Cambria" pitchFamily="34" charset="0"/>
                <a:ea typeface="Cambria" pitchFamily="34" charset="-122"/>
                <a:cs typeface="Cambria" pitchFamily="34" charset="-120"/>
              </a:rPr>
              <a:t>Explain the Bhīṣma Pratijñā and the chapter's critique of it.</a:t>
            </a:r>
            <a:endParaRPr lang="en-US" sz="2400" dirty="0"/>
          </a:p>
        </p:txBody>
      </p:sp>
      <p:sp>
        <p:nvSpPr>
          <p:cNvPr id="8" name="Text 5"/>
          <p:cNvSpPr txBox="1"/>
          <p:nvPr/>
        </p:nvSpPr>
        <p:spPr>
          <a:xfrm>
            <a:off x="548640" y="3840480"/>
            <a:ext cx="8229600" cy="457200"/>
          </a:xfrm>
          <a:prstGeom prst="rect">
            <a:avLst/>
          </a:prstGeom>
          <a:noFill/>
          <a:ln/>
        </p:spPr>
        <p:txBody>
          <a:bodyPr wrap="square" lIns="0" tIns="0" rIns="0" bIns="0" rtlCol="0" anchor="ctr"/>
          <a:lstStyle/>
          <a:p>
            <a:pPr indent="0" marL="0">
              <a:buNone/>
            </a:pPr>
            <a:r>
              <a:rPr lang="en-US" sz="1400" i="1" dirty="0">
                <a:solidFill>
                  <a:srgbClr val="7A6A6A"/>
                </a:solidFill>
              </a:rPr>
              <a:t>Discuss with your partner for 2 minutes. We will return to this at the end of the lesson.</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Lesson roadmap</a:t>
            </a:r>
            <a:endParaRPr lang="en-US" sz="2600" dirty="0"/>
          </a:p>
        </p:txBody>
      </p:sp>
      <p:pic>
        <p:nvPicPr>
          <p:cNvPr id="4" name="Roadmap diagram" descr="Chapter roadmap">    </p:cNvPr>
          <p:cNvPicPr>
            <a:picLocks noChangeAspect="1"/>
          </p:cNvPicPr>
          <p:nvPr/>
        </p:nvPicPr>
        <p:blipFill>
          <a:blip r:embed="rId1"/>
          <a:stretch>
            <a:fillRect/>
          </a:stretch>
        </p:blipFill>
        <p:spPr>
          <a:xfrm>
            <a:off x="711724" y="1051560"/>
            <a:ext cx="7720553" cy="35661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Introduction: Dharma is complex</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Current section"/>
          <p:cNvSpPr/>
          <p:nvPr/>
        </p:nvSpPr>
        <p:spPr>
          <a:xfrm>
            <a:off x="457200" y="1389888"/>
            <a:ext cx="2286000" cy="356616"/>
          </a:xfrm>
          <a:prstGeom prst="roundRect">
            <a:avLst>
              <a:gd name="adj" fmla="val 12821"/>
            </a:avLst>
          </a:prstGeom>
          <a:solidFill>
            <a:srgbClr val="F2B632"/>
          </a:solidFill>
          <a:ln w="12700">
            <a:solidFill>
              <a:srgbClr val="F2B632"/>
            </a:solidFill>
            <a:prstDash val="solid"/>
          </a:ln>
        </p:spPr>
      </p:sp>
      <p:sp>
        <p:nvSpPr>
          <p:cNvPr id="7" name="Text 4"/>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A  Introduction: Dharma is co…</a:t>
            </a:r>
            <a:endParaRPr lang="en-US" sz="1050" dirty="0"/>
          </a:p>
        </p:txBody>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Bhīṣma Pratijñā</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Gāndhārī's Pratijñā</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Arjuna's Pratijñā</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Bhīma's Pratijñās</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Lessons and the archetype</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8C2F1B"/>
          </a:solidFill>
          <a:ln w="12700">
            <a:solidFill>
              <a:srgbClr val="8C2F1B"/>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A</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Devas shout 'Bhīṣma' at Devavrata's vow; flowers at Pāṇḍavas' birth; donkey brays at Duryodhana's birth.</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Aṇīmāṇḍavya: impaled by mistake, lived with the spear; cursed Yama-Dharma for misinterpreting Dharma: Dharmadeva is not above Dharma.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MB gives complex logic, contexts and emotions: studying it means 'churning', which builds understanding of Dharma.</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Bhīṣma Pratijñā</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Introduction: Dharma is co…</a:t>
            </a:r>
            <a:endParaRPr lang="en-US" sz="1050" dirty="0"/>
          </a:p>
        </p:txBody>
      </p:sp>
      <p:sp>
        <p:nvSpPr>
          <p:cNvPr id="7" name="Current section"/>
          <p:cNvSpPr/>
          <p:nvPr/>
        </p:nvSpPr>
        <p:spPr>
          <a:xfrm>
            <a:off x="457200" y="1773936"/>
            <a:ext cx="2286000" cy="356616"/>
          </a:xfrm>
          <a:prstGeom prst="roundRect">
            <a:avLst>
              <a:gd name="adj" fmla="val 12821"/>
            </a:avLst>
          </a:prstGeom>
          <a:solidFill>
            <a:srgbClr val="F2B632"/>
          </a:solidFill>
          <a:ln w="12700">
            <a:solidFill>
              <a:srgbClr val="F2B632"/>
            </a:solidFill>
            <a:prstDash val="solid"/>
          </a:ln>
        </p:spPr>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B  Bhīṣma Pratijñā</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Gāndhārī's Pratijñā</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Arjuna's Pratijñā</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Bhīma's Pratijñās</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Lessons and the archetype</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E07B00"/>
          </a:solidFill>
          <a:ln w="12700">
            <a:solidFill>
              <a:srgbClr val="E07B00"/>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B</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A2A2A"/>
                </a:solidFill>
                <a:latin typeface="Calibri" pitchFamily="34" charset="0"/>
                <a:ea typeface="Calibri" pitchFamily="34" charset="-122"/>
                <a:cs typeface="Calibri" pitchFamily="34" charset="-120"/>
              </a:rPr>
              <a:t>Devavrata = yuvarāja; Satyavatī's father's condition: her son to be king; Śantanu refused; Devavrata accepted without counsel.</a:t>
            </a:r>
            <a:endParaRPr lang="en-US" sz="1200" dirty="0"/>
          </a:p>
          <a:p>
            <a:pPr marL="177800" indent="-177800">
              <a:spcAft>
                <a:spcPts val="600"/>
              </a:spcAft>
              <a:buSzPct val="100000"/>
              <a:buChar char="•"/>
            </a:pPr>
            <a:r>
              <a:rPr lang="en-US" sz="1200" dirty="0">
                <a:solidFill>
                  <a:srgbClr val="2A2A2A"/>
                </a:solidFill>
                <a:latin typeface="Calibri" pitchFamily="34" charset="0"/>
                <a:ea typeface="Calibri" pitchFamily="34" charset="-122"/>
                <a:cs typeface="Calibri" pitchFamily="34" charset="-120"/>
              </a:rPr>
              <a:t>Vow: lifelong brahmacarya + renounced throne; name Bhīṣma; boon: choose time of death.</a:t>
            </a:r>
            <a:endParaRPr lang="en-US" sz="1200" dirty="0"/>
          </a:p>
          <a:p>
            <a:pPr marL="177800" indent="-177800">
              <a:spcAft>
                <a:spcPts val="600"/>
              </a:spcAft>
              <a:buSzPct val="100000"/>
              <a:buChar char="•"/>
            </a:pPr>
            <a:r>
              <a:rPr lang="en-US" sz="1200" dirty="0">
                <a:solidFill>
                  <a:srgbClr val="2A2A2A"/>
                </a:solidFill>
                <a:latin typeface="Calibri" pitchFamily="34" charset="0"/>
                <a:ea typeface="Calibri" pitchFamily="34" charset="-122"/>
                <a:cs typeface="Calibri" pitchFamily="34" charset="-120"/>
              </a:rPr>
              <a:t>Critique: did not save father's life, kingdom or his own life; served father's kāma; no notice or consultation.</a:t>
            </a:r>
            <a:endParaRPr lang="en-US" sz="1200" dirty="0"/>
          </a:p>
          <a:p>
            <a:pPr marL="177800" indent="-177800">
              <a:spcAft>
                <a:spcPts val="600"/>
              </a:spcAft>
              <a:buSzPct val="100000"/>
              <a:buChar char="•"/>
            </a:pPr>
            <a:r>
              <a:rPr lang="en-US" sz="1200" dirty="0">
                <a:solidFill>
                  <a:srgbClr val="2A2A2A"/>
                </a:solidFill>
                <a:latin typeface="Calibri" pitchFamily="34" charset="0"/>
                <a:ea typeface="Calibri" pitchFamily="34" charset="-122"/>
                <a:cs typeface="Calibri" pitchFamily="34" charset="-120"/>
              </a:rPr>
              <a:t>Satyavatī's sons Citrāṅgada and Vicitravīrya died childless; widows Ambikā, Ambālikā; Bhīṣma refused niyoga and kingship.</a:t>
            </a:r>
            <a:endParaRPr lang="en-US" sz="1200" dirty="0"/>
          </a:p>
          <a:p>
            <a:pPr marL="177800" indent="-177800">
              <a:spcAft>
                <a:spcPts val="600"/>
              </a:spcAft>
              <a:buSzPct val="100000"/>
              <a:buChar char="•"/>
            </a:pPr>
            <a:r>
              <a:rPr lang="en-US" sz="1200" dirty="0">
                <a:solidFill>
                  <a:srgbClr val="2A2A2A"/>
                </a:solidFill>
                <a:latin typeface="Calibri" pitchFamily="34" charset="0"/>
                <a:ea typeface="Calibri" pitchFamily="34" charset="-122"/>
                <a:cs typeface="Calibri" pitchFamily="34" charset="-120"/>
              </a:rPr>
              <a:t>Vyāsa fathered Dhṛtarāṣṭra, Pāṇḍu, Vidura; throne unstable until end of war; 18 akṣauhiṇīs died.</a:t>
            </a:r>
            <a:endParaRPr lang="en-US" sz="1200" dirty="0"/>
          </a:p>
          <a:p>
            <a:pPr marL="177800" indent="-177800">
              <a:spcAft>
                <a:spcPts val="600"/>
              </a:spcAft>
              <a:buSzPct val="100000"/>
              <a:buChar char="•"/>
            </a:pPr>
            <a:r>
              <a:rPr lang="en-US" sz="1200" dirty="0">
                <a:solidFill>
                  <a:srgbClr val="2A2A2A"/>
                </a:solidFill>
                <a:latin typeface="Calibri" pitchFamily="34" charset="0"/>
                <a:ea typeface="Calibri" pitchFamily="34" charset="-122"/>
                <a:cs typeface="Calibri" pitchFamily="34" charset="-120"/>
              </a:rPr>
              <a:t>Strength: feat impossible for most (even Arjuna failed 12-year brahmacarya); Śantanu = Mahābhiṣa; Bhīṣma = Brahmacarya archetype, not Dharma archetype; powerless before blind king and son.</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Gāndhārī's Pratijñā</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Introduction: Dharma is co…</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Bhīṣma Pratijñā</a:t>
            </a:r>
            <a:endParaRPr lang="en-US" sz="1050" dirty="0"/>
          </a:p>
        </p:txBody>
      </p:sp>
      <p:sp>
        <p:nvSpPr>
          <p:cNvPr id="8" name="Current section"/>
          <p:cNvSpPr/>
          <p:nvPr/>
        </p:nvSpPr>
        <p:spPr>
          <a:xfrm>
            <a:off x="457200" y="2157984"/>
            <a:ext cx="2286000" cy="356616"/>
          </a:xfrm>
          <a:prstGeom prst="roundRect">
            <a:avLst>
              <a:gd name="adj" fmla="val 12821"/>
            </a:avLst>
          </a:prstGeom>
          <a:solidFill>
            <a:srgbClr val="F2B632"/>
          </a:solidFill>
          <a:ln w="12700">
            <a:solidFill>
              <a:srgbClr val="F2B632"/>
            </a:solidFill>
            <a:prstDash val="solid"/>
          </a:ln>
        </p:spPr>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C  Gāndhārī's Pratijñā</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Arjuna's Pratijñā</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Bhīma's Pratijñās</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Lessons and the archetype</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2E7D32"/>
          </a:solidFill>
          <a:ln w="12700">
            <a:solidFill>
              <a:srgbClr val="2E7D32"/>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C</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Daughter of Subala, Gāndhāra; blindfolded herself on hearing of the match with blind Dhṛtarāṣṭra.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Praised, but hasty and emotional; equality vs compatibility in marriage.</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Result: Duryodhana's ego uncorrected; 'turned a blind eye' to sons' acts.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Alternative: be her husband's eyes. Amma: motherhood's power to influence the world.</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Arjuna's Pratijñā</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Introduction: Dharma is co…</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Bhīṣma Pratijñā</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Gāndhārī's Pratijñā</a:t>
            </a:r>
            <a:endParaRPr lang="en-US" sz="1050" dirty="0"/>
          </a:p>
        </p:txBody>
      </p:sp>
      <p:sp>
        <p:nvSpPr>
          <p:cNvPr id="9" name="Current section"/>
          <p:cNvSpPr/>
          <p:nvPr/>
        </p:nvSpPr>
        <p:spPr>
          <a:xfrm>
            <a:off x="457200" y="2542032"/>
            <a:ext cx="2286000" cy="356616"/>
          </a:xfrm>
          <a:prstGeom prst="roundRect">
            <a:avLst>
              <a:gd name="adj" fmla="val 12821"/>
            </a:avLst>
          </a:prstGeom>
          <a:solidFill>
            <a:srgbClr val="F2B632"/>
          </a:solidFill>
          <a:ln w="12700">
            <a:solidFill>
              <a:srgbClr val="F2B632"/>
            </a:solidFill>
            <a:prstDash val="solid"/>
          </a:ln>
        </p:spPr>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D  Arjuna's Pratijñā</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Bhīma's Pratijñās</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Lessons and the archetype</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6A1B9A"/>
          </a:solidFill>
          <a:ln w="12700">
            <a:solidFill>
              <a:srgbClr val="6A1B9A"/>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D</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Vow: kill Jayadratha before sunset (after Abhimanyu died on day 13).</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Droṇa's Cakravyūha; Jayadratha blocked others; Abhimanyu killed by many together (adharma); final blow by Duḥśāsana's son.</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Kaurava defence: three vyūhas; Jayadratha hid behind Droṇa.</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Kṛṣṇa's Sudarśana cakra masked the sun; Jayadratha emerged; Pāśupatāstra with Gāṇḍīva.</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Born of anger; saved only by Kṛṣṇa.</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Bhīma's Pratijñās</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Introduction: Dharma is co…</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Bhīṣma Pratijñā</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Gāndhārī's Pratijñā</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Arjuna's Pratijñā</a:t>
            </a:r>
            <a:endParaRPr lang="en-US" sz="1050" dirty="0"/>
          </a:p>
        </p:txBody>
      </p:sp>
      <p:sp>
        <p:nvSpPr>
          <p:cNvPr id="10" name="Current section"/>
          <p:cNvSpPr/>
          <p:nvPr/>
        </p:nvSpPr>
        <p:spPr>
          <a:xfrm>
            <a:off x="457200" y="2926080"/>
            <a:ext cx="2286000" cy="356616"/>
          </a:xfrm>
          <a:prstGeom prst="roundRect">
            <a:avLst>
              <a:gd name="adj" fmla="val 12821"/>
            </a:avLst>
          </a:prstGeom>
          <a:solidFill>
            <a:srgbClr val="F2B632"/>
          </a:solidFill>
          <a:ln w="12700">
            <a:solidFill>
              <a:srgbClr val="F2B632"/>
            </a:solidFill>
            <a:prstDash val="solid"/>
          </a:ln>
        </p:spPr>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E  Bhīma's Pratijñās</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Lessons and the archetype</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1565C0"/>
          </a:solidFill>
          <a:ln w="12700">
            <a:solidFill>
              <a:srgbClr val="1565C0"/>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E</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Vow 1: kill Duḥśāsana, tear chest, drink blood. Vow 2: break Duryodhana's thigh (after thigh-sit gesture).</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Udyoga Parva: he approved peace, ready to drop vows.</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Killed Duḥśāsana without conflicting Dharma.</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Mace duel: Kṛṣṇa signalled him to hit the thigh: act followed Kṛṣṇa's instruction.</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Took vows in anger but did not let it cloud judgement.</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Lessons and the archetype</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Introduction: Dharma is co…</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Bhīṣma Pratijñā</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Gāndhārī's Pratijñā</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Arjuna's Pratijñā</a:t>
            </a:r>
            <a:endParaRPr lang="en-US" sz="1050" dirty="0"/>
          </a:p>
        </p:txBody>
      </p:sp>
      <p:sp>
        <p:nvSpPr>
          <p:cNvPr id="10" name="Text 7"/>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Bhīma's Pratijñās</a:t>
            </a:r>
            <a:endParaRPr lang="en-US" sz="1050" dirty="0"/>
          </a:p>
        </p:txBody>
      </p:sp>
      <p:sp>
        <p:nvSpPr>
          <p:cNvPr id="11" name="Current section"/>
          <p:cNvSpPr/>
          <p:nvPr/>
        </p:nvSpPr>
        <p:spPr>
          <a:xfrm>
            <a:off x="457200" y="3310128"/>
            <a:ext cx="2286000" cy="356616"/>
          </a:xfrm>
          <a:prstGeom prst="roundRect">
            <a:avLst>
              <a:gd name="adj" fmla="val 12821"/>
            </a:avLst>
          </a:prstGeom>
          <a:solidFill>
            <a:srgbClr val="F2B632"/>
          </a:solidFill>
          <a:ln w="12700">
            <a:solidFill>
              <a:srgbClr val="F2B632"/>
            </a:solidFill>
            <a:prstDash val="solid"/>
          </a:ln>
        </p:spPr>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F  Lessons and the archetype</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00796B"/>
          </a:solidFill>
          <a:ln w="12700">
            <a:solidFill>
              <a:srgbClr val="00796B"/>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F</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Gāndhārī's vow = blinded; Arjuna's = could trap; Bhīma's = Dharma first.</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Daily vows: 'I won't talk to him', silent treatment.</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Q1: clarity or outburst? Q2: still beneficial to self/society? Keep or drop.</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Kṛṣṇa's vow: unarmed; Bhīṣma's counter-vow; Kṛṣṇa ran with chariot wheel; Arjuna's promise calmed him; Kṛṣṇa not tied by vow.</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Kṛṣṇa = Pratijñā archetype; Bhīṣma = trapped by his vow.</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(1/2)</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Pratijñā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 solemn vow or promise.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Bhīṣma Pratijñā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Devavrata's lifelong vow of brahmacarya and renunciation of the throne.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Yuvarāja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Crown prince; Devavrata's post.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Brahmacarya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Celibacy/chastity; Bhīṣma is its archetype.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Niyoga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Widow bearing a child through a suitable surrogate (Vedic tradition).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Cakravyūha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Deadly circular military formation of Droṇa.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Sudarśana cakra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Kṛṣṇa's discus, used to mask the sun.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Dharmayuddha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Righteous war; Abhimanyu's multi-attacker killing broke its ethics.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(2/2)</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Akṣauhiṇī</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Large army unit; 18 died in the war.</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Archetype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Model character who best represents a quality (Bhīṣma: brahmacarya; Kṛṣṇa: pratijñā).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Kāma (here)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The father's desire that the vow served.</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Numbers and facts at a glance</a:t>
            </a:r>
            <a:endParaRPr lang="en-US" sz="2600" dirty="0"/>
          </a:p>
        </p:txBody>
      </p:sp>
      <p:sp>
        <p:nvSpPr>
          <p:cNvPr id="4" name="Stat card 1"/>
          <p:cNvSpPr/>
          <p:nvPr/>
        </p:nvSpPr>
        <p:spPr>
          <a:xfrm>
            <a:off x="365760" y="1051560"/>
            <a:ext cx="2011680" cy="1691640"/>
          </a:xfrm>
          <a:prstGeom prst="roundRect">
            <a:avLst>
              <a:gd name="adj" fmla="val 5405"/>
            </a:avLst>
          </a:prstGeom>
          <a:solidFill>
            <a:srgbClr val="FFFFFF"/>
          </a:solidFill>
          <a:ln w="25400">
            <a:solidFill>
              <a:srgbClr val="8C2F1B"/>
            </a:solidFill>
            <a:prstDash val="solid"/>
          </a:ln>
          <a:effectLst>
            <a:outerShdw sx="100000" sy="100000" kx="0" ky="0" algn="bl" rotWithShape="0" blurRad="76200" dist="25400" dir="5400000">
              <a:srgbClr val="000000">
                <a:alpha val="15000"/>
              </a:srgbClr>
            </a:outerShdw>
          </a:effectLst>
        </p:spPr>
      </p:sp>
      <p:sp>
        <p:nvSpPr>
          <p:cNvPr id="5" name="Text 2"/>
          <p:cNvSpPr txBox="1"/>
          <p:nvPr/>
        </p:nvSpPr>
        <p:spPr>
          <a:xfrm>
            <a:off x="475488" y="1124712"/>
            <a:ext cx="1792224" cy="457200"/>
          </a:xfrm>
          <a:prstGeom prst="rect">
            <a:avLst/>
          </a:prstGeom>
          <a:noFill/>
          <a:ln/>
        </p:spPr>
        <p:txBody>
          <a:bodyPr wrap="square" lIns="0" tIns="0" rIns="0" bIns="0" rtlCol="0" anchor="t"/>
          <a:lstStyle/>
          <a:p>
            <a:pPr indent="0" marL="0">
              <a:buNone/>
            </a:pPr>
            <a:r>
              <a:rPr lang="en-US" sz="1100" b="1" dirty="0">
                <a:solidFill>
                  <a:srgbClr val="8C2F1B"/>
                </a:solidFill>
              </a:rPr>
              <a:t>Akṣauhiṇīs that died</a:t>
            </a:r>
            <a:endParaRPr lang="en-US" sz="1100" dirty="0"/>
          </a:p>
        </p:txBody>
      </p:sp>
      <p:sp>
        <p:nvSpPr>
          <p:cNvPr id="6" name="Text 3"/>
          <p:cNvSpPr txBox="1"/>
          <p:nvPr/>
        </p:nvSpPr>
        <p:spPr>
          <a:xfrm>
            <a:off x="47548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18</a:t>
            </a:r>
            <a:endParaRPr lang="en-US" sz="1800" dirty="0"/>
          </a:p>
        </p:txBody>
      </p:sp>
      <p:sp>
        <p:nvSpPr>
          <p:cNvPr id="7" name="Stat card 2"/>
          <p:cNvSpPr/>
          <p:nvPr/>
        </p:nvSpPr>
        <p:spPr>
          <a:xfrm>
            <a:off x="2514600" y="1051560"/>
            <a:ext cx="2011680" cy="1691640"/>
          </a:xfrm>
          <a:prstGeom prst="roundRect">
            <a:avLst>
              <a:gd name="adj" fmla="val 5405"/>
            </a:avLst>
          </a:prstGeom>
          <a:solidFill>
            <a:srgbClr val="FFFFFF"/>
          </a:solidFill>
          <a:ln w="25400">
            <a:solidFill>
              <a:srgbClr val="E07B00"/>
            </a:solidFill>
            <a:prstDash val="solid"/>
          </a:ln>
          <a:effectLst>
            <a:outerShdw sx="100000" sy="100000" kx="0" ky="0" algn="bl" rotWithShape="0" blurRad="76200" dist="25400" dir="5400000">
              <a:srgbClr val="000000">
                <a:alpha val="15000"/>
              </a:srgbClr>
            </a:outerShdw>
          </a:effectLst>
        </p:spPr>
      </p:sp>
      <p:sp>
        <p:nvSpPr>
          <p:cNvPr id="8" name="Text 5"/>
          <p:cNvSpPr txBox="1"/>
          <p:nvPr/>
        </p:nvSpPr>
        <p:spPr>
          <a:xfrm>
            <a:off x="2624328" y="1124712"/>
            <a:ext cx="1792224" cy="457200"/>
          </a:xfrm>
          <a:prstGeom prst="rect">
            <a:avLst/>
          </a:prstGeom>
          <a:noFill/>
          <a:ln/>
        </p:spPr>
        <p:txBody>
          <a:bodyPr wrap="square" lIns="0" tIns="0" rIns="0" bIns="0" rtlCol="0" anchor="t"/>
          <a:lstStyle/>
          <a:p>
            <a:pPr indent="0" marL="0">
              <a:buNone/>
            </a:pPr>
            <a:r>
              <a:rPr lang="en-US" sz="1100" b="1" dirty="0">
                <a:solidFill>
                  <a:srgbClr val="E07B00"/>
                </a:solidFill>
              </a:rPr>
              <a:t>Arjuna's exile brahmacarya</a:t>
            </a:r>
            <a:endParaRPr lang="en-US" sz="1100" dirty="0"/>
          </a:p>
        </p:txBody>
      </p:sp>
      <p:sp>
        <p:nvSpPr>
          <p:cNvPr id="9" name="Text 6"/>
          <p:cNvSpPr txBox="1"/>
          <p:nvPr/>
        </p:nvSpPr>
        <p:spPr>
          <a:xfrm>
            <a:off x="262432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12 years (he could not keep it)</a:t>
            </a:r>
            <a:endParaRPr lang="en-US" sz="1300" dirty="0"/>
          </a:p>
        </p:txBody>
      </p:sp>
      <p:sp>
        <p:nvSpPr>
          <p:cNvPr id="10" name="Stat card 3"/>
          <p:cNvSpPr/>
          <p:nvPr/>
        </p:nvSpPr>
        <p:spPr>
          <a:xfrm>
            <a:off x="4663440" y="1051560"/>
            <a:ext cx="2011680" cy="1691640"/>
          </a:xfrm>
          <a:prstGeom prst="roundRect">
            <a:avLst>
              <a:gd name="adj" fmla="val 5405"/>
            </a:avLst>
          </a:prstGeom>
          <a:solidFill>
            <a:srgbClr val="FFFFFF"/>
          </a:solidFill>
          <a:ln w="25400">
            <a:solidFill>
              <a:srgbClr val="2E7D32"/>
            </a:solidFill>
            <a:prstDash val="solid"/>
          </a:ln>
          <a:effectLst>
            <a:outerShdw sx="100000" sy="100000" kx="0" ky="0" algn="bl" rotWithShape="0" blurRad="76200" dist="25400" dir="5400000">
              <a:srgbClr val="000000">
                <a:alpha val="15000"/>
              </a:srgbClr>
            </a:outerShdw>
          </a:effectLst>
        </p:spPr>
      </p:sp>
      <p:sp>
        <p:nvSpPr>
          <p:cNvPr id="11" name="Text 8"/>
          <p:cNvSpPr txBox="1"/>
          <p:nvPr/>
        </p:nvSpPr>
        <p:spPr>
          <a:xfrm>
            <a:off x="4773168" y="1124712"/>
            <a:ext cx="1792224" cy="457200"/>
          </a:xfrm>
          <a:prstGeom prst="rect">
            <a:avLst/>
          </a:prstGeom>
          <a:noFill/>
          <a:ln/>
        </p:spPr>
        <p:txBody>
          <a:bodyPr wrap="square" lIns="0" tIns="0" rIns="0" bIns="0" rtlCol="0" anchor="t"/>
          <a:lstStyle/>
          <a:p>
            <a:pPr indent="0" marL="0">
              <a:buNone/>
            </a:pPr>
            <a:r>
              <a:rPr lang="en-US" sz="1100" b="1" dirty="0">
                <a:solidFill>
                  <a:srgbClr val="2E7D32"/>
                </a:solidFill>
              </a:rPr>
              <a:t>Day Abhimanyu was killed</a:t>
            </a:r>
            <a:endParaRPr lang="en-US" sz="1100" dirty="0"/>
          </a:p>
        </p:txBody>
      </p:sp>
      <p:sp>
        <p:nvSpPr>
          <p:cNvPr id="12" name="Text 9"/>
          <p:cNvSpPr txBox="1"/>
          <p:nvPr/>
        </p:nvSpPr>
        <p:spPr>
          <a:xfrm>
            <a:off x="477316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13th day</a:t>
            </a:r>
            <a:endParaRPr lang="en-US" sz="1800" dirty="0"/>
          </a:p>
        </p:txBody>
      </p:sp>
      <p:sp>
        <p:nvSpPr>
          <p:cNvPr id="13" name="Stat card 4"/>
          <p:cNvSpPr/>
          <p:nvPr/>
        </p:nvSpPr>
        <p:spPr>
          <a:xfrm>
            <a:off x="6812280" y="1051560"/>
            <a:ext cx="2011680" cy="1691640"/>
          </a:xfrm>
          <a:prstGeom prst="roundRect">
            <a:avLst>
              <a:gd name="adj" fmla="val 5405"/>
            </a:avLst>
          </a:prstGeom>
          <a:solidFill>
            <a:srgbClr val="FFFFFF"/>
          </a:solidFill>
          <a:ln w="25400">
            <a:solidFill>
              <a:srgbClr val="6A1B9A"/>
            </a:solidFill>
            <a:prstDash val="solid"/>
          </a:ln>
          <a:effectLst>
            <a:outerShdw sx="100000" sy="100000" kx="0" ky="0" algn="bl" rotWithShape="0" blurRad="76200" dist="25400" dir="5400000">
              <a:srgbClr val="000000">
                <a:alpha val="15000"/>
              </a:srgbClr>
            </a:outerShdw>
          </a:effectLst>
        </p:spPr>
      </p:sp>
      <p:sp>
        <p:nvSpPr>
          <p:cNvPr id="14" name="Text 11"/>
          <p:cNvSpPr txBox="1"/>
          <p:nvPr/>
        </p:nvSpPr>
        <p:spPr>
          <a:xfrm>
            <a:off x="6922008" y="1124712"/>
            <a:ext cx="1792224" cy="457200"/>
          </a:xfrm>
          <a:prstGeom prst="rect">
            <a:avLst/>
          </a:prstGeom>
          <a:noFill/>
          <a:ln/>
        </p:spPr>
        <p:txBody>
          <a:bodyPr wrap="square" lIns="0" tIns="0" rIns="0" bIns="0" rtlCol="0" anchor="t"/>
          <a:lstStyle/>
          <a:p>
            <a:pPr indent="0" marL="0">
              <a:buNone/>
            </a:pPr>
            <a:r>
              <a:rPr lang="en-US" sz="1100" b="1" dirty="0">
                <a:solidFill>
                  <a:srgbClr val="6A1B9A"/>
                </a:solidFill>
              </a:rPr>
              <a:t>Vyūhas protecting Jayadratha</a:t>
            </a:r>
            <a:endParaRPr lang="en-US" sz="1100" dirty="0"/>
          </a:p>
        </p:txBody>
      </p:sp>
      <p:sp>
        <p:nvSpPr>
          <p:cNvPr id="15" name="Text 12"/>
          <p:cNvSpPr txBox="1"/>
          <p:nvPr/>
        </p:nvSpPr>
        <p:spPr>
          <a:xfrm>
            <a:off x="692200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3</a:t>
            </a:r>
            <a:endParaRPr lang="en-US" sz="1800" dirty="0"/>
          </a:p>
        </p:txBody>
      </p:sp>
      <p:sp>
        <p:nvSpPr>
          <p:cNvPr id="16" name="Stat card 5"/>
          <p:cNvSpPr/>
          <p:nvPr/>
        </p:nvSpPr>
        <p:spPr>
          <a:xfrm>
            <a:off x="365760" y="2880360"/>
            <a:ext cx="2011680" cy="1691640"/>
          </a:xfrm>
          <a:prstGeom prst="roundRect">
            <a:avLst>
              <a:gd name="adj" fmla="val 5405"/>
            </a:avLst>
          </a:prstGeom>
          <a:solidFill>
            <a:srgbClr val="FFFFFF"/>
          </a:solidFill>
          <a:ln w="25400">
            <a:solidFill>
              <a:srgbClr val="1565C0"/>
            </a:solidFill>
            <a:prstDash val="solid"/>
          </a:ln>
          <a:effectLst>
            <a:outerShdw sx="100000" sy="100000" kx="0" ky="0" algn="bl" rotWithShape="0" blurRad="76200" dist="25400" dir="5400000">
              <a:srgbClr val="000000">
                <a:alpha val="15000"/>
              </a:srgbClr>
            </a:outerShdw>
          </a:effectLst>
        </p:spPr>
      </p:sp>
      <p:sp>
        <p:nvSpPr>
          <p:cNvPr id="17" name="Text 14"/>
          <p:cNvSpPr txBox="1"/>
          <p:nvPr/>
        </p:nvSpPr>
        <p:spPr>
          <a:xfrm>
            <a:off x="475488" y="2953512"/>
            <a:ext cx="1792224" cy="457200"/>
          </a:xfrm>
          <a:prstGeom prst="rect">
            <a:avLst/>
          </a:prstGeom>
          <a:noFill/>
          <a:ln/>
        </p:spPr>
        <p:txBody>
          <a:bodyPr wrap="square" lIns="0" tIns="0" rIns="0" bIns="0" rtlCol="0" anchor="t"/>
          <a:lstStyle/>
          <a:p>
            <a:pPr indent="0" marL="0">
              <a:buNone/>
            </a:pPr>
            <a:r>
              <a:rPr lang="en-US" sz="1100" b="1" dirty="0">
                <a:solidFill>
                  <a:srgbClr val="1565C0"/>
                </a:solidFill>
              </a:rPr>
              <a:t>Pratijñās studied</a:t>
            </a:r>
            <a:endParaRPr lang="en-US" sz="1100" dirty="0"/>
          </a:p>
        </p:txBody>
      </p:sp>
      <p:sp>
        <p:nvSpPr>
          <p:cNvPr id="18" name="Text 15"/>
          <p:cNvSpPr txBox="1"/>
          <p:nvPr/>
        </p:nvSpPr>
        <p:spPr>
          <a:xfrm>
            <a:off x="475488" y="34290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Bhīṣma, Gāndhārī, Arjuna, Bhīma (2 vows), Kṛṣṇa</a:t>
            </a:r>
            <a:endParaRPr lang="en-US" sz="1300" dirty="0"/>
          </a:p>
        </p:txBody>
      </p:sp>
      <p:sp>
        <p:nvSpPr>
          <p:cNvPr id="19" name="Stat card 6"/>
          <p:cNvSpPr/>
          <p:nvPr/>
        </p:nvSpPr>
        <p:spPr>
          <a:xfrm>
            <a:off x="2514600" y="2880360"/>
            <a:ext cx="2011680" cy="1691640"/>
          </a:xfrm>
          <a:prstGeom prst="roundRect">
            <a:avLst>
              <a:gd name="adj" fmla="val 5405"/>
            </a:avLst>
          </a:prstGeom>
          <a:solidFill>
            <a:srgbClr val="FFFFFF"/>
          </a:solidFill>
          <a:ln w="25400">
            <a:solidFill>
              <a:srgbClr val="00796B"/>
            </a:solidFill>
            <a:prstDash val="solid"/>
          </a:ln>
          <a:effectLst>
            <a:outerShdw sx="100000" sy="100000" kx="0" ky="0" algn="bl" rotWithShape="0" blurRad="76200" dist="25400" dir="5400000">
              <a:srgbClr val="000000">
                <a:alpha val="15000"/>
              </a:srgbClr>
            </a:outerShdw>
          </a:effectLst>
        </p:spPr>
      </p:sp>
      <p:sp>
        <p:nvSpPr>
          <p:cNvPr id="20" name="Text 17"/>
          <p:cNvSpPr txBox="1"/>
          <p:nvPr/>
        </p:nvSpPr>
        <p:spPr>
          <a:xfrm>
            <a:off x="2624328" y="2953512"/>
            <a:ext cx="1792224" cy="457200"/>
          </a:xfrm>
          <a:prstGeom prst="rect">
            <a:avLst/>
          </a:prstGeom>
          <a:noFill/>
          <a:ln/>
        </p:spPr>
        <p:txBody>
          <a:bodyPr wrap="square" lIns="0" tIns="0" rIns="0" bIns="0" rtlCol="0" anchor="t"/>
          <a:lstStyle/>
          <a:p>
            <a:pPr indent="0" marL="0">
              <a:buNone/>
            </a:pPr>
            <a:r>
              <a:rPr lang="en-US" sz="1100" b="1" dirty="0">
                <a:solidFill>
                  <a:srgbClr val="00796B"/>
                </a:solidFill>
              </a:rPr>
              <a:t>Last Kauravas in mace duel</a:t>
            </a:r>
            <a:endParaRPr lang="en-US" sz="1100" dirty="0"/>
          </a:p>
        </p:txBody>
      </p:sp>
      <p:sp>
        <p:nvSpPr>
          <p:cNvPr id="21" name="Text 18"/>
          <p:cNvSpPr txBox="1"/>
          <p:nvPr/>
        </p:nvSpPr>
        <p:spPr>
          <a:xfrm>
            <a:off x="2624328" y="34290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Duryodhana, Aśvatthāmā, Kṛpa, Kṛtavarmā</a:t>
            </a:r>
            <a:endParaRPr lang="en-US" sz="1300" dirty="0"/>
          </a:p>
        </p:txBody>
      </p:sp>
      <p:sp>
        <p:nvSpPr>
          <p:cNvPr id="22" name="Stat card 7"/>
          <p:cNvSpPr/>
          <p:nvPr/>
        </p:nvSpPr>
        <p:spPr>
          <a:xfrm>
            <a:off x="4663440" y="2880360"/>
            <a:ext cx="2011680" cy="1691640"/>
          </a:xfrm>
          <a:prstGeom prst="roundRect">
            <a:avLst>
              <a:gd name="adj" fmla="val 5405"/>
            </a:avLst>
          </a:prstGeom>
          <a:solidFill>
            <a:srgbClr val="FFFFFF"/>
          </a:solidFill>
          <a:ln w="25400">
            <a:solidFill>
              <a:srgbClr val="AD1457"/>
            </a:solidFill>
            <a:prstDash val="solid"/>
          </a:ln>
          <a:effectLst>
            <a:outerShdw sx="100000" sy="100000" kx="0" ky="0" algn="bl" rotWithShape="0" blurRad="76200" dist="25400" dir="5400000">
              <a:srgbClr val="000000">
                <a:alpha val="15000"/>
              </a:srgbClr>
            </a:outerShdw>
          </a:effectLst>
        </p:spPr>
      </p:sp>
      <p:sp>
        <p:nvSpPr>
          <p:cNvPr id="23" name="Text 20"/>
          <p:cNvSpPr txBox="1"/>
          <p:nvPr/>
        </p:nvSpPr>
        <p:spPr>
          <a:xfrm>
            <a:off x="4773168" y="2953512"/>
            <a:ext cx="1792224" cy="457200"/>
          </a:xfrm>
          <a:prstGeom prst="rect">
            <a:avLst/>
          </a:prstGeom>
          <a:noFill/>
          <a:ln/>
        </p:spPr>
        <p:txBody>
          <a:bodyPr wrap="square" lIns="0" tIns="0" rIns="0" bIns="0" rtlCol="0" anchor="t"/>
          <a:lstStyle/>
          <a:p>
            <a:pPr indent="0" marL="0">
              <a:buNone/>
            </a:pPr>
            <a:r>
              <a:rPr lang="en-US" sz="1100" b="1" dirty="0">
                <a:solidFill>
                  <a:srgbClr val="AD1457"/>
                </a:solidFill>
              </a:rPr>
              <a:t>Questions to test a vow</a:t>
            </a:r>
            <a:endParaRPr lang="en-US" sz="1100" dirty="0"/>
          </a:p>
        </p:txBody>
      </p:sp>
      <p:sp>
        <p:nvSpPr>
          <p:cNvPr id="24" name="Text 21"/>
          <p:cNvSpPr txBox="1"/>
          <p:nvPr/>
        </p:nvSpPr>
        <p:spPr>
          <a:xfrm>
            <a:off x="4773168" y="34290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2</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8C2F1B"/>
          </a:solidFill>
          <a:ln w="12700">
            <a:solidFill>
              <a:srgbClr val="8C2F1B"/>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8C2F1B"/>
                </a:solidFill>
              </a:rPr>
              <a:t>Devavrata / Bhīṣma</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Brahmacarya archetype; vow trapped him.</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E07B00"/>
          </a:solidFill>
          <a:ln w="12700">
            <a:solidFill>
              <a:srgbClr val="E07B00"/>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Ś</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E07B00"/>
                </a:solidFill>
              </a:rPr>
              <a:t>Śantanu / Satyavatī</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Father whose desire prompted the vow / mother of Citrāṅgada and Vicitravīrya.</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2E7D32"/>
          </a:solidFill>
          <a:ln w="12700">
            <a:solidFill>
              <a:srgbClr val="2E7D32"/>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2E7D32"/>
                </a:solidFill>
              </a:rPr>
              <a:t>Aṇīmāṇḍavya</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Muni on a spear; cursed Yama.</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6A1B9A"/>
          </a:solidFill>
          <a:ln w="12700">
            <a:solidFill>
              <a:srgbClr val="6A1B9A"/>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G</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6A1B9A"/>
                </a:solidFill>
              </a:rPr>
              <a:t>Gāndhārī and Subala</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Blindfolded queen / her father, king of Gāndhāra.</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1565C0"/>
          </a:solidFill>
          <a:ln w="12700">
            <a:solidFill>
              <a:srgbClr val="1565C0"/>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1565C0"/>
                </a:solidFill>
              </a:rPr>
              <a:t>Arjuna, Abhimanyu, Jayadratha, Droṇa</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Vow, fallen son, target, Cakravyūha maker.</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00796B"/>
          </a:solidFill>
          <a:ln w="12700">
            <a:solidFill>
              <a:srgbClr val="00796B"/>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00796B"/>
                </a:solidFill>
              </a:rPr>
              <a:t>Bhīma, Duḥśāsana, Duryodhana</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Vow-maker and the two targets.</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AD1457"/>
          </a:solidFill>
          <a:ln w="12700">
            <a:solidFill>
              <a:srgbClr val="AD1457"/>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K</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AD1457"/>
                </a:solidFill>
              </a:rPr>
              <a:t>Kṛṣṇa</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Pratijñā archetype; Sudarśana cakra; chariot-wheel charge.</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455A64"/>
          </a:solidFill>
          <a:ln w="12700">
            <a:solidFill>
              <a:srgbClr val="455A64"/>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V</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455A64"/>
                </a:solidFill>
              </a:rPr>
              <a:t>Vyāsa</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Fathered Dhṛtarāṣṭra, Pāṇḍu, Vidura.</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Ślokas, sayings and sources</a:t>
            </a:r>
            <a:endParaRPr lang="en-US" sz="2600" dirty="0"/>
          </a:p>
        </p:txBody>
      </p:sp>
      <p:sp>
        <p:nvSpPr>
          <p:cNvPr id="4" name="Sloka card 1"/>
          <p:cNvSpPr/>
          <p:nvPr/>
        </p:nvSpPr>
        <p:spPr>
          <a:xfrm>
            <a:off x="365760" y="1005840"/>
            <a:ext cx="8412480" cy="595630"/>
          </a:xfrm>
          <a:prstGeom prst="roundRect">
            <a:avLst>
              <a:gd name="adj" fmla="val 12281"/>
            </a:avLst>
          </a:prstGeom>
          <a:solidFill>
            <a:srgbClr val="FFF4D6"/>
          </a:solidFill>
          <a:ln w="12700">
            <a:solidFill>
              <a:srgbClr val="EAD9C4"/>
            </a:solidFill>
            <a:prstDash val="solid"/>
          </a:ln>
        </p:spPr>
      </p:sp>
      <p:sp>
        <p:nvSpPr>
          <p:cNvPr id="5" name="Text 2"/>
          <p:cNvSpPr txBox="1"/>
          <p:nvPr/>
        </p:nvSpPr>
        <p:spPr>
          <a:xfrm>
            <a:off x="548640" y="1005840"/>
            <a:ext cx="3840480" cy="595630"/>
          </a:xfrm>
          <a:prstGeom prst="rect">
            <a:avLst/>
          </a:prstGeom>
          <a:noFill/>
          <a:ln/>
        </p:spPr>
        <p:txBody>
          <a:bodyPr wrap="square" lIns="0" tIns="0" rIns="0" bIns="0" rtlCol="0" anchor="ctr"/>
          <a:lstStyle/>
          <a:p>
            <a:pPr indent="0" marL="0">
              <a:buNone/>
            </a:pPr>
            <a:r>
              <a:rPr lang="en-US" sz="1300" i="1" dirty="0">
                <a:solidFill>
                  <a:srgbClr val="8C2F1B"/>
                </a:solidFill>
                <a:latin typeface="Cambria" pitchFamily="34" charset="0"/>
                <a:ea typeface="Cambria" pitchFamily="34" charset="-122"/>
                <a:cs typeface="Cambria" pitchFamily="34" charset="-120"/>
              </a:rPr>
              <a:t>'Bhīṣma... Bhīṣma...' from the skies</a:t>
            </a:r>
            <a:endParaRPr lang="en-US" sz="1300" dirty="0"/>
          </a:p>
        </p:txBody>
      </p:sp>
      <p:sp>
        <p:nvSpPr>
          <p:cNvPr id="6" name="Text 3"/>
          <p:cNvSpPr txBox="1"/>
          <p:nvPr/>
        </p:nvSpPr>
        <p:spPr>
          <a:xfrm>
            <a:off x="4572000" y="1005840"/>
            <a:ext cx="4069080" cy="595630"/>
          </a:xfrm>
          <a:prstGeom prst="rect">
            <a:avLst/>
          </a:prstGeom>
          <a:noFill/>
          <a:ln/>
        </p:spPr>
        <p:txBody>
          <a:bodyPr wrap="square" lIns="0" tIns="0" rIns="0" bIns="0" rtlCol="0" anchor="ctr"/>
          <a:lstStyle/>
          <a:p>
            <a:pPr indent="0" marL="0">
              <a:buNone/>
            </a:pPr>
            <a:r>
              <a:rPr lang="en-US" sz="1300" dirty="0">
                <a:solidFill>
                  <a:srgbClr val="2A2A2A"/>
                </a:solidFill>
              </a:rPr>
              <a:t>Gods' cry at Devavrata's vow, giving the name.</a:t>
            </a:r>
            <a:endParaRPr lang="en-US" sz="1300" dirty="0"/>
          </a:p>
        </p:txBody>
      </p:sp>
      <p:sp>
        <p:nvSpPr>
          <p:cNvPr id="7" name="Sloka card 2"/>
          <p:cNvSpPr/>
          <p:nvPr/>
        </p:nvSpPr>
        <p:spPr>
          <a:xfrm>
            <a:off x="365760" y="1711198"/>
            <a:ext cx="8412480" cy="389255"/>
          </a:xfrm>
          <a:prstGeom prst="roundRect">
            <a:avLst>
              <a:gd name="adj" fmla="val 18793"/>
            </a:avLst>
          </a:prstGeom>
          <a:solidFill>
            <a:srgbClr val="FFF4D6"/>
          </a:solidFill>
          <a:ln w="12700">
            <a:solidFill>
              <a:srgbClr val="EAD9C4"/>
            </a:solidFill>
            <a:prstDash val="solid"/>
          </a:ln>
        </p:spPr>
      </p:sp>
      <p:sp>
        <p:nvSpPr>
          <p:cNvPr id="8" name="Text 5"/>
          <p:cNvSpPr txBox="1"/>
          <p:nvPr/>
        </p:nvSpPr>
        <p:spPr>
          <a:xfrm>
            <a:off x="548640" y="1711198"/>
            <a:ext cx="3840480" cy="389255"/>
          </a:xfrm>
          <a:prstGeom prst="rect">
            <a:avLst/>
          </a:prstGeom>
          <a:noFill/>
          <a:ln/>
        </p:spPr>
        <p:txBody>
          <a:bodyPr wrap="square" lIns="0" tIns="0" rIns="0" bIns="0" rtlCol="0" anchor="ctr"/>
          <a:lstStyle/>
          <a:p>
            <a:pPr indent="0" marL="0">
              <a:buNone/>
            </a:pPr>
            <a:r>
              <a:rPr lang="en-US" sz="1300" i="1" dirty="0">
                <a:solidFill>
                  <a:srgbClr val="E07B00"/>
                </a:solidFill>
                <a:latin typeface="Cambria" pitchFamily="34" charset="0"/>
                <a:ea typeface="Cambria" pitchFamily="34" charset="-122"/>
                <a:cs typeface="Cambria" pitchFamily="34" charset="-120"/>
              </a:rPr>
              <a:t>'Dharmadeva is not above Dharma'</a:t>
            </a:r>
            <a:endParaRPr lang="en-US" sz="1300" dirty="0"/>
          </a:p>
        </p:txBody>
      </p:sp>
      <p:sp>
        <p:nvSpPr>
          <p:cNvPr id="9" name="Text 6"/>
          <p:cNvSpPr txBox="1"/>
          <p:nvPr/>
        </p:nvSpPr>
        <p:spPr>
          <a:xfrm>
            <a:off x="4572000" y="1711198"/>
            <a:ext cx="4069080" cy="389255"/>
          </a:xfrm>
          <a:prstGeom prst="rect">
            <a:avLst/>
          </a:prstGeom>
          <a:noFill/>
          <a:ln/>
        </p:spPr>
        <p:txBody>
          <a:bodyPr wrap="square" lIns="0" tIns="0" rIns="0" bIns="0" rtlCol="0" anchor="ctr"/>
          <a:lstStyle/>
          <a:p>
            <a:pPr indent="0" marL="0">
              <a:buNone/>
            </a:pPr>
            <a:r>
              <a:rPr lang="en-US" sz="1300" dirty="0">
                <a:solidFill>
                  <a:srgbClr val="2A2A2A"/>
                </a:solidFill>
              </a:rPr>
              <a:t>Lesson from Aṇīmāṇḍavya's curse on Yama.</a:t>
            </a:r>
            <a:endParaRPr lang="en-US" sz="1300" dirty="0"/>
          </a:p>
        </p:txBody>
      </p:sp>
      <p:sp>
        <p:nvSpPr>
          <p:cNvPr id="10" name="Sloka card 3"/>
          <p:cNvSpPr/>
          <p:nvPr/>
        </p:nvSpPr>
        <p:spPr>
          <a:xfrm>
            <a:off x="365760" y="2210181"/>
            <a:ext cx="8412480" cy="595630"/>
          </a:xfrm>
          <a:prstGeom prst="roundRect">
            <a:avLst>
              <a:gd name="adj" fmla="val 12281"/>
            </a:avLst>
          </a:prstGeom>
          <a:solidFill>
            <a:srgbClr val="FFF4D6"/>
          </a:solidFill>
          <a:ln w="12700">
            <a:solidFill>
              <a:srgbClr val="EAD9C4"/>
            </a:solidFill>
            <a:prstDash val="solid"/>
          </a:ln>
        </p:spPr>
      </p:sp>
      <p:sp>
        <p:nvSpPr>
          <p:cNvPr id="11" name="Text 8"/>
          <p:cNvSpPr txBox="1"/>
          <p:nvPr/>
        </p:nvSpPr>
        <p:spPr>
          <a:xfrm>
            <a:off x="548640" y="2210181"/>
            <a:ext cx="3840480" cy="595630"/>
          </a:xfrm>
          <a:prstGeom prst="rect">
            <a:avLst/>
          </a:prstGeom>
          <a:noFill/>
          <a:ln/>
        </p:spPr>
        <p:txBody>
          <a:bodyPr wrap="square" lIns="0" tIns="0" rIns="0" bIns="0" rtlCol="0" anchor="ctr"/>
          <a:lstStyle/>
          <a:p>
            <a:pPr indent="0" marL="0">
              <a:buNone/>
            </a:pPr>
            <a:r>
              <a:rPr lang="en-US" sz="1300" i="1" dirty="0">
                <a:solidFill>
                  <a:srgbClr val="2E7D32"/>
                </a:solidFill>
                <a:latin typeface="Cambria" pitchFamily="34" charset="0"/>
                <a:ea typeface="Cambria" pitchFamily="34" charset="-122"/>
                <a:cs typeface="Cambria" pitchFamily="34" charset="-120"/>
              </a:rPr>
              <a:t>Amma: 'The principle of motherhood is as vast and powerful as the universe...'</a:t>
            </a:r>
            <a:endParaRPr lang="en-US" sz="1300" dirty="0"/>
          </a:p>
        </p:txBody>
      </p:sp>
      <p:sp>
        <p:nvSpPr>
          <p:cNvPr id="12" name="Text 9"/>
          <p:cNvSpPr txBox="1"/>
          <p:nvPr/>
        </p:nvSpPr>
        <p:spPr>
          <a:xfrm>
            <a:off x="4572000" y="2210181"/>
            <a:ext cx="4069080" cy="595630"/>
          </a:xfrm>
          <a:prstGeom prst="rect">
            <a:avLst/>
          </a:prstGeom>
          <a:noFill/>
          <a:ln/>
        </p:spPr>
        <p:txBody>
          <a:bodyPr wrap="square" lIns="0" tIns="0" rIns="0" bIns="0" rtlCol="0" anchor="ctr"/>
          <a:lstStyle/>
          <a:p>
            <a:pPr indent="0" marL="0">
              <a:buNone/>
            </a:pPr>
            <a:r>
              <a:rPr lang="en-US" sz="1300" dirty="0">
                <a:solidFill>
                  <a:srgbClr val="2A2A2A"/>
                </a:solidFill>
              </a:rPr>
              <a:t>A mother can influence the world; Gāndhārī failed to.</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The vows compared</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1483836"/>
                <a:gridCol w="2269397"/>
                <a:gridCol w="1658405"/>
                <a:gridCol w="3000841"/>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Vow-maker</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Vow</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Motive</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Outcome / lesson</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Bhīṣma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Lifelong celibacy, no throne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Father's desire; spontaneous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Empty throne, powerless before adharma; brahmacarya archetype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Gāndhārī</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Blindfold for life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Instant emotion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Blind to children's adharma; bloodshed</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Arjuna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Kill Jayadratha before sunset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Anger at Abhimanyu's death</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Fulfilled only by Kṛṣṇa's help</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Bhīma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Kill Duḥśāsana; break Duryodhana's thigh</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Rage at Draupadī's insult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Dharma stayed first; fulfilled within Dharma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Kṛṣṇa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Not to take up arms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Neutral commitment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Not bound; acts with clarity; Pratijñā archetype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Mind map of the chapter</a:t>
            </a:r>
            <a:endParaRPr lang="en-US" sz="2600" dirty="0"/>
          </a:p>
        </p:txBody>
      </p:sp>
      <p:pic>
        <p:nvPicPr>
          <p:cNvPr id="4" name="Mind map" descr="Chapter mind map">    </p:cNvPr>
          <p:cNvPicPr>
            <a:picLocks noChangeAspect="1"/>
          </p:cNvPicPr>
          <p:nvPr/>
        </p:nvPicPr>
        <p:blipFill>
          <a:blip r:embed="rId1"/>
          <a:stretch>
            <a:fillRect/>
          </a:stretch>
        </p:blipFill>
        <p:spPr>
          <a:xfrm>
            <a:off x="1041991" y="914400"/>
            <a:ext cx="7060019" cy="37947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Memory aids</a:t>
            </a:r>
            <a:endParaRPr lang="en-US" sz="2600" dirty="0"/>
          </a:p>
        </p:txBody>
      </p:sp>
      <p:sp>
        <p:nvSpPr>
          <p:cNvPr id="4" name="Memory card 1"/>
          <p:cNvSpPr/>
          <p:nvPr/>
        </p:nvSpPr>
        <p:spPr>
          <a:xfrm>
            <a:off x="365760" y="1005840"/>
            <a:ext cx="4114800" cy="1115568"/>
          </a:xfrm>
          <a:prstGeom prst="roundRect">
            <a:avLst>
              <a:gd name="adj" fmla="val 8197"/>
            </a:avLst>
          </a:prstGeom>
          <a:solidFill>
            <a:srgbClr val="FFF4D6"/>
          </a:solidFill>
          <a:ln w="19050">
            <a:solidFill>
              <a:srgbClr val="8C2F1B"/>
            </a:solidFill>
            <a:prstDash val="solid"/>
          </a:ln>
        </p:spPr>
      </p:sp>
      <p:sp>
        <p:nvSpPr>
          <p:cNvPr id="5" name="Badge"/>
          <p:cNvSpPr/>
          <p:nvPr/>
        </p:nvSpPr>
        <p:spPr>
          <a:xfrm>
            <a:off x="475488" y="1115568"/>
            <a:ext cx="347472" cy="347472"/>
          </a:xfrm>
          <a:prstGeom prst="ellipse">
            <a:avLst/>
          </a:prstGeom>
          <a:solidFill>
            <a:srgbClr val="8C2F1B"/>
          </a:solidFill>
          <a:ln w="12700">
            <a:solidFill>
              <a:srgbClr val="8C2F1B"/>
            </a:solidFill>
            <a:prstDash val="solid"/>
          </a:ln>
        </p:spPr>
      </p:sp>
      <p:sp>
        <p:nvSpPr>
          <p:cNvPr id="6" name="Text 3"/>
          <p:cNvSpPr txBox="1"/>
          <p:nvPr/>
        </p:nvSpPr>
        <p:spPr>
          <a:xfrm>
            <a:off x="47548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4"/>
          <p:cNvSpPr txBox="1"/>
          <p:nvPr/>
        </p:nvSpPr>
        <p:spPr>
          <a:xfrm>
            <a:off x="91440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Archetypes: Bhīṣma = Brahmacarya; Kṛṣṇa = Pratijñā.</a:t>
            </a:r>
            <a:endParaRPr lang="en-US" sz="1300" dirty="0"/>
          </a:p>
        </p:txBody>
      </p:sp>
      <p:sp>
        <p:nvSpPr>
          <p:cNvPr id="8" name="Memory card 2"/>
          <p:cNvSpPr/>
          <p:nvPr/>
        </p:nvSpPr>
        <p:spPr>
          <a:xfrm>
            <a:off x="4663440" y="1005840"/>
            <a:ext cx="4114800" cy="1115568"/>
          </a:xfrm>
          <a:prstGeom prst="roundRect">
            <a:avLst>
              <a:gd name="adj" fmla="val 8197"/>
            </a:avLst>
          </a:prstGeom>
          <a:solidFill>
            <a:srgbClr val="FFF4D6"/>
          </a:solidFill>
          <a:ln w="19050">
            <a:solidFill>
              <a:srgbClr val="E07B00"/>
            </a:solidFill>
            <a:prstDash val="solid"/>
          </a:ln>
        </p:spPr>
      </p:sp>
      <p:sp>
        <p:nvSpPr>
          <p:cNvPr id="9" name="Badge"/>
          <p:cNvSpPr/>
          <p:nvPr/>
        </p:nvSpPr>
        <p:spPr>
          <a:xfrm>
            <a:off x="4773168" y="1115568"/>
            <a:ext cx="347472" cy="347472"/>
          </a:xfrm>
          <a:prstGeom prst="ellipse">
            <a:avLst/>
          </a:prstGeom>
          <a:solidFill>
            <a:srgbClr val="E07B00"/>
          </a:solidFill>
          <a:ln w="12700">
            <a:solidFill>
              <a:srgbClr val="E07B00"/>
            </a:solidFill>
            <a:prstDash val="solid"/>
          </a:ln>
        </p:spPr>
      </p:sp>
      <p:sp>
        <p:nvSpPr>
          <p:cNvPr id="10" name="Text 7"/>
          <p:cNvSpPr txBox="1"/>
          <p:nvPr/>
        </p:nvSpPr>
        <p:spPr>
          <a:xfrm>
            <a:off x="477316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1" name="Text 8"/>
          <p:cNvSpPr txBox="1"/>
          <p:nvPr/>
        </p:nvSpPr>
        <p:spPr>
          <a:xfrm>
            <a:off x="521208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Vows in order: Bhīṣma (celibacy), Gāndhārī (blindfold), Arjuna (sunset), Bhīma (chest, thigh).</a:t>
            </a:r>
            <a:endParaRPr lang="en-US" sz="1300" dirty="0"/>
          </a:p>
        </p:txBody>
      </p:sp>
      <p:sp>
        <p:nvSpPr>
          <p:cNvPr id="12" name="Memory card 3"/>
          <p:cNvSpPr/>
          <p:nvPr/>
        </p:nvSpPr>
        <p:spPr>
          <a:xfrm>
            <a:off x="365760" y="2240280"/>
            <a:ext cx="4114800" cy="1115568"/>
          </a:xfrm>
          <a:prstGeom prst="roundRect">
            <a:avLst>
              <a:gd name="adj" fmla="val 8197"/>
            </a:avLst>
          </a:prstGeom>
          <a:solidFill>
            <a:srgbClr val="FFF4D6"/>
          </a:solidFill>
          <a:ln w="19050">
            <a:solidFill>
              <a:srgbClr val="2E7D32"/>
            </a:solidFill>
            <a:prstDash val="solid"/>
          </a:ln>
        </p:spPr>
      </p:sp>
      <p:sp>
        <p:nvSpPr>
          <p:cNvPr id="13" name="Badge"/>
          <p:cNvSpPr/>
          <p:nvPr/>
        </p:nvSpPr>
        <p:spPr>
          <a:xfrm>
            <a:off x="475488" y="2350008"/>
            <a:ext cx="347472" cy="347472"/>
          </a:xfrm>
          <a:prstGeom prst="ellipse">
            <a:avLst/>
          </a:prstGeom>
          <a:solidFill>
            <a:srgbClr val="2E7D32"/>
          </a:solidFill>
          <a:ln w="12700">
            <a:solidFill>
              <a:srgbClr val="2E7D32"/>
            </a:solidFill>
            <a:prstDash val="solid"/>
          </a:ln>
        </p:spPr>
      </p:sp>
      <p:sp>
        <p:nvSpPr>
          <p:cNvPr id="14" name="Text 11"/>
          <p:cNvSpPr txBox="1"/>
          <p:nvPr/>
        </p:nvSpPr>
        <p:spPr>
          <a:xfrm>
            <a:off x="47548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5" name="Text 12"/>
          <p:cNvSpPr txBox="1"/>
          <p:nvPr/>
        </p:nvSpPr>
        <p:spPr>
          <a:xfrm>
            <a:off x="91440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3 vyūhas, 13th day, 18 akṣauhiṇīs.</a:t>
            </a:r>
            <a:endParaRPr lang="en-US" sz="1300" dirty="0"/>
          </a:p>
        </p:txBody>
      </p:sp>
      <p:sp>
        <p:nvSpPr>
          <p:cNvPr id="16" name="Memory card 4"/>
          <p:cNvSpPr/>
          <p:nvPr/>
        </p:nvSpPr>
        <p:spPr>
          <a:xfrm>
            <a:off x="4663440" y="2240280"/>
            <a:ext cx="4114800" cy="1115568"/>
          </a:xfrm>
          <a:prstGeom prst="roundRect">
            <a:avLst>
              <a:gd name="adj" fmla="val 8197"/>
            </a:avLst>
          </a:prstGeom>
          <a:solidFill>
            <a:srgbClr val="FFF4D6"/>
          </a:solidFill>
          <a:ln w="19050">
            <a:solidFill>
              <a:srgbClr val="6A1B9A"/>
            </a:solidFill>
            <a:prstDash val="solid"/>
          </a:ln>
        </p:spPr>
      </p:sp>
      <p:sp>
        <p:nvSpPr>
          <p:cNvPr id="17" name="Badge"/>
          <p:cNvSpPr/>
          <p:nvPr/>
        </p:nvSpPr>
        <p:spPr>
          <a:xfrm>
            <a:off x="4773168" y="2350008"/>
            <a:ext cx="347472" cy="347472"/>
          </a:xfrm>
          <a:prstGeom prst="ellipse">
            <a:avLst/>
          </a:prstGeom>
          <a:solidFill>
            <a:srgbClr val="6A1B9A"/>
          </a:solidFill>
          <a:ln w="12700">
            <a:solidFill>
              <a:srgbClr val="6A1B9A"/>
            </a:solidFill>
            <a:prstDash val="solid"/>
          </a:ln>
        </p:spPr>
      </p:sp>
      <p:sp>
        <p:nvSpPr>
          <p:cNvPr id="18" name="Text 15"/>
          <p:cNvSpPr txBox="1"/>
          <p:nvPr/>
        </p:nvSpPr>
        <p:spPr>
          <a:xfrm>
            <a:off x="477316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9" name="Text 16"/>
          <p:cNvSpPr txBox="1"/>
          <p:nvPr/>
        </p:nvSpPr>
        <p:spPr>
          <a:xfrm>
            <a:off x="521208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Test a vow: Clarity? Benefit? (C-B)</a:t>
            </a:r>
            <a:endParaRPr lang="en-US" sz="1300" dirty="0"/>
          </a:p>
        </p:txBody>
      </p:sp>
      <p:sp>
        <p:nvSpPr>
          <p:cNvPr id="20" name="Memory card 5"/>
          <p:cNvSpPr/>
          <p:nvPr/>
        </p:nvSpPr>
        <p:spPr>
          <a:xfrm>
            <a:off x="365760" y="3474720"/>
            <a:ext cx="4114800" cy="1115568"/>
          </a:xfrm>
          <a:prstGeom prst="roundRect">
            <a:avLst>
              <a:gd name="adj" fmla="val 8197"/>
            </a:avLst>
          </a:prstGeom>
          <a:solidFill>
            <a:srgbClr val="FFF4D6"/>
          </a:solidFill>
          <a:ln w="19050">
            <a:solidFill>
              <a:srgbClr val="1565C0"/>
            </a:solidFill>
            <a:prstDash val="solid"/>
          </a:ln>
        </p:spPr>
      </p:sp>
      <p:sp>
        <p:nvSpPr>
          <p:cNvPr id="21" name="Badge"/>
          <p:cNvSpPr/>
          <p:nvPr/>
        </p:nvSpPr>
        <p:spPr>
          <a:xfrm>
            <a:off x="475488" y="3584448"/>
            <a:ext cx="347472" cy="347472"/>
          </a:xfrm>
          <a:prstGeom prst="ellipse">
            <a:avLst/>
          </a:prstGeom>
          <a:solidFill>
            <a:srgbClr val="1565C0"/>
          </a:solidFill>
          <a:ln w="12700">
            <a:solidFill>
              <a:srgbClr val="1565C0"/>
            </a:solidFill>
            <a:prstDash val="solid"/>
          </a:ln>
        </p:spPr>
      </p:sp>
      <p:sp>
        <p:nvSpPr>
          <p:cNvPr id="22" name="Text 19"/>
          <p:cNvSpPr txBox="1"/>
          <p:nvPr/>
        </p:nvSpPr>
        <p:spPr>
          <a:xfrm>
            <a:off x="47548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3" name="Text 20"/>
          <p:cNvSpPr txBox="1"/>
          <p:nvPr/>
        </p:nvSpPr>
        <p:spPr>
          <a:xfrm>
            <a:off x="91440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Aṇīmāṇḍavya: Dharmadeva is not above Dharma.</a:t>
            </a:r>
            <a:endParaRPr lang="en-US" sz="1300" dirty="0"/>
          </a:p>
        </p:txBody>
      </p:sp>
      <p:sp>
        <p:nvSpPr>
          <p:cNvPr id="24" name="Memory card 6"/>
          <p:cNvSpPr/>
          <p:nvPr/>
        </p:nvSpPr>
        <p:spPr>
          <a:xfrm>
            <a:off x="4663440" y="3474720"/>
            <a:ext cx="4114800" cy="1115568"/>
          </a:xfrm>
          <a:prstGeom prst="roundRect">
            <a:avLst>
              <a:gd name="adj" fmla="val 8197"/>
            </a:avLst>
          </a:prstGeom>
          <a:solidFill>
            <a:srgbClr val="FFF4D6"/>
          </a:solidFill>
          <a:ln w="19050">
            <a:solidFill>
              <a:srgbClr val="00796B"/>
            </a:solidFill>
            <a:prstDash val="solid"/>
          </a:ln>
        </p:spPr>
      </p:sp>
      <p:sp>
        <p:nvSpPr>
          <p:cNvPr id="25" name="Badge"/>
          <p:cNvSpPr/>
          <p:nvPr/>
        </p:nvSpPr>
        <p:spPr>
          <a:xfrm>
            <a:off x="4773168" y="3584448"/>
            <a:ext cx="347472" cy="347472"/>
          </a:xfrm>
          <a:prstGeom prst="ellipse">
            <a:avLst/>
          </a:prstGeom>
          <a:solidFill>
            <a:srgbClr val="00796B"/>
          </a:solidFill>
          <a:ln w="12700">
            <a:solidFill>
              <a:srgbClr val="00796B"/>
            </a:solidFill>
            <a:prstDash val="solid"/>
          </a:ln>
        </p:spPr>
      </p:sp>
      <p:sp>
        <p:nvSpPr>
          <p:cNvPr id="26" name="Text 23"/>
          <p:cNvSpPr txBox="1"/>
          <p:nvPr/>
        </p:nvSpPr>
        <p:spPr>
          <a:xfrm>
            <a:off x="477316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7" name="Text 24"/>
          <p:cNvSpPr txBox="1"/>
          <p:nvPr/>
        </p:nvSpPr>
        <p:spPr>
          <a:xfrm>
            <a:off x="521208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Thigh blow = Kṛṣṇa's signal.</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(Q1 to Q5)</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  Explain the Bhīṣma Pratijñā and the chapter's critique of it.</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Q2.  Why does the chapter call Bhīṣma the brahmacarya archetype but not the Pratijñā or Dharma archetype?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Q3.  What was Satyavatī's request to Bhīṣma after Vicitravīrya died and why did it matter?</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Q4.  Discuss Gāndhārī's Pratijñā.</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Q5.  Narrate Arjuna's Pratijñā and its fulfilment.</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(Q6 to Q10)</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Q6.  Why were Abhimanyu's circumstances adharmic?</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Q7.  How did Bhīma handle his vows?</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Q8.  What two questions should we ask about vows we take?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Q9.  Describe Kṛṣṇa's vow and why he is the Pratijñā archetype.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Q10.  What does Aṇīmāṇḍavya's story teach?</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(1/3)</a:t>
            </a:r>
            <a:endParaRPr lang="en-US" sz="2600" dirty="0"/>
          </a:p>
        </p:txBody>
      </p:sp>
      <p:sp>
        <p:nvSpPr>
          <p:cNvPr id="4" name="Answer 1"/>
          <p:cNvSpPr/>
          <p:nvPr/>
        </p:nvSpPr>
        <p:spPr>
          <a:xfrm>
            <a:off x="365760" y="987552"/>
            <a:ext cx="8412480" cy="1080516"/>
          </a:xfrm>
          <a:prstGeom prst="roundRect">
            <a:avLst>
              <a:gd name="adj" fmla="val 5078"/>
            </a:avLst>
          </a:prstGeom>
          <a:solidFill>
            <a:srgbClr val="FFF4D6"/>
          </a:solidFill>
          <a:ln w="9525">
            <a:solidFill>
              <a:srgbClr val="EAD9C4"/>
            </a:solidFill>
            <a:prstDash val="solid"/>
          </a:ln>
        </p:spPr>
      </p:sp>
      <p:sp>
        <p:nvSpPr>
          <p:cNvPr id="5" name="Text 2"/>
          <p:cNvSpPr txBox="1"/>
          <p:nvPr/>
        </p:nvSpPr>
        <p:spPr>
          <a:xfrm>
            <a:off x="457200" y="987552"/>
            <a:ext cx="8229600" cy="1080516"/>
          </a:xfrm>
          <a:prstGeom prst="rect">
            <a:avLst/>
          </a:prstGeom>
          <a:noFill/>
          <a:ln/>
        </p:spPr>
        <p:txBody>
          <a:bodyPr wrap="square" lIns="0" tIns="0" rIns="0" bIns="0" rtlCol="0" anchor="ctr"/>
          <a:lstStyle/>
          <a:p>
            <a:pPr indent="0" marL="0">
              <a:buNone/>
            </a:pPr>
            <a:r>
              <a:rPr lang="en-US" sz="1200" b="1" dirty="0">
                <a:solidFill>
                  <a:srgbClr val="8C2F1B"/>
                </a:solidFill>
              </a:rPr>
              <a:t>Q1. Explain the Bhīṣma Pratijñā and the chapter's critique of it.</a:t>
            </a:r>
            <a:endParaRPr lang="en-US" sz="1200" dirty="0"/>
          </a:p>
          <a:p>
            <a:pPr indent="0" marL="0">
              <a:buNone/>
            </a:pPr>
            <a:r>
              <a:rPr lang="en-US" sz="1200" dirty="0">
                <a:solidFill>
                  <a:srgbClr val="2A2A2A"/>
                </a:solidFill>
              </a:rPr>
              <a:t>Devavrata took a lifelong vow of brahmacarya and gave up the throne so Śantanu could marry Satyavatī, earning the name Bhīṣma and the boon of choosing his death. The chapter notes no life or kingdom depended on it, it only served his father's kāma, he did not consult, and it led to an unstable throne and the war.</a:t>
            </a:r>
            <a:endParaRPr lang="en-US" sz="1200" dirty="0"/>
          </a:p>
        </p:txBody>
      </p:sp>
      <p:sp>
        <p:nvSpPr>
          <p:cNvPr id="6" name="Answer 2"/>
          <p:cNvSpPr/>
          <p:nvPr/>
        </p:nvSpPr>
        <p:spPr>
          <a:xfrm>
            <a:off x="365760" y="2132076"/>
            <a:ext cx="8412480" cy="1080516"/>
          </a:xfrm>
          <a:prstGeom prst="roundRect">
            <a:avLst>
              <a:gd name="adj" fmla="val 5078"/>
            </a:avLst>
          </a:prstGeom>
          <a:solidFill>
            <a:srgbClr val="FFF4D6"/>
          </a:solidFill>
          <a:ln w="9525">
            <a:solidFill>
              <a:srgbClr val="EAD9C4"/>
            </a:solidFill>
            <a:prstDash val="solid"/>
          </a:ln>
        </p:spPr>
      </p:sp>
      <p:sp>
        <p:nvSpPr>
          <p:cNvPr id="7" name="Text 4"/>
          <p:cNvSpPr txBox="1"/>
          <p:nvPr/>
        </p:nvSpPr>
        <p:spPr>
          <a:xfrm>
            <a:off x="457200" y="2132076"/>
            <a:ext cx="8229600" cy="1080516"/>
          </a:xfrm>
          <a:prstGeom prst="rect">
            <a:avLst/>
          </a:prstGeom>
          <a:noFill/>
          <a:ln/>
        </p:spPr>
        <p:txBody>
          <a:bodyPr wrap="square" lIns="0" tIns="0" rIns="0" bIns="0" rtlCol="0" anchor="ctr"/>
          <a:lstStyle/>
          <a:p>
            <a:pPr indent="0" marL="0">
              <a:buNone/>
            </a:pPr>
            <a:r>
              <a:rPr lang="en-US" sz="1200" b="1" dirty="0">
                <a:solidFill>
                  <a:srgbClr val="8C2F1B"/>
                </a:solidFill>
              </a:rPr>
              <a:t>Q2. Why does the chapter call Bhīṣma the brahmacarya archetype but not the Pratijñā or Dharma archetype?</a:t>
            </a:r>
            <a:endParaRPr lang="en-US" sz="1200" dirty="0"/>
          </a:p>
          <a:p>
            <a:pPr indent="0" marL="0">
              <a:buNone/>
            </a:pPr>
            <a:r>
              <a:rPr lang="en-US" sz="1200" dirty="0">
                <a:solidFill>
                  <a:srgbClr val="2A2A2A"/>
                </a:solidFill>
              </a:rPr>
              <a:t>His self-control was extraordinary, unlike Arjuna's or Śantanu's, yet bound by the vow he was powerless before a blind king and his son and could not respond to adharma. Kṛṣṇa is the Pratijñā archetype.</a:t>
            </a:r>
            <a:endParaRPr lang="en-US" sz="1200" dirty="0"/>
          </a:p>
        </p:txBody>
      </p:sp>
      <p:sp>
        <p:nvSpPr>
          <p:cNvPr id="8" name="Answer 3"/>
          <p:cNvSpPr/>
          <p:nvPr/>
        </p:nvSpPr>
        <p:spPr>
          <a:xfrm>
            <a:off x="365760" y="3276600"/>
            <a:ext cx="8412480" cy="699516"/>
          </a:xfrm>
          <a:prstGeom prst="roundRect">
            <a:avLst>
              <a:gd name="adj" fmla="val 7843"/>
            </a:avLst>
          </a:prstGeom>
          <a:solidFill>
            <a:srgbClr val="FFF4D6"/>
          </a:solidFill>
          <a:ln w="9525">
            <a:solidFill>
              <a:srgbClr val="EAD9C4"/>
            </a:solidFill>
            <a:prstDash val="solid"/>
          </a:ln>
        </p:spPr>
      </p:sp>
      <p:sp>
        <p:nvSpPr>
          <p:cNvPr id="9" name="Text 6"/>
          <p:cNvSpPr txBox="1"/>
          <p:nvPr/>
        </p:nvSpPr>
        <p:spPr>
          <a:xfrm>
            <a:off x="457200" y="3276600"/>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Q3. What was Satyavatī's request to Bhīṣma after Vicitravīrya died and why did it matter?</a:t>
            </a:r>
            <a:endParaRPr lang="en-US" sz="1200" dirty="0"/>
          </a:p>
          <a:p>
            <a:pPr indent="0" marL="0">
              <a:buNone/>
            </a:pPr>
            <a:r>
              <a:rPr lang="en-US" sz="1200" dirty="0">
                <a:solidFill>
                  <a:srgbClr val="2A2A2A"/>
                </a:solidFill>
              </a:rPr>
              <a:t>She asked him to father heirs with the widows and to take the throne. His refusal meant the vow had no remaining purpose, yet he kept it, and Vyāsa fathered Dhṛtarāṣṭra, Pāṇḍu and Vidura.</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(2/3)</a:t>
            </a:r>
            <a:endParaRPr lang="en-US" sz="2600" dirty="0"/>
          </a:p>
        </p:txBody>
      </p:sp>
      <p:sp>
        <p:nvSpPr>
          <p:cNvPr id="4" name="Answer 4"/>
          <p:cNvSpPr/>
          <p:nvPr/>
        </p:nvSpPr>
        <p:spPr>
          <a:xfrm>
            <a:off x="365760" y="987552"/>
            <a:ext cx="8412480" cy="890016"/>
          </a:xfrm>
          <a:prstGeom prst="roundRect">
            <a:avLst>
              <a:gd name="adj" fmla="val 6164"/>
            </a:avLst>
          </a:prstGeom>
          <a:solidFill>
            <a:srgbClr val="FFFFFF"/>
          </a:solidFill>
          <a:ln w="9525">
            <a:solidFill>
              <a:srgbClr val="EAD9C4"/>
            </a:solidFill>
            <a:prstDash val="solid"/>
          </a:ln>
        </p:spPr>
      </p:sp>
      <p:sp>
        <p:nvSpPr>
          <p:cNvPr id="5" name="Text 2"/>
          <p:cNvSpPr txBox="1"/>
          <p:nvPr/>
        </p:nvSpPr>
        <p:spPr>
          <a:xfrm>
            <a:off x="457200" y="987552"/>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Q4. Discuss Gāndhārī's Pratijñā.</a:t>
            </a:r>
            <a:endParaRPr lang="en-US" sz="1200" dirty="0"/>
          </a:p>
          <a:p>
            <a:pPr indent="0" marL="0">
              <a:buNone/>
            </a:pPr>
            <a:r>
              <a:rPr lang="en-US" sz="1200" dirty="0">
                <a:solidFill>
                  <a:srgbClr val="2A2A2A"/>
                </a:solidFill>
              </a:rPr>
              <a:t>She blindfolded herself on hearing she would marry the blind Dhṛtarāṣṭra. Praised, but it was hasty; she could not guide Duryodhana, 'turned a blind eye' to her sons' deeds, and could have been her husband's eyes instead.</a:t>
            </a:r>
            <a:endParaRPr lang="en-US" sz="1200" dirty="0"/>
          </a:p>
        </p:txBody>
      </p:sp>
      <p:sp>
        <p:nvSpPr>
          <p:cNvPr id="6" name="Answer 5"/>
          <p:cNvSpPr/>
          <p:nvPr/>
        </p:nvSpPr>
        <p:spPr>
          <a:xfrm>
            <a:off x="365760" y="1941576"/>
            <a:ext cx="8412480" cy="890016"/>
          </a:xfrm>
          <a:prstGeom prst="roundRect">
            <a:avLst>
              <a:gd name="adj" fmla="val 6164"/>
            </a:avLst>
          </a:prstGeom>
          <a:solidFill>
            <a:srgbClr val="FFFFFF"/>
          </a:solidFill>
          <a:ln w="9525">
            <a:solidFill>
              <a:srgbClr val="EAD9C4"/>
            </a:solidFill>
            <a:prstDash val="solid"/>
          </a:ln>
        </p:spPr>
      </p:sp>
      <p:sp>
        <p:nvSpPr>
          <p:cNvPr id="7" name="Text 4"/>
          <p:cNvSpPr txBox="1"/>
          <p:nvPr/>
        </p:nvSpPr>
        <p:spPr>
          <a:xfrm>
            <a:off x="457200" y="1941576"/>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Q5. Narrate Arjuna's Pratijñā and its fulfilment.</a:t>
            </a:r>
            <a:endParaRPr lang="en-US" sz="1200" dirty="0"/>
          </a:p>
          <a:p>
            <a:pPr indent="0" marL="0">
              <a:buNone/>
            </a:pPr>
            <a:r>
              <a:rPr lang="en-US" sz="1200" dirty="0">
                <a:solidFill>
                  <a:srgbClr val="2A2A2A"/>
                </a:solidFill>
              </a:rPr>
              <a:t>After Abhimanyu's death on day 13, he vowed to kill Jayadratha before sunset. Droṇa's three vyūhas protected him; Kṛṣṇa masked the sun with the Sudarśana cakra, Jayadratha came out, the sun reappeared and Arjuna killed him with the Pāśupatāstra.</a:t>
            </a:r>
            <a:endParaRPr lang="en-US" sz="1200" dirty="0"/>
          </a:p>
        </p:txBody>
      </p:sp>
      <p:sp>
        <p:nvSpPr>
          <p:cNvPr id="8" name="Answer 6"/>
          <p:cNvSpPr/>
          <p:nvPr/>
        </p:nvSpPr>
        <p:spPr>
          <a:xfrm>
            <a:off x="365760" y="2895600"/>
            <a:ext cx="8412480" cy="699516"/>
          </a:xfrm>
          <a:prstGeom prst="roundRect">
            <a:avLst>
              <a:gd name="adj" fmla="val 7843"/>
            </a:avLst>
          </a:prstGeom>
          <a:solidFill>
            <a:srgbClr val="FFFFFF"/>
          </a:solidFill>
          <a:ln w="9525">
            <a:solidFill>
              <a:srgbClr val="EAD9C4"/>
            </a:solidFill>
            <a:prstDash val="solid"/>
          </a:ln>
        </p:spPr>
      </p:sp>
      <p:sp>
        <p:nvSpPr>
          <p:cNvPr id="9" name="Text 6"/>
          <p:cNvSpPr txBox="1"/>
          <p:nvPr/>
        </p:nvSpPr>
        <p:spPr>
          <a:xfrm>
            <a:off x="457200" y="2895600"/>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Q6. Why were Abhimanyu's circumstances adharmic?</a:t>
            </a:r>
            <a:endParaRPr lang="en-US" sz="1200" dirty="0"/>
          </a:p>
          <a:p>
            <a:pPr indent="0" marL="0">
              <a:buNone/>
            </a:pPr>
            <a:r>
              <a:rPr lang="en-US" sz="1200" dirty="0">
                <a:solidFill>
                  <a:srgbClr val="2A2A2A"/>
                </a:solidFill>
              </a:rPr>
              <a:t>Jayadratha blocked the other Pāṇḍavas from entering the Cakravyūha, and many powerful warriors attacked Abhimanyu at once, breaking dharmayuddha ethics.</a:t>
            </a:r>
            <a:endParaRPr lang="en-US" sz="1200" dirty="0"/>
          </a:p>
        </p:txBody>
      </p:sp>
      <p:sp>
        <p:nvSpPr>
          <p:cNvPr id="10" name="Answer 7"/>
          <p:cNvSpPr/>
          <p:nvPr/>
        </p:nvSpPr>
        <p:spPr>
          <a:xfrm>
            <a:off x="365760" y="3659124"/>
            <a:ext cx="8412480" cy="699516"/>
          </a:xfrm>
          <a:prstGeom prst="roundRect">
            <a:avLst>
              <a:gd name="adj" fmla="val 7843"/>
            </a:avLst>
          </a:prstGeom>
          <a:solidFill>
            <a:srgbClr val="FFFFFF"/>
          </a:solidFill>
          <a:ln w="9525">
            <a:solidFill>
              <a:srgbClr val="EAD9C4"/>
            </a:solidFill>
            <a:prstDash val="solid"/>
          </a:ln>
        </p:spPr>
      </p:sp>
      <p:sp>
        <p:nvSpPr>
          <p:cNvPr id="11" name="Text 8"/>
          <p:cNvSpPr txBox="1"/>
          <p:nvPr/>
        </p:nvSpPr>
        <p:spPr>
          <a:xfrm>
            <a:off x="457200" y="3659124"/>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Q7. How did Bhīma handle his vows?</a:t>
            </a:r>
            <a:endParaRPr lang="en-US" sz="1200" dirty="0"/>
          </a:p>
          <a:p>
            <a:pPr indent="0" marL="0">
              <a:buNone/>
            </a:pPr>
            <a:r>
              <a:rPr lang="en-US" sz="1200" dirty="0">
                <a:solidFill>
                  <a:srgbClr val="2A2A2A"/>
                </a:solidFill>
              </a:rPr>
              <a:t>He took them in rage but preferred peace in Udyoga Parva, killed Duḥśāsana in battle within Dharma, and broke Duryodhana's thigh only on Kṛṣṇa's signal in a mace duel.</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(3/3)</a:t>
            </a:r>
            <a:endParaRPr lang="en-US" sz="2600" dirty="0"/>
          </a:p>
        </p:txBody>
      </p:sp>
      <p:sp>
        <p:nvSpPr>
          <p:cNvPr id="4" name="Answer 8"/>
          <p:cNvSpPr/>
          <p:nvPr/>
        </p:nvSpPr>
        <p:spPr>
          <a:xfrm>
            <a:off x="365760" y="987552"/>
            <a:ext cx="8412480" cy="699516"/>
          </a:xfrm>
          <a:prstGeom prst="roundRect">
            <a:avLst>
              <a:gd name="adj" fmla="val 7843"/>
            </a:avLst>
          </a:prstGeom>
          <a:solidFill>
            <a:srgbClr val="FFF4D6"/>
          </a:solidFill>
          <a:ln w="9525">
            <a:solidFill>
              <a:srgbClr val="EAD9C4"/>
            </a:solidFill>
            <a:prstDash val="solid"/>
          </a:ln>
        </p:spPr>
      </p:sp>
      <p:sp>
        <p:nvSpPr>
          <p:cNvPr id="5" name="Text 2"/>
          <p:cNvSpPr txBox="1"/>
          <p:nvPr/>
        </p:nvSpPr>
        <p:spPr>
          <a:xfrm>
            <a:off x="457200" y="987552"/>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Q8. What two questions should we ask about vows we take?</a:t>
            </a:r>
            <a:endParaRPr lang="en-US" sz="1200" dirty="0"/>
          </a:p>
          <a:p>
            <a:pPr indent="0" marL="0">
              <a:buNone/>
            </a:pPr>
            <a:r>
              <a:rPr lang="en-US" sz="1200" dirty="0">
                <a:solidFill>
                  <a:srgbClr val="2A2A2A"/>
                </a:solidFill>
              </a:rPr>
              <a:t>Was it from intellectual clarity or a spontaneous outburst? If emotional, after seeing the bigger picture, is it still beneficial for us or society? If not, drop it.</a:t>
            </a:r>
            <a:endParaRPr lang="en-US" sz="1200" dirty="0"/>
          </a:p>
        </p:txBody>
      </p:sp>
      <p:sp>
        <p:nvSpPr>
          <p:cNvPr id="6" name="Answer 9"/>
          <p:cNvSpPr/>
          <p:nvPr/>
        </p:nvSpPr>
        <p:spPr>
          <a:xfrm>
            <a:off x="365760" y="1751076"/>
            <a:ext cx="8412480" cy="890016"/>
          </a:xfrm>
          <a:prstGeom prst="roundRect">
            <a:avLst>
              <a:gd name="adj" fmla="val 6164"/>
            </a:avLst>
          </a:prstGeom>
          <a:solidFill>
            <a:srgbClr val="FFF4D6"/>
          </a:solidFill>
          <a:ln w="9525">
            <a:solidFill>
              <a:srgbClr val="EAD9C4"/>
            </a:solidFill>
            <a:prstDash val="solid"/>
          </a:ln>
        </p:spPr>
      </p:sp>
      <p:sp>
        <p:nvSpPr>
          <p:cNvPr id="7" name="Text 4"/>
          <p:cNvSpPr txBox="1"/>
          <p:nvPr/>
        </p:nvSpPr>
        <p:spPr>
          <a:xfrm>
            <a:off x="457200" y="1751076"/>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Q9. Describe Kṛṣṇa's vow and why he is the Pratijñā archetype.</a:t>
            </a:r>
            <a:endParaRPr lang="en-US" sz="1200" dirty="0"/>
          </a:p>
          <a:p>
            <a:pPr indent="0" marL="0">
              <a:buNone/>
            </a:pPr>
            <a:r>
              <a:rPr lang="en-US" sz="1200" dirty="0">
                <a:solidFill>
                  <a:srgbClr val="2A2A2A"/>
                </a:solidFill>
              </a:rPr>
              <a:t>He vowed not to bear arms in the war. When Bhīṣma's resolve threatened the Pāṇḍavas and Arjuna held back, Kṛṣṇa charged with a chariot wheel, not held by his vow, and told Bhīṣma he was misusing his boon.</a:t>
            </a:r>
            <a:endParaRPr lang="en-US" sz="1200" dirty="0"/>
          </a:p>
        </p:txBody>
      </p:sp>
      <p:sp>
        <p:nvSpPr>
          <p:cNvPr id="8" name="Answer 10"/>
          <p:cNvSpPr/>
          <p:nvPr/>
        </p:nvSpPr>
        <p:spPr>
          <a:xfrm>
            <a:off x="365760" y="2705100"/>
            <a:ext cx="8412480" cy="699516"/>
          </a:xfrm>
          <a:prstGeom prst="roundRect">
            <a:avLst>
              <a:gd name="adj" fmla="val 7843"/>
            </a:avLst>
          </a:prstGeom>
          <a:solidFill>
            <a:srgbClr val="FFF4D6"/>
          </a:solidFill>
          <a:ln w="9525">
            <a:solidFill>
              <a:srgbClr val="EAD9C4"/>
            </a:solidFill>
            <a:prstDash val="solid"/>
          </a:ln>
        </p:spPr>
      </p:sp>
      <p:sp>
        <p:nvSpPr>
          <p:cNvPr id="9" name="Text 6"/>
          <p:cNvSpPr txBox="1"/>
          <p:nvPr/>
        </p:nvSpPr>
        <p:spPr>
          <a:xfrm>
            <a:off x="457200" y="2705100"/>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Q10. What does Aṇīmāṇḍavya's story teach?</a:t>
            </a:r>
            <a:endParaRPr lang="en-US" sz="1200" dirty="0"/>
          </a:p>
          <a:p>
            <a:pPr indent="0" marL="0">
              <a:buNone/>
            </a:pPr>
            <a:r>
              <a:rPr lang="en-US" sz="1200" dirty="0">
                <a:solidFill>
                  <a:srgbClr val="2A2A2A"/>
                </a:solidFill>
              </a:rPr>
              <a:t>He cursed Yama for misinterpreting Dharma: even Dharmadeva is not above Dharma; Dharma is complex and needs reflection.</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Rapid-fire recall</a:t>
            </a:r>
            <a:endParaRPr lang="en-US" sz="2600" dirty="0"/>
          </a:p>
        </p:txBody>
      </p:sp>
      <p:sp>
        <p:nvSpPr>
          <p:cNvPr id="4" name="Recall 1"/>
          <p:cNvSpPr/>
          <p:nvPr/>
        </p:nvSpPr>
        <p:spPr>
          <a:xfrm>
            <a:off x="365760" y="1005840"/>
            <a:ext cx="4114800" cy="1051560"/>
          </a:xfrm>
          <a:prstGeom prst="roundRect">
            <a:avLst>
              <a:gd name="adj" fmla="val 8696"/>
            </a:avLst>
          </a:prstGeom>
          <a:solidFill>
            <a:srgbClr val="FFFFFF"/>
          </a:solidFill>
          <a:ln w="25400">
            <a:solidFill>
              <a:srgbClr val="8C2F1B"/>
            </a:solidFill>
            <a:prstDash val="solid"/>
          </a:ln>
          <a:effectLst>
            <a:outerShdw sx="100000" sy="100000" kx="0" ky="0" algn="bl" rotWithShape="0" blurRad="63500" dist="25400" dir="5400000">
              <a:srgbClr val="000000">
                <a:alpha val="12000"/>
              </a:srgbClr>
            </a:outerShdw>
          </a:effectLst>
        </p:spPr>
      </p:sp>
      <p:sp>
        <p:nvSpPr>
          <p:cNvPr id="5" name="Text 2"/>
          <p:cNvSpPr txBox="1"/>
          <p:nvPr/>
        </p:nvSpPr>
        <p:spPr>
          <a:xfrm>
            <a:off x="502920" y="1060704"/>
            <a:ext cx="3840480" cy="502920"/>
          </a:xfrm>
          <a:prstGeom prst="rect">
            <a:avLst/>
          </a:prstGeom>
          <a:noFill/>
          <a:ln/>
        </p:spPr>
        <p:txBody>
          <a:bodyPr wrap="square" lIns="0" tIns="0" rIns="0" bIns="0" rtlCol="0" anchor="ctr"/>
          <a:lstStyle/>
          <a:p>
            <a:pPr indent="0" marL="0">
              <a:buNone/>
            </a:pPr>
            <a:r>
              <a:rPr lang="en-US" sz="1400" b="1" dirty="0">
                <a:solidFill>
                  <a:srgbClr val="8C2F1B"/>
                </a:solidFill>
              </a:rPr>
              <a:t>Who is the Brahmacarya archetype?</a:t>
            </a:r>
            <a:endParaRPr lang="en-US" sz="1400" dirty="0"/>
          </a:p>
        </p:txBody>
      </p:sp>
      <p:sp>
        <p:nvSpPr>
          <p:cNvPr id="6" name="Text 3"/>
          <p:cNvSpPr txBox="1"/>
          <p:nvPr/>
        </p:nvSpPr>
        <p:spPr>
          <a:xfrm>
            <a:off x="50292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Bhīṣma.</a:t>
            </a:r>
            <a:endParaRPr lang="en-US" sz="1300" dirty="0"/>
          </a:p>
        </p:txBody>
      </p:sp>
      <p:sp>
        <p:nvSpPr>
          <p:cNvPr id="7" name="Recall 2"/>
          <p:cNvSpPr/>
          <p:nvPr/>
        </p:nvSpPr>
        <p:spPr>
          <a:xfrm>
            <a:off x="4663440" y="1005840"/>
            <a:ext cx="4114800" cy="1051560"/>
          </a:xfrm>
          <a:prstGeom prst="roundRect">
            <a:avLst>
              <a:gd name="adj" fmla="val 8696"/>
            </a:avLst>
          </a:prstGeom>
          <a:solidFill>
            <a:srgbClr val="FFFFFF"/>
          </a:solidFill>
          <a:ln w="25400">
            <a:solidFill>
              <a:srgbClr val="E07B00"/>
            </a:solidFill>
            <a:prstDash val="solid"/>
          </a:ln>
          <a:effectLst>
            <a:outerShdw sx="100000" sy="100000" kx="0" ky="0" algn="bl" rotWithShape="0" blurRad="63500" dist="25400" dir="5400000">
              <a:srgbClr val="000000">
                <a:alpha val="12000"/>
              </a:srgbClr>
            </a:outerShdw>
          </a:effectLst>
        </p:spPr>
      </p:sp>
      <p:sp>
        <p:nvSpPr>
          <p:cNvPr id="8" name="Text 5"/>
          <p:cNvSpPr txBox="1"/>
          <p:nvPr/>
        </p:nvSpPr>
        <p:spPr>
          <a:xfrm>
            <a:off x="4800600" y="1060704"/>
            <a:ext cx="3840480" cy="502920"/>
          </a:xfrm>
          <a:prstGeom prst="rect">
            <a:avLst/>
          </a:prstGeom>
          <a:noFill/>
          <a:ln/>
        </p:spPr>
        <p:txBody>
          <a:bodyPr wrap="square" lIns="0" tIns="0" rIns="0" bIns="0" rtlCol="0" anchor="ctr"/>
          <a:lstStyle/>
          <a:p>
            <a:pPr indent="0" marL="0">
              <a:buNone/>
            </a:pPr>
            <a:r>
              <a:rPr lang="en-US" sz="1400" b="1" dirty="0">
                <a:solidFill>
                  <a:srgbClr val="E07B00"/>
                </a:solidFill>
              </a:rPr>
              <a:t>Pratijñā archetype?</a:t>
            </a:r>
            <a:endParaRPr lang="en-US" sz="1400" dirty="0"/>
          </a:p>
        </p:txBody>
      </p:sp>
      <p:sp>
        <p:nvSpPr>
          <p:cNvPr id="9" name="Text 6"/>
          <p:cNvSpPr txBox="1"/>
          <p:nvPr/>
        </p:nvSpPr>
        <p:spPr>
          <a:xfrm>
            <a:off x="480060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Kṛṣṇa.</a:t>
            </a:r>
            <a:endParaRPr lang="en-US" sz="1300" dirty="0"/>
          </a:p>
        </p:txBody>
      </p:sp>
      <p:sp>
        <p:nvSpPr>
          <p:cNvPr id="10" name="Recall 3"/>
          <p:cNvSpPr/>
          <p:nvPr/>
        </p:nvSpPr>
        <p:spPr>
          <a:xfrm>
            <a:off x="365760" y="2194560"/>
            <a:ext cx="4114800" cy="1051560"/>
          </a:xfrm>
          <a:prstGeom prst="roundRect">
            <a:avLst>
              <a:gd name="adj" fmla="val 8696"/>
            </a:avLst>
          </a:prstGeom>
          <a:solidFill>
            <a:srgbClr val="FFFFFF"/>
          </a:solidFill>
          <a:ln w="25400">
            <a:solidFill>
              <a:srgbClr val="2E7D32"/>
            </a:solidFill>
            <a:prstDash val="solid"/>
          </a:ln>
          <a:effectLst>
            <a:outerShdw sx="100000" sy="100000" kx="0" ky="0" algn="bl" rotWithShape="0" blurRad="63500" dist="25400" dir="5400000">
              <a:srgbClr val="000000">
                <a:alpha val="12000"/>
              </a:srgbClr>
            </a:outerShdw>
          </a:effectLst>
        </p:spPr>
      </p:sp>
      <p:sp>
        <p:nvSpPr>
          <p:cNvPr id="11" name="Text 8"/>
          <p:cNvSpPr txBox="1"/>
          <p:nvPr/>
        </p:nvSpPr>
        <p:spPr>
          <a:xfrm>
            <a:off x="502920" y="2249424"/>
            <a:ext cx="3840480" cy="502920"/>
          </a:xfrm>
          <a:prstGeom prst="rect">
            <a:avLst/>
          </a:prstGeom>
          <a:noFill/>
          <a:ln/>
        </p:spPr>
        <p:txBody>
          <a:bodyPr wrap="square" lIns="0" tIns="0" rIns="0" bIns="0" rtlCol="0" anchor="ctr"/>
          <a:lstStyle/>
          <a:p>
            <a:pPr indent="0" marL="0">
              <a:buNone/>
            </a:pPr>
            <a:r>
              <a:rPr lang="en-US" sz="1400" b="1" dirty="0">
                <a:solidFill>
                  <a:srgbClr val="2E7D32"/>
                </a:solidFill>
              </a:rPr>
              <a:t>Who masked the sun?</a:t>
            </a:r>
            <a:endParaRPr lang="en-US" sz="1400" dirty="0"/>
          </a:p>
        </p:txBody>
      </p:sp>
      <p:sp>
        <p:nvSpPr>
          <p:cNvPr id="12" name="Text 9"/>
          <p:cNvSpPr txBox="1"/>
          <p:nvPr/>
        </p:nvSpPr>
        <p:spPr>
          <a:xfrm>
            <a:off x="50292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Kṛṣṇa's Sudarśana cakra.</a:t>
            </a:r>
            <a:endParaRPr lang="en-US" sz="1300" dirty="0"/>
          </a:p>
        </p:txBody>
      </p:sp>
      <p:sp>
        <p:nvSpPr>
          <p:cNvPr id="13" name="Recall 4"/>
          <p:cNvSpPr/>
          <p:nvPr/>
        </p:nvSpPr>
        <p:spPr>
          <a:xfrm>
            <a:off x="4663440" y="2194560"/>
            <a:ext cx="4114800" cy="1051560"/>
          </a:xfrm>
          <a:prstGeom prst="roundRect">
            <a:avLst>
              <a:gd name="adj" fmla="val 8696"/>
            </a:avLst>
          </a:prstGeom>
          <a:solidFill>
            <a:srgbClr val="FFFFFF"/>
          </a:solidFill>
          <a:ln w="25400">
            <a:solidFill>
              <a:srgbClr val="6A1B9A"/>
            </a:solidFill>
            <a:prstDash val="solid"/>
          </a:ln>
          <a:effectLst>
            <a:outerShdw sx="100000" sy="100000" kx="0" ky="0" algn="bl" rotWithShape="0" blurRad="63500" dist="25400" dir="5400000">
              <a:srgbClr val="000000">
                <a:alpha val="12000"/>
              </a:srgbClr>
            </a:outerShdw>
          </a:effectLst>
        </p:spPr>
      </p:sp>
      <p:sp>
        <p:nvSpPr>
          <p:cNvPr id="14" name="Text 11"/>
          <p:cNvSpPr txBox="1"/>
          <p:nvPr/>
        </p:nvSpPr>
        <p:spPr>
          <a:xfrm>
            <a:off x="4800600" y="2249424"/>
            <a:ext cx="3840480" cy="502920"/>
          </a:xfrm>
          <a:prstGeom prst="rect">
            <a:avLst/>
          </a:prstGeom>
          <a:noFill/>
          <a:ln/>
        </p:spPr>
        <p:txBody>
          <a:bodyPr wrap="square" lIns="0" tIns="0" rIns="0" bIns="0" rtlCol="0" anchor="ctr"/>
          <a:lstStyle/>
          <a:p>
            <a:pPr indent="0" marL="0">
              <a:buNone/>
            </a:pPr>
            <a:r>
              <a:rPr lang="en-US" sz="1400" b="1" dirty="0">
                <a:solidFill>
                  <a:srgbClr val="6A1B9A"/>
                </a:solidFill>
              </a:rPr>
              <a:t>Whose blindfold?</a:t>
            </a:r>
            <a:endParaRPr lang="en-US" sz="1400" dirty="0"/>
          </a:p>
        </p:txBody>
      </p:sp>
      <p:sp>
        <p:nvSpPr>
          <p:cNvPr id="15" name="Text 12"/>
          <p:cNvSpPr txBox="1"/>
          <p:nvPr/>
        </p:nvSpPr>
        <p:spPr>
          <a:xfrm>
            <a:off x="480060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Gāndhārī.</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F2B632"/>
                </a:solidFill>
                <a:latin typeface="Cambria" pitchFamily="34" charset="0"/>
                <a:ea typeface="Cambria" pitchFamily="34" charset="-122"/>
                <a:cs typeface="Cambria" pitchFamily="34" charset="-120"/>
              </a:rPr>
              <a:t>Remember and revise</a:t>
            </a:r>
            <a:endParaRPr lang="en-US" sz="2600" dirty="0"/>
          </a:p>
        </p:txBody>
      </p:sp>
      <p:sp>
        <p:nvSpPr>
          <p:cNvPr id="4" name="Text 1"/>
          <p:cNvSpPr txBox="1"/>
          <p:nvPr/>
        </p:nvSpPr>
        <p:spPr>
          <a:xfrm>
            <a:off x="457200" y="1005840"/>
            <a:ext cx="5120640" cy="365760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Bhīṣma is the Brahmacarya archetype, but his Pratijñā served only his father's kāma and left the throne empty; Kṛṣṇa is the Pratijñā archetype.</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Gāndhārī's blindfold: noble-looking but hasty; she could not correct Duryodhana.</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Arjuna's vow to kill Jayadratha before sunset was saved by Kṛṣṇa's Sudarśana cakra (sunset illusion).</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Bhīma took two vows in rage but still chose Dharma (approved peace; fought fairly; thigh-strike on Kṛṣṇa's signal).</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Test any vow: was it made in clarity or outburst? is it still beneficial? If not, drop it.</a:t>
            </a:r>
            <a:endParaRPr lang="en-US" sz="1300" dirty="0"/>
          </a:p>
        </p:txBody>
      </p:sp>
      <p:sp>
        <p:nvSpPr>
          <p:cNvPr id="5" name="Homework card"/>
          <p:cNvSpPr/>
          <p:nvPr/>
        </p:nvSpPr>
        <p:spPr>
          <a:xfrm>
            <a:off x="5852160" y="1005840"/>
            <a:ext cx="2926080" cy="3566160"/>
          </a:xfrm>
          <a:prstGeom prst="roundRect">
            <a:avLst>
              <a:gd name="adj" fmla="val 3750"/>
            </a:avLst>
          </a:prstGeom>
          <a:solidFill>
            <a:srgbClr val="8C2F1B"/>
          </a:solidFill>
          <a:ln w="25400">
            <a:solidFill>
              <a:srgbClr val="F2B632"/>
            </a:solidFill>
            <a:prstDash val="solid"/>
          </a:ln>
        </p:spPr>
      </p:sp>
      <p:sp>
        <p:nvSpPr>
          <p:cNvPr id="6" name="Text 3"/>
          <p:cNvSpPr txBox="1"/>
          <p:nvPr/>
        </p:nvSpPr>
        <p:spPr>
          <a:xfrm>
            <a:off x="6035040" y="1097280"/>
            <a:ext cx="2560320" cy="320040"/>
          </a:xfrm>
          <a:prstGeom prst="rect">
            <a:avLst/>
          </a:prstGeom>
          <a:noFill/>
          <a:ln/>
        </p:spPr>
        <p:txBody>
          <a:bodyPr wrap="square" lIns="0" tIns="0" rIns="0" bIns="0" rtlCol="0" anchor="ctr"/>
          <a:lstStyle/>
          <a:p>
            <a:pPr indent="0" marL="0">
              <a:buNone/>
            </a:pPr>
            <a:r>
              <a:rPr lang="en-US" sz="1300" b="1" spc="400" kern="0" dirty="0">
                <a:solidFill>
                  <a:srgbClr val="F2B632"/>
                </a:solidFill>
              </a:rPr>
              <a:t>HOMEWORK</a:t>
            </a:r>
            <a:endParaRPr lang="en-US" sz="1300" dirty="0"/>
          </a:p>
        </p:txBody>
      </p:sp>
      <p:sp>
        <p:nvSpPr>
          <p:cNvPr id="7" name="Text 4"/>
          <p:cNvSpPr txBox="1"/>
          <p:nvPr/>
        </p:nvSpPr>
        <p:spPr>
          <a:xfrm>
            <a:off x="6035040" y="1508760"/>
            <a:ext cx="2560320" cy="2926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Redraw the mind map from memory.</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Answer Q1 and Q2 of the quiz in writing.</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Learn the numbers slide by heart.</a:t>
            </a:r>
            <a:endParaRPr lang="en-US" sz="1300" dirty="0"/>
          </a:p>
          <a:p>
            <a:pPr marL="177800" indent="-177800">
              <a:buSzPct val="100000"/>
              <a:buChar char="•"/>
            </a:pPr>
            <a:r>
              <a:rPr lang="en-US" sz="1300" dirty="0">
                <a:solidFill>
                  <a:srgbClr val="FFFFFF"/>
                </a:solidFill>
                <a:latin typeface="Calibri" pitchFamily="34" charset="0"/>
                <a:ea typeface="Calibri" pitchFamily="34" charset="-122"/>
                <a:cs typeface="Calibri" pitchFamily="34" charset="-120"/>
              </a:rPr>
              <a:t>Prepare one question to ask the class tomorrow.</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Mahabharata Teaching">
  <a:themeElements>
    <a:clrScheme name="Mahabharata Teaching">
      <a:dk1>
        <a:srgbClr val="2A2A2A"/>
      </a:dk1>
      <a:lt1>
        <a:srgbClr val="FFFFFF"/>
      </a:lt1>
      <a:dk2>
        <a:srgbClr val="2B0F1A"/>
      </a:dk2>
      <a:lt2>
        <a:srgbClr val="FFF4D6"/>
      </a:lt2>
      <a:accent1>
        <a:srgbClr val="8C2F1B"/>
      </a:accent1>
      <a:accent2>
        <a:srgbClr val="E07B00"/>
      </a:accent2>
      <a:accent3>
        <a:srgbClr val="F2B632"/>
      </a:accent3>
      <a:accent4>
        <a:srgbClr val="2E7D32"/>
      </a:accent4>
      <a:accent5>
        <a:srgbClr val="6A1B9A"/>
      </a:accent5>
      <a:accent6>
        <a:srgbClr val="1565C0"/>
      </a:accent6>
      <a:hlink>
        <a:srgbClr val="8C2F1B"/>
      </a:hlink>
      <a:folHlink>
        <a:srgbClr val="6A1B9A"/>
      </a:folHlink>
    </a:clrScheme>
    <a:fontScheme name="Mahabharata Teach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Pratijñā (The Vow)</dc:title>
  <dc:subject>PptxGenJS Presentation</dc:subject>
  <dc:creator>ADM Teaching Deck</dc:creator>
  <cp:lastModifiedBy>ADM Teaching Deck</cp:lastModifiedBy>
  <cp:revision>1</cp:revision>
  <dcterms:created xsi:type="dcterms:W3CDTF">2026-10-04T11:54:23Z</dcterms:created>
  <dcterms:modified xsi:type="dcterms:W3CDTF">2026-10-04T11:54:23Z</dcterms:modified>
</cp:coreProperties>
</file>