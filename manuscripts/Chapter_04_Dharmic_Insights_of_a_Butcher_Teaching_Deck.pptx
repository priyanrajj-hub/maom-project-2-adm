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7646c2-c1ed-b5e5-2323-1862af435433}">
          <p14:sldIdLst>
            <p14:sldId id="256"/>
            <p14:sldId id="257"/>
            <p14:sldId id="258"/>
            <p14:sldId id="259"/>
          </p14:sldIdLst>
        </p14:section>
        <p14:section name="Lesson" id="{c2569b0f-3b63-04d5-5db6-bfa99f8768aa}">
          <p14:sldIdLst>
            <p14:sldId id="260"/>
            <p14:sldId id="261"/>
            <p14:sldId id="262"/>
            <p14:sldId id="263"/>
            <p14:sldId id="264"/>
          </p14:sldIdLst>
        </p14:section>
        <p14:section name="Key facts" id="{a01ed56b-d214-fa95-d859-b6e980123c56}">
          <p14:sldIdLst>
            <p14:sldId id="265"/>
            <p14:sldId id="266"/>
            <p14:sldId id="267"/>
            <p14:sldId id="268"/>
            <p14:sldId id="269"/>
            <p14:sldId id="270"/>
            <p14:sldId id="271"/>
          </p14:sldIdLst>
        </p14:section>
        <p14:section name="Review" id="{25325f5b-eb88-bb8b-d70e-a469c0dde557}">
          <p14:sldIdLst>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The chapter begins by calling the Bhagavadgītā the crest jewel of Mahābhārata, the pendant of a long string of pearls. There are two other Gītās: the Uddhava Gītā, taught by Kṛṣṇa to his friend and disciple Uddhava, and the Vyādha Gītā, a profound philosophical account explaining Advaita, delivered by a vyādha (butcher). The Vyādha Gītā is rooted in a story that holds the essence of Karma Yoga and the definition of work and worship.
A young Brāhmaṇa boy decided to renounce the world, leaving his old parents who begged him to stay and look after them, and did tapas in the forest to attain God and truth. This happened before Buddha, in the time when the Pāṇḍavas were in exile. After years of tapas his concentration grew and he gained unusual powers. One day a crane sat on the tree above him and its droppings fell on his head. Furious, he looked at the bird and it burned to ashes. He became proud of his power. Going to a village for bhikṣā with the call 'bhavati bhikṣāṃ dehi', he met a woman serving her tired husband, who asked him to wait. He raged at her for making a great man wait. She smiled and said, 'Do you think I am a crane that you can burn me up?' She explained that she put her duty to her husband first, said he knew nothing yet of yoga and spirituality, and sent him to the next village to a man called Dharmavyādha.
Humbled and shocked that she knew about the crane, he found Dharmavyādha's place, which looked like an ordinary slaughterhouse. The butcher greeted him: 'Did the lady send you? Come in', surprising him again. He saw the butcher attending to his parents. When the ascetic asked why such a wise man did this gruesome work, the butcher said that running to a forest and gaining powers does not make one accomplished, that he had incurred sin by killing the crane out of anger without control of mind and action, and that this is not spirituality. He added, 'No duty is ugly, no duty is impure. Birth placed me in these circumstances. I learned this trade as a boy; I am unattached and try to do my duty well. I do all I can to make my father and mother happy.'
The Vyādha Gītā shows how to worship one's work, whatever it is; disinterest in the fruit shows up as excellence in duty. In Mahābhārata, Kṛṣṇa says that by treating work as worship one can attain the highest; Janaka and others attained supremacy through Karma Yoga. The woman served her husband and the butcher served his aged parents with devotion, without expecting reward, offering it to the Absolute, and so attained their goal. The butcher told the Brahmacārī to go home and care for his parents first.
Swami Vivekananda says the Vyādha Gītā contains the heights of Advaita, which preaches renunciation; but when the all-pervading Self is within, renunciation is not leaving home for the forest. One can be a householder and still follow a spiritual path. Ramana Maharṣi says one can pass from householder to ascetic, but the point is to find who the 'I' is and go beyond it. Amma, asked by a woman for enlightenment, told her to continue doing what she was doing and she would reach there one day, and contrasted Dakṣa's yajña, which became a battlefield through his audacity, with Arjuna who, through faith in Kṛṣṇa, turned Kurukṣetra into a place of worship. The Brāhmaṇa's austerities, done with ego, pushed him into ignorance. Spirituality is not escaping actions or basic duties; the woman and the butcher are models of Karma Yoga through devoted, duty-bound, reward-free service of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The Vyādha Gītā (Vana Parva): a butcher and a housewife teach a proud ascetic that real spirituality is doing one's duty without attachment, and that work done as worship is Karma Yoga.
Full chapter summary:
The chapter begins by calling the Bhagavadgītā the crest jewel of Mahābhārata, the pendant of a long string of pearls. There are two other Gītās: the Uddhava Gītā, taught by Kṛṣṇa to his friend and disciple Uddhava, and the Vyādha Gītā, a profound philosophical account explaining Advaita, delivered by a vyādha (butcher). The Vyādha Gītā is rooted in a story that holds the essence of Karma Yoga and the definition of work and worship.
A young Brāhmaṇa boy decided to renounce the world, leaving his old parents who begged him to stay and look after them, and did tapas in the forest to attain God and truth. This happened before Buddha, in the time when the Pāṇḍavas were in exile. After years of tapas his concentration grew and he gained unusual powers. One day a crane sat on the tree above him and its droppings fell on his head. Furious, he looked at the bird and it burned to ashes. He became proud of his power. Going to a village for bhikṣā with the call 'bhavati bhikṣāṃ dehi', he met a woman serving her tired husband, who asked him to wait. He raged at her for making a great man wait. She smiled and said, 'Do you think I am a crane that you can burn me up?' She explained that she put her duty to her husband first, said he knew nothing yet of yoga and spirituality, and sent him to the next village to a man called Dharmavyādha.
Humbled and shocked that she knew about the crane, he found Dharmavyādha's place, which looked like an ordinary slaughterhouse. The butcher greeted him: 'Did the lady send you? Come in', surprising him again. He saw the butcher attending to his parents. When the ascetic asked why such a wise man did this gruesome work, the butcher said that running to a forest and gaining powers does not make one accomplished, that he had incurred sin by killing the crane out of anger without control of mind and action, and that this is not spirituality. He added, 'No duty is ugly, no duty is impure. Birth placed me in these circumstances. I learned this trade as a boy; I am unattached and try to do my duty well. I do all I can to make my father and mother happy.'
The Vyādha Gītā shows how to worship one's work, whatever it is; disinterest in the fruit shows up as excellence in duty. In Mahābhārata, Kṛṣṇa says that by treating work as worship one can attain the highest; Janaka and others attained supremacy through Karma Yoga. The woman served her husband and the butcher served his aged parents with devotion, without expecting reward, offering it to the Absolute, and so attained their goal. The butcher told the Brahmacārī to go home and care for his parents first.
Swami Vivekananda says the Vyādha Gītā contains the heights of Advaita, which preaches renunciation; but when the all-pervading Self is within, renunciation is not leaving home for the forest. One can be a householder and still follow a spiritual path. Ramana Maharṣi says one can pass from householder to ascetic, but the point is to find who the 'I' is and go beyond it. Amma, asked by a woman for enlightenment, told her to continue doing what she was doing and she would reach there one day, and contrasted Dakṣa's yajña, which became a battlefield through his audacity, with Arjuna who, through faith in Kṛṣṇa, turned Kurukṣetra into a place of worship. The Brāhmaṇa's austerities, done with ego, pushed him into ignorance. Spirituality is not escaping actions or basic duties; the woman and the butcher are models of Karma Yoga through devoted, duty-bound, reward-free service of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Bhagavadgītā (Kṛṣṇa to Arjuna), Uddhava Gītā (Kṛṣṇa to Uddhava) and Vyādha Gītā (taught by a butcher).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three Gītās
- Bhagavadgītā: crest jewel / pendant of the string of pearls that is Mahābhārata; Kṛṣṇa to Arjuna.
- Uddhava Gītā: Kṛṣṇa to Uddhava, long-standing friend and disciple.
- Vyādha Gītā: delivered by a butcher (vyādha); philosophical; explains Advaita; essence of Karma Yoga, work and worship.
Check for understanding: Name the three Gītās mentioned in the chapter.
Model answer: Bhagavadgītā (Kṛṣṇa to Arjuna), Uddhava Gītā (Kṛṣṇa to Uddhava) and Vyādha Gītā (taught by a butcher).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The ascetic and the crane
- Young Brāhmaṇa leaves old parents (who needed him) for tapas in the forest; time of Pāṇḍavas' exile.
- Gains powers; crane's droppings fall on him; anger burns the crane; pride grows.
- Common belief he followed: spirituality = leaving everything and doing tapas in a forest.
Check for understanding: Narrate the story of the young Brāhmaṇa and the crane.
Model answer: He left his old parents for tapas in the forest, gained powers, and burned a crane in anger when its droppings fell on his head. He became proud, then was humbled by a housewife and a butcher.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The housewife
- He begs: 'bhavati bhikṣāṃ dehi'; she asks him to wait while serving her husband.
- He shouts at her; she: 'Do you think I am a crane?'
- She chose duty first (feeding her tired husband); sends him to Dharmavyādha.
- Her knowledge came from duty-bound life, not from reading the Vedas.
Check for understanding: What did the housewife teach him?
Model answer: She said she was not a crane he could burn, that her duty to her tired husband came first, and that he did not yet understand yoga; she sent him to Dharmavyādha.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Dharmavyādha the butcher
- Place looks like a slaughterhouse; he already knows about the lady.
- Is serving his parents when the ascetic arrives.
- Tells him: killing the crane was sin (anger, no control of mind).
- 'No duty is ugly, no duty is impure.' Born into his work; unattached; makes parents happy.
- Teaches: worship your work; disinterest in fruits shows in good performance.
- Final instruction: go home and look after your parents.
Check for understanding: Why was the Brahmacārī shocked in the butcher's house?
Model answer: The butcher knew about the lady and about his killing of the crane, and was serving his parents despite his gruesome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Teaching and voices of authority
- Story is in Vana Parva.
- Kṛṣṇa (MB): work as worship leads to supremacy; King Janaka attained it by Karma Yoga.
- Vivekananda: Vyādha Gītā = heights of Advaita; renunciation is not about leaving home.
- Ramana Maharṣi: find who the 'I' is and go beyond it.
- Amma: 'Continue doing what you are doing.' Dakṣa's yajña became a battlefield; Arjuna made Kurukṣetra a place of worship.
- Conclusion: spirituality is not escape from duty; the lady and the butcher are models of Karma Yoga.
Check for understanding: What does 'no duty is ugly, no duty is impure' mean?
Model answer: Any duty fixed by one's birth and circumstance can be dignified if done well, without attachment, and as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Bhagavadgītā (Kṛṣṇa to Arjuna), Uddhava Gītā (Kṛṣṇa to Uddhava) and Vyādha Gītā (taught by a butcher).
Q2. He left his old parents for tapas in the forest, gained powers, and burned a crane in anger when its droppings fell on his head. He became proud, then was humbled by a housewife and a butcher.
Q3. She said she was not a crane he could burn, that her duty to her tired husband came first, and that he did not yet understand yoga; she sent him to Dharmavyādha.
Q4. The butcher knew about the lady and about his killing of the crane, and was serving his parents despite his gruesome trade.
Q5. Any duty fixed by one's birth and circumstance can be dignified if done well, without attachment, and as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Treat work as worship; detachment from reward improves performance of duty; spirituality means doing duty, such as serving parents or family, not running away.
Q7. In Vana Parva, when the Pāṇḍavas were in the forest.
Q8. It contains the heights of Advaita, which preaches renunciation; but renunciation does not require leaving home, since the Self is within.
Q9. Dakṣa's yajña became a battleground because of his audacity, whereas Arjuna, with dedication to Kṛṣṇa, turned the battleground of Kurukṣetra into a place of worship.
Q10. They served family with devotion, sense of duty and complete detachment from reward, offering it as worship.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Bhagavadgītā (Kṛṣṇa to Arjuna), Uddhava Gītā (Kṛṣṇa to Uddhava) and Vyādha Gītā (taught by a butcher).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4 · Dharmic Insights of a Butcher</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4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4</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Dharmic Insights of a Butcher</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43 to 47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Three Gītās: Bhagavadgītā (Kṛṣṇa to Arjuna), Uddhava Gītā (Kṛṣṇa to Uddhava), Vyādha Gītā (by a butcher).</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The story is in Vana Parva, while the Pāṇḍavas are in the forest.</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The ascetic's fury burned a crane; the housewife says: 'I am not a crane'.</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'No duty is ugly, no duty is impure': do your duty well, unattached.</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Spirituality is not running away from duty; serve parents and family; work = worship.</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Name the three Gītās mentioned in the chapter.</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three Gītās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The three Gītās</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ascetic and the crane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housewife</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Dharmavyādha the butcher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Teaching and voices of aut…</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Bhagavadgītā: crest jewel / pendant of the string of pearls that is Mahābhārata; Kṛṣṇa to Arjuna.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Uddhava Gītā: Kṛṣṇa to Uddhava, long-standing friend and disciple.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Vyādha Gītā: delivered by a butcher (vyādha); philosophical; explains Advaita; essence of Karma Yoga, work and worship.</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ascetic and the crane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three Gītās</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The ascetic and the crane</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housewife</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Dharmavyādha the butcher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Teaching and voices of aut…</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Young Brāhmaṇa leaves old parents (who needed him) for tapas in the forest; time of Pāṇḍavas' exile.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Gains powers; crane's droppings fall on him; anger burns the crane; pride grows.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Common belief he followed: spirituality = leaving everything and doing tapas in a forest.</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housewife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three Gītās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ascetic and the crane</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The housewife</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Dharmavyādha the butcher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Teaching and voices of aut…</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He begs: 'bhavati bhikṣāṃ dehi'; she asks him to wait while serving her husband.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He shouts at her; she: 'Do you think I am a crane?'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She chose duty first (feeding her tired husband); sends him to Dharmavyādha.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Her knowledge came from duty-bound life, not from reading the Vedas.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Dharmavyādha the butcher</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three Gītās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ascetic and the crane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housewife</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Dharmavyādha the butcher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Teaching and voices of aut…</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Place looks like a slaughterhouse; he already knows about the lady.</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Is serving his parents when the ascetic arrives.</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Tells him: killing the crane was sin (anger, no control of mind).</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'No duty is ugly, no duty is impure.' Born into his work; unattached; makes parents happy.</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Teaches: worship your work; disinterest in fruits shows in good performance.</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Final instruction: go home and look after your parents.</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Teaching and voices of authority</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The three Gītās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ascetic and the crane</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The housewife</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Dharmavyādha the butcher</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Teaching and voices of aut…</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Story is in Vana Parva.</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Kṛṣṇa (MB): work as worship leads to supremacy; King Janaka attained it by Karma Yoga.</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Vivekananda: Vyādha Gītā = heights of Advaita; renunciation is not about leaving home.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Ramana Maharṣi: find who the 'I' is and go beyond it.</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Amma: 'Continue doing what you are doing.' Dakṣa's yajña became a battlefield; Arjuna made Kurukṣetra a place of worship.</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Conclusion: spirituality is not escape from duty; the lady and the butcher are models of Karma Yoga.</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Vyādha Gītā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Gītā taught by a butcher in Vana Parva; philosophical, Advaitic, centred on Karma Yoga.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Uddhava Gītā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Kṛṣṇa's teaching to Uddhava.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Vyādha / Dharmavyādha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Butcher; the butcher of the story, known for 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Tapas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Austerity/meditation practised by the ascetic.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Bhikṣā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Alms; 'bhavati bhikṣāṃ dehi' is the call for alms.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Brahmacārī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Young celibate student/ascetic, here the proud Brāhmaṇa boy.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Karma Yoga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Doing duty as worship, without attachment to reward.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Advaita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Non-dual philosophy; Vyādha Gītā explains it.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Svadharma duty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Duty by birth and circumstance; 'no duty is ugly'.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Renunciation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Per the chapter, inner detachment, not merely leaving home.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Gītās named</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3: Bhagavadgītā, Uddhava Gītā, Vyādha Gītā</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Parva</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Vana (Āraṇya) Parva</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Time</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Before Buddha; when the Pāṇḍavas were in the forest</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Number of teachers of the ascetic</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2 (the housewife, the butcher)</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Persons mentioned as Karma Yogis</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The housewife, the butcher, King Janaka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The young Brāhmaṇa (Brahmacārī)</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Left old parents for tapas; proud, learns humility.</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The housewife</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Duty to her husband; says 'I am not a crane'.</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Dharmavyādha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Butcher who serves parents and teaches Karma Yoga.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U</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Uddhava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Friend and disciple of Kṛṣṇa.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1565C0"/>
          </a:solidFill>
          <a:ln w="12700">
            <a:solidFill>
              <a:srgbClr val="1565C0"/>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King Janaka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Attained supremacy through Karma Yoga.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00796B"/>
          </a:solidFill>
          <a:ln w="12700">
            <a:solidFill>
              <a:srgbClr val="00796B"/>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Swami Vivekananda, Ramana Maharṣi, Amma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Voices quoted on renunciation, the 'I', and continuing one's duties.</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AD1457"/>
          </a:solidFill>
          <a:ln w="12700">
            <a:solidFill>
              <a:srgbClr val="AD1457"/>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Dakṣa and Arjuna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Contrast: yajña became a battlefield vs battlefield became worship.</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389255"/>
          </a:xfrm>
          <a:prstGeom prst="roundRect">
            <a:avLst>
              <a:gd name="adj" fmla="val 18793"/>
            </a:avLst>
          </a:prstGeom>
          <a:solidFill>
            <a:srgbClr val="FFF4D6"/>
          </a:solidFill>
          <a:ln w="12700">
            <a:solidFill>
              <a:srgbClr val="EAD9C4"/>
            </a:solidFill>
            <a:prstDash val="solid"/>
          </a:ln>
        </p:spPr>
      </p:sp>
      <p:sp>
        <p:nvSpPr>
          <p:cNvPr id="5" name="Text 2"/>
          <p:cNvSpPr txBox="1"/>
          <p:nvPr/>
        </p:nvSpPr>
        <p:spPr>
          <a:xfrm>
            <a:off x="548640" y="1005840"/>
            <a:ext cx="3840480" cy="389255"/>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bhavati bhikṣāṃ dehi</a:t>
            </a:r>
            <a:endParaRPr lang="en-US" sz="1300" dirty="0"/>
          </a:p>
        </p:txBody>
      </p:sp>
      <p:sp>
        <p:nvSpPr>
          <p:cNvPr id="6" name="Text 3"/>
          <p:cNvSpPr txBox="1"/>
          <p:nvPr/>
        </p:nvSpPr>
        <p:spPr>
          <a:xfrm>
            <a:off x="4572000" y="1005840"/>
            <a:ext cx="4069080" cy="389255"/>
          </a:xfrm>
          <a:prstGeom prst="rect">
            <a:avLst/>
          </a:prstGeom>
          <a:noFill/>
          <a:ln/>
        </p:spPr>
        <p:txBody>
          <a:bodyPr wrap="square" lIns="0" tIns="0" rIns="0" bIns="0" rtlCol="0" anchor="ctr"/>
          <a:lstStyle/>
          <a:p>
            <a:pPr indent="0" marL="0">
              <a:buNone/>
            </a:pPr>
            <a:r>
              <a:rPr lang="en-US" sz="1300" dirty="0">
                <a:solidFill>
                  <a:srgbClr val="2A2A2A"/>
                </a:solidFill>
              </a:rPr>
              <a:t>Call for alms used by the Brahmacārī.</a:t>
            </a:r>
            <a:endParaRPr lang="en-US" sz="1300" dirty="0"/>
          </a:p>
        </p:txBody>
      </p:sp>
      <p:sp>
        <p:nvSpPr>
          <p:cNvPr id="7" name="Sloka card 2"/>
          <p:cNvSpPr/>
          <p:nvPr/>
        </p:nvSpPr>
        <p:spPr>
          <a:xfrm>
            <a:off x="365760" y="1504823"/>
            <a:ext cx="8412480" cy="595630"/>
          </a:xfrm>
          <a:prstGeom prst="roundRect">
            <a:avLst>
              <a:gd name="adj" fmla="val 12281"/>
            </a:avLst>
          </a:prstGeom>
          <a:solidFill>
            <a:srgbClr val="FFF4D6"/>
          </a:solidFill>
          <a:ln w="12700">
            <a:solidFill>
              <a:srgbClr val="EAD9C4"/>
            </a:solidFill>
            <a:prstDash val="solid"/>
          </a:ln>
        </p:spPr>
      </p:sp>
      <p:sp>
        <p:nvSpPr>
          <p:cNvPr id="8" name="Text 5"/>
          <p:cNvSpPr txBox="1"/>
          <p:nvPr/>
        </p:nvSpPr>
        <p:spPr>
          <a:xfrm>
            <a:off x="548640" y="1504823"/>
            <a:ext cx="3840480" cy="595630"/>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'My son, no duty is ugly, no duty is impure.' (Dharmavyādha)</a:t>
            </a:r>
            <a:endParaRPr lang="en-US" sz="1300" dirty="0"/>
          </a:p>
        </p:txBody>
      </p:sp>
      <p:sp>
        <p:nvSpPr>
          <p:cNvPr id="9" name="Text 6"/>
          <p:cNvSpPr txBox="1"/>
          <p:nvPr/>
        </p:nvSpPr>
        <p:spPr>
          <a:xfrm>
            <a:off x="4572000" y="1504823"/>
            <a:ext cx="4069080" cy="595630"/>
          </a:xfrm>
          <a:prstGeom prst="rect">
            <a:avLst/>
          </a:prstGeom>
          <a:noFill/>
          <a:ln/>
        </p:spPr>
        <p:txBody>
          <a:bodyPr wrap="square" lIns="0" tIns="0" rIns="0" bIns="0" rtlCol="0" anchor="ctr"/>
          <a:lstStyle/>
          <a:p>
            <a:pPr indent="0" marL="0">
              <a:buNone/>
            </a:pPr>
            <a:r>
              <a:rPr lang="en-US" sz="1300" dirty="0">
                <a:solidFill>
                  <a:srgbClr val="2A2A2A"/>
                </a:solidFill>
              </a:rPr>
              <a:t>Core teaching: dignity in every duty done without attachment.</a:t>
            </a:r>
            <a:endParaRPr lang="en-US" sz="1300" dirty="0"/>
          </a:p>
        </p:txBody>
      </p:sp>
      <p:sp>
        <p:nvSpPr>
          <p:cNvPr id="10" name="Sloka card 3"/>
          <p:cNvSpPr/>
          <p:nvPr/>
        </p:nvSpPr>
        <p:spPr>
          <a:xfrm>
            <a:off x="365760" y="2210181"/>
            <a:ext cx="8412480" cy="595630"/>
          </a:xfrm>
          <a:prstGeom prst="roundRect">
            <a:avLst>
              <a:gd name="adj" fmla="val 12281"/>
            </a:avLst>
          </a:prstGeom>
          <a:solidFill>
            <a:srgbClr val="FFF4D6"/>
          </a:solidFill>
          <a:ln w="12700">
            <a:solidFill>
              <a:srgbClr val="EAD9C4"/>
            </a:solidFill>
            <a:prstDash val="solid"/>
          </a:ln>
        </p:spPr>
      </p:sp>
      <p:sp>
        <p:nvSpPr>
          <p:cNvPr id="11" name="Text 8"/>
          <p:cNvSpPr txBox="1"/>
          <p:nvPr/>
        </p:nvSpPr>
        <p:spPr>
          <a:xfrm>
            <a:off x="548640" y="2210181"/>
            <a:ext cx="3840480" cy="59563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'Do you think I am a crane?' (the housewife)</a:t>
            </a:r>
            <a:endParaRPr lang="en-US" sz="1300" dirty="0"/>
          </a:p>
        </p:txBody>
      </p:sp>
      <p:sp>
        <p:nvSpPr>
          <p:cNvPr id="12" name="Text 9"/>
          <p:cNvSpPr txBox="1"/>
          <p:nvPr/>
        </p:nvSpPr>
        <p:spPr>
          <a:xfrm>
            <a:off x="4572000" y="2210181"/>
            <a:ext cx="4069080" cy="595630"/>
          </a:xfrm>
          <a:prstGeom prst="rect">
            <a:avLst/>
          </a:prstGeom>
          <a:noFill/>
          <a:ln/>
        </p:spPr>
        <p:txBody>
          <a:bodyPr wrap="square" lIns="0" tIns="0" rIns="0" bIns="0" rtlCol="0" anchor="ctr"/>
          <a:lstStyle/>
          <a:p>
            <a:pPr indent="0" marL="0">
              <a:buNone/>
            </a:pPr>
            <a:r>
              <a:rPr lang="en-US" sz="1300" dirty="0">
                <a:solidFill>
                  <a:srgbClr val="2A2A2A"/>
                </a:solidFill>
              </a:rPr>
              <a:t>Rebuke to anger and ego; duty comes before the ascetic's demand.</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Ascetic vs housewife vs butcher</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Ascetic</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Housewife / Butcher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Conduct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Left parents; tapas in forest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Served husband / parents with devotion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Attitude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Pride, anger, expects respect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Humility, detachment, no reward expected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Burned a crane; sin and ego</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Attained the goal through Karma Yoga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Lesson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Powers without control are not spirituality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Duty done as worship is spirituality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Crane test: anger turned power into sin; the lady said 'I am not a crane'.</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Quote to remember: 'No duty is ugly, no duty is impure.'</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Order of teachers: Housewife (duty) then Butcher (worship of work) then home to parents.</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Spiritual = not escape: Dakṣa's yajña (ego) vs Arjuna's Kurukṣetra (faith).</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Trio of Gītās: Bhagavad, Uddhava, Vyādha.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Name the three Gītās mentioned in the chapter.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Narrate the story of the young Brāhmaṇa and the crane.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What did the housewife teach him?</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Why was the Brahmacārī shocked in the butcher's house?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What does 'no duty is ugly, no duty is impure' mean?</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is the Vyādha Gītā's central message?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Where does the Vyādha Gītā occur?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What does Vivekananda say about the Vyādha Gītā?</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Compare Dakṣa's yajña and Arjuna's battlefield (Amma).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Why were the housewife and butcher exemplars of Karma Yoga?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 Name the three Gītās mentioned in the chapter.</a:t>
            </a:r>
            <a:endParaRPr lang="en-US" sz="1200" dirty="0"/>
          </a:p>
          <a:p>
            <a:pPr indent="0" marL="0">
              <a:buNone/>
            </a:pPr>
            <a:r>
              <a:rPr lang="en-US" sz="1200" dirty="0">
                <a:solidFill>
                  <a:srgbClr val="2A2A2A"/>
                </a:solidFill>
              </a:rPr>
              <a:t>Bhagavadgītā (Kṛṣṇa to Arjuna), Uddhava Gītā (Kṛṣṇa to Uddhava) and Vyādha Gītā (taught by a butcher).</a:t>
            </a:r>
            <a:endParaRPr lang="en-US" sz="1200" dirty="0"/>
          </a:p>
        </p:txBody>
      </p:sp>
      <p:sp>
        <p:nvSpPr>
          <p:cNvPr id="6" name="Answer 2"/>
          <p:cNvSpPr/>
          <p:nvPr/>
        </p:nvSpPr>
        <p:spPr>
          <a:xfrm>
            <a:off x="365760" y="1751076"/>
            <a:ext cx="8412480" cy="890016"/>
          </a:xfrm>
          <a:prstGeom prst="roundRect">
            <a:avLst>
              <a:gd name="adj" fmla="val 6164"/>
            </a:avLst>
          </a:prstGeom>
          <a:solidFill>
            <a:srgbClr val="FFF4D6"/>
          </a:solidFill>
          <a:ln w="9525">
            <a:solidFill>
              <a:srgbClr val="EAD9C4"/>
            </a:solidFill>
            <a:prstDash val="solid"/>
          </a:ln>
        </p:spPr>
      </p:sp>
      <p:sp>
        <p:nvSpPr>
          <p:cNvPr id="7" name="Text 4"/>
          <p:cNvSpPr txBox="1"/>
          <p:nvPr/>
        </p:nvSpPr>
        <p:spPr>
          <a:xfrm>
            <a:off x="457200" y="1751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Q2. Narrate the story of the young Brāhmaṇa and the crane.</a:t>
            </a:r>
            <a:endParaRPr lang="en-US" sz="1200" dirty="0"/>
          </a:p>
          <a:p>
            <a:pPr indent="0" marL="0">
              <a:buNone/>
            </a:pPr>
            <a:r>
              <a:rPr lang="en-US" sz="1200" dirty="0">
                <a:solidFill>
                  <a:srgbClr val="2A2A2A"/>
                </a:solidFill>
              </a:rPr>
              <a:t>He left his old parents for tapas in the forest, gained powers, and burned a crane in anger when its droppings fell on his head. He became proud, then was humbled by a housewife and a butcher.</a:t>
            </a:r>
            <a:endParaRPr lang="en-US" sz="1200" dirty="0"/>
          </a:p>
        </p:txBody>
      </p:sp>
      <p:sp>
        <p:nvSpPr>
          <p:cNvPr id="8" name="Answer 3"/>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What did the housewife teach him?</a:t>
            </a:r>
            <a:endParaRPr lang="en-US" sz="1200" dirty="0"/>
          </a:p>
          <a:p>
            <a:pPr indent="0" marL="0">
              <a:buNone/>
            </a:pPr>
            <a:r>
              <a:rPr lang="en-US" sz="1200" dirty="0">
                <a:solidFill>
                  <a:srgbClr val="2A2A2A"/>
                </a:solidFill>
              </a:rPr>
              <a:t>She said she was not a crane he could burn, that her duty to her tired husband came first, and that he did not yet understand yoga; she sent him to Dharmavyādha.</a:t>
            </a:r>
            <a:endParaRPr lang="en-US" sz="1200" dirty="0"/>
          </a:p>
        </p:txBody>
      </p:sp>
      <p:sp>
        <p:nvSpPr>
          <p:cNvPr id="10" name="Answer 4"/>
          <p:cNvSpPr/>
          <p:nvPr/>
        </p:nvSpPr>
        <p:spPr>
          <a:xfrm>
            <a:off x="365760" y="34686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4686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Why was the Brahmacārī shocked in the butcher's house?</a:t>
            </a:r>
            <a:endParaRPr lang="en-US" sz="1200" dirty="0"/>
          </a:p>
          <a:p>
            <a:pPr indent="0" marL="0">
              <a:buNone/>
            </a:pPr>
            <a:r>
              <a:rPr lang="en-US" sz="1200" dirty="0">
                <a:solidFill>
                  <a:srgbClr val="2A2A2A"/>
                </a:solidFill>
              </a:rPr>
              <a:t>The butcher knew about the lady and about his killing of the crane, and was serving his parents despite his gruesome trade.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What does 'no duty is ugly, no duty is impure' mean?</a:t>
            </a:r>
            <a:endParaRPr lang="en-US" sz="1200" dirty="0"/>
          </a:p>
          <a:p>
            <a:pPr indent="0" marL="0">
              <a:buNone/>
            </a:pPr>
            <a:r>
              <a:rPr lang="en-US" sz="1200" dirty="0">
                <a:solidFill>
                  <a:srgbClr val="2A2A2A"/>
                </a:solidFill>
              </a:rPr>
              <a:t>Any duty fixed by one's birth and circumstance can be dignified if done well, without attachment, and as service.</a:t>
            </a:r>
            <a:endParaRPr lang="en-US" sz="1200" dirty="0"/>
          </a:p>
        </p:txBody>
      </p:sp>
      <p:sp>
        <p:nvSpPr>
          <p:cNvPr id="6" name="Answer 6"/>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is the Vyādha Gītā's central message?</a:t>
            </a:r>
            <a:endParaRPr lang="en-US" sz="1200" dirty="0"/>
          </a:p>
          <a:p>
            <a:pPr indent="0" marL="0">
              <a:buNone/>
            </a:pPr>
            <a:r>
              <a:rPr lang="en-US" sz="1200" dirty="0">
                <a:solidFill>
                  <a:srgbClr val="2A2A2A"/>
                </a:solidFill>
              </a:rPr>
              <a:t>Treat work as worship; detachment from reward improves performance of duty; spirituality means doing duty, such as serving parents or family, not running away.</a:t>
            </a:r>
            <a:endParaRPr lang="en-US" sz="1200" dirty="0"/>
          </a:p>
        </p:txBody>
      </p:sp>
      <p:sp>
        <p:nvSpPr>
          <p:cNvPr id="8" name="Answer 7"/>
          <p:cNvSpPr/>
          <p:nvPr/>
        </p:nvSpPr>
        <p:spPr>
          <a:xfrm>
            <a:off x="365760" y="2514600"/>
            <a:ext cx="8412480" cy="509016"/>
          </a:xfrm>
          <a:prstGeom prst="roundRect">
            <a:avLst>
              <a:gd name="adj" fmla="val 10778"/>
            </a:avLst>
          </a:prstGeom>
          <a:solidFill>
            <a:srgbClr val="FFFFFF"/>
          </a:solidFill>
          <a:ln w="9525">
            <a:solidFill>
              <a:srgbClr val="EAD9C4"/>
            </a:solidFill>
            <a:prstDash val="solid"/>
          </a:ln>
        </p:spPr>
      </p:sp>
      <p:sp>
        <p:nvSpPr>
          <p:cNvPr id="9" name="Text 6"/>
          <p:cNvSpPr txBox="1"/>
          <p:nvPr/>
        </p:nvSpPr>
        <p:spPr>
          <a:xfrm>
            <a:off x="457200" y="2514600"/>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Q7. Where does the Vyādha Gītā occur?</a:t>
            </a:r>
            <a:endParaRPr lang="en-US" sz="1200" dirty="0"/>
          </a:p>
          <a:p>
            <a:pPr indent="0" marL="0">
              <a:buNone/>
            </a:pPr>
            <a:r>
              <a:rPr lang="en-US" sz="1200" dirty="0">
                <a:solidFill>
                  <a:srgbClr val="2A2A2A"/>
                </a:solidFill>
              </a:rPr>
              <a:t>In Vana Parva, when the Pāṇḍavas were in the forest.</a:t>
            </a:r>
            <a:endParaRPr lang="en-US" sz="1200" dirty="0"/>
          </a:p>
        </p:txBody>
      </p:sp>
      <p:sp>
        <p:nvSpPr>
          <p:cNvPr id="10" name="Answer 8"/>
          <p:cNvSpPr/>
          <p:nvPr/>
        </p:nvSpPr>
        <p:spPr>
          <a:xfrm>
            <a:off x="365760" y="30876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0876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What does Vivekananda say about the Vyādha Gītā?</a:t>
            </a:r>
            <a:endParaRPr lang="en-US" sz="1200" dirty="0"/>
          </a:p>
          <a:p>
            <a:pPr indent="0" marL="0">
              <a:buNone/>
            </a:pPr>
            <a:r>
              <a:rPr lang="en-US" sz="1200" dirty="0">
                <a:solidFill>
                  <a:srgbClr val="2A2A2A"/>
                </a:solidFill>
              </a:rPr>
              <a:t>It contains the heights of Advaita, which preaches renunciation; but renunciation does not require leaving home, since the Self is within.</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Compare Dakṣa's yajña and Arjuna's battlefield (Amma).</a:t>
            </a:r>
            <a:endParaRPr lang="en-US" sz="1200" dirty="0"/>
          </a:p>
          <a:p>
            <a:pPr indent="0" marL="0">
              <a:buNone/>
            </a:pPr>
            <a:r>
              <a:rPr lang="en-US" sz="1200" dirty="0">
                <a:solidFill>
                  <a:srgbClr val="2A2A2A"/>
                </a:solidFill>
              </a:rPr>
              <a:t>Dakṣa's yajña became a battleground because of his audacity, whereas Arjuna, with dedication to Kṛṣṇa, turned the battleground of Kurukṣetra into a place of worship.</a:t>
            </a:r>
            <a:endParaRPr lang="en-US" sz="1200" dirty="0"/>
          </a:p>
        </p:txBody>
      </p:sp>
      <p:sp>
        <p:nvSpPr>
          <p:cNvPr id="6" name="Answer 10"/>
          <p:cNvSpPr/>
          <p:nvPr/>
        </p:nvSpPr>
        <p:spPr>
          <a:xfrm>
            <a:off x="365760" y="17510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Why were the housewife and butcher exemplars of Karma Yoga?</a:t>
            </a:r>
            <a:endParaRPr lang="en-US" sz="1200" dirty="0"/>
          </a:p>
          <a:p>
            <a:pPr indent="0" marL="0">
              <a:buNone/>
            </a:pPr>
            <a:r>
              <a:rPr lang="en-US" sz="1200" dirty="0">
                <a:solidFill>
                  <a:srgbClr val="2A2A2A"/>
                </a:solidFill>
              </a:rPr>
              <a:t>They served family with devotion, sense of duty and complete detachment from reward, offering it as worship.</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Who is the butcher?</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Dharmavyādha.</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Where is the story?</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Vana Parva.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What burned?</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A crane.</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Final advice?</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Go home and serve your parents.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Three Gītās: Bhagavadgītā (Kṛṣṇa to Arjuna), Uddhava Gītā (Kṛṣṇa to Uddhava), Vyādha Gītā (by a butcher).</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story is in Vana Parva, while the Pāṇḍavas are in the forest.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ascetic's fury burned a crane; the housewife says: 'I am not a crane'.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duty is ugly, no duty is impure': do your duty well, unattached.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Spirituality is not running away from duty; serve parents and family; work = worship.</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Dharmic Insights of a Butcher</dc:title>
  <dc:subject>PptxGenJS Presentation</dc:subject>
  <dc:creator>ADM Teaching Deck</dc:creator>
  <cp:lastModifiedBy>ADM Teaching Deck</cp:lastModifiedBy>
  <cp:revision>1</cp:revision>
  <dcterms:created xsi:type="dcterms:W3CDTF">2026-10-04T11:54:22Z</dcterms:created>
  <dcterms:modified xsi:type="dcterms:W3CDTF">2026-10-04T11:54:22Z</dcterms:modified>
</cp:coreProperties>
</file>