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5ae7fe4-3246-c75f-43b2-593d1cc99fc7}">
          <p14:sldIdLst>
            <p14:sldId id="256"/>
            <p14:sldId id="257"/>
            <p14:sldId id="258"/>
            <p14:sldId id="259"/>
          </p14:sldIdLst>
        </p14:section>
        <p14:section name="Lesson" id="{a89877db-0915-a103-1ad0-6f0c9bb7f8b6}">
          <p14:sldIdLst>
            <p14:sldId id="260"/>
            <p14:sldId id="261"/>
            <p14:sldId id="262"/>
            <p14:sldId id="263"/>
            <p14:sldId id="264"/>
          </p14:sldIdLst>
        </p14:section>
        <p14:section name="Key facts" id="{e77b72eb-f9bb-11d2-160d-ab93531bd80d}">
          <p14:sldIdLst>
            <p14:sldId id="265"/>
            <p14:sldId id="266"/>
            <p14:sldId id="267"/>
            <p14:sldId id="268"/>
            <p14:sldId id="269"/>
            <p14:sldId id="270"/>
            <p14:sldId id="271"/>
            <p14:sldId id="272"/>
          </p14:sldIdLst>
        </p14:section>
        <p14:section name="Review" id="{0604a953-b29c-d3e1-3107-46055d711cb6}">
          <p14:sldIdLst>
            <p14:sldId id="273"/>
            <p14:sldId id="274"/>
            <p14:sldId id="275"/>
            <p14:sldId id="276"/>
            <p14:sldId id="277"/>
            <p14:sldId id="278"/>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Teacher's script for the whole chapter (summary):
An Itihāsa conveys universal truth as stories about humans and non-humans. Mahābhārata, one of the greatest Itihāsas, expresses eternal truths about human nature, including how truth can be experienced, communicated, understood and verified. These truths come from thousands of years of observation, study and analysis by Ṛṣis, who are called mantra-draṣṭās: those who have experienced the truth. They did not create the aphorisms; they verbalised what they experienced in meditation. All of these expressions were combined, classified and edited by Kṛṣṇa Dvaipāyana, so he became known as Veda Vyāsa, the editor of the Vedas.
Each Veda is classified into four texts: Saṃhitā, Āraṇyaka, Brāhmaṇa and Upaniṣad. Across them there are three types of statements. Praśasti Vākyas are decorative statements praising or blaming a deity, event, person or experience. Because they involve fame and infamy, they rest on the speaker's likes and dislikes, which affects veracity; the book therefore says the Saṃhitā statements are Praśasti Vākyas and not statements of truth. Vidhi Vākyas are the dos and don'ts, which change with context: what is expected in one situation may not be in another. These two kinds are compiled in the Brāhmaṇas and Āraṇyakas. The third kind, the statement of truth, is like an equation: changing the word order does not change the meaning, as 2+2=4 equals 4=2+2, and as 'Aham Brahmāsmi' equals 'Brahma aham asmi', and 'tat tvam asi' equals 'asi tat tvam'. The Upaniṣads mainly consist of such statements.
Brahma Sūtra is a text on the Vedānta system, derived from the Vedas by taking statements of truth and arranging them systematically. The Gītā shows how ancient lessons are applied practically. So the Vedas and Upaniṣads are the sourcebooks, Brahma Sūtra is the text, and the Bhagavadgītā is the technology by which the lessons are enacted. Mahābhārata contains this technology of Vedānta, which is why Vyāsa called it the fifth Veda.
Why a fifth Veda? Learning the Veda needs two things: eligibility and competence. For example, passing a degree makes one eligible for civil service, but not everyone is competent. Likewise, in Indian thought all beings, human and non-human, are eligible for mokṣa, the ultimate aim. Heaven is not the final destination because it is impermanent: when merit is exhausted, one returns to earth. But not all humans are competent to learn the Vedas, which demands strict rules, vratas and systematic training. Mahābhārata expresses lofty ideas in simple language and offers those who are eligible but not competent a distinctive means to mokṣa: the multifaceted life experiences of its characters. Its principal purpose is to show how Dharma operates in countless contexts.
Vyāsa says the essence of Dharma is Niṣkāma Karma, the central theme of every anecdote. It means performing karma without the touch of karmic elements: serving others while controlling the sense organs and mind. The 'presumed intelligentsia' wrongly confine it to the Bhagavadgītā; in fact it is found everywhere in the universe. The human body is dynamic, so action and reaction are unavoidable and complete inaction is inconceivable. One should act with the benefit of all in mind. As social beings, everyone must at some point commit to Niṣkāma Karma. One is responsible for one's action or inaction and cannot blame external forces; one must think about pros and cons and control the senses and manas. Mahābhārata teaches this through its characters' life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idea: Why Mahābhārata is the fifth Veda: it turns the Veda's abstract truths into lived 'technology' for people who are eligible for mokṣa but not competent for rigorous Vedic study, and its essence of Dharma is Niṣkāma Karma.
Full chapter summary:
An Itihāsa conveys universal truth as stories about humans and non-humans. Mahābhārata, one of the greatest Itihāsas, expresses eternal truths about human nature, including how truth can be experienced, communicated, understood and verified. These truths come from thousands of years of observation, study and analysis by Ṛṣis, who are called mantra-draṣṭās: those who have experienced the truth. They did not create the aphorisms; they verbalised what they experienced in meditation. All of these expressions were combined, classified and edited by Kṛṣṇa Dvaipāyana, so he became known as Veda Vyāsa, the editor of the Vedas.
Each Veda is classified into four texts: Saṃhitā, Āraṇyaka, Brāhmaṇa and Upaniṣad. Across them there are three types of statements. Praśasti Vākyas are decorative statements praising or blaming a deity, event, person or experience. Because they involve fame and infamy, they rest on the speaker's likes and dislikes, which affects veracity; the book therefore says the Saṃhitā statements are Praśasti Vākyas and not statements of truth. Vidhi Vākyas are the dos and don'ts, which change with context: what is expected in one situation may not be in another. These two kinds are compiled in the Brāhmaṇas and Āraṇyakas. The third kind, the statement of truth, is like an equation: changing the word order does not change the meaning, as 2+2=4 equals 4=2+2, and as 'Aham Brahmāsmi' equals 'Brahma aham asmi', and 'tat tvam asi' equals 'asi tat tvam'. The Upaniṣads mainly consist of such statements.
Brahma Sūtra is a text on the Vedānta system, derived from the Vedas by taking statements of truth and arranging them systematically. The Gītā shows how ancient lessons are applied practically. So the Vedas and Upaniṣads are the sourcebooks, Brahma Sūtra is the text, and the Bhagavadgītā is the technology by which the lessons are enacted. Mahābhārata contains this technology of Vedānta, which is why Vyāsa called it the fifth Veda.
Why a fifth Veda? Learning the Veda needs two things: eligibility and competence. For example, passing a degree makes one eligible for civil service, but not everyone is competent. Likewise, in Indian thought all beings, human and non-human, are eligible for mokṣa, the ultimate aim. Heaven is not the final destination because it is impermanent: when merit is exhausted, one returns to earth. But not all humans are competent to learn the Vedas, which demands strict rules, vratas and systematic training. Mahābhārata expresses lofty ideas in simple language and offers those who are eligible but not competent a distinctive means to mokṣa: the multifaceted life experiences of its characters. Its principal purpose is to show how Dharma operates in countless contexts.
Vyāsa says the essence of Dharma is Niṣkāma Karma, the central theme of every anecdote. It means performing karma without the touch of karmic elements: serving others while controlling the sense organs and mind. The 'presumed intelligentsia' wrongly confine it to the Bhagavadgītā; in fact it is found everywhere in the universe. The human body is dynamic, so action and reaction are unavoidable and complete inaction is inconceivable. One should act with the benefit of all in mind. As social beings, everyone must at some point commit to Niṣkāma Karma. One is responsible for one's action or inaction and cannot blame external forces; one must think about pros and cons and control the senses and manas. Mahābhārata teaches this through its characters' life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 minutes (think-pair-share) before revealing.
Model answer: Universal truths about human nature, narrated as stories of humans and non-humans, including how truth is experienced, communicated, understood and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storyline of the chapter in this order. Each numbered box is one teaching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What an Itihāsa conveys
- Universal truth as stories of humans and non-humans.
- Themes: how truth is experienced, communicated, understood and verified.
- Truths = fruit of thousands of years of observation by Ṛṣis.
- Ṛṣis are mantra-draṣṭā ('one who has experienced it'), not creators of aphorisms.
- Kṛṣṇa Dvaipāyana combined, classified and edited them: Veda Vyāsa.
Check for understanding: What is an Itihāsa trying to convey, according to this chapter?
Model answer: Universal truths about human nature, narrated as stories of humans and non-humans, including how truth is experienced, communicated, understood and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 Structure of the Veda and types of statements
- Each Veda has 4 texts: Saṃhitā, Āraṇyaka, Brāhmaṇa, Upaniṣad.
- Praśasti Vākya: decorative statements of fame/infamy; based on likes/dislikes; Saṃhitā statements are of this type.
- Vidhi Vākya: dos and don'ts; context-dependent and variable.
- Praśasti + Vidhi compiled in Brāhmaṇas and Āraṇyakas.
- Jñāna Vākya (statement of truth): like an equation, order-independent: 2+2=4 / 4=2+2; Aham Brahmāsmi / Brahma aham asmi; tat tvam asi / asi tat tvam.
- Upaniṣads mainly hold statements of truth.
Check for understanding: Who are the mantra-draṣṭās and what is their role?
Model answer: Ṛṣis who experienced truths in meditation. They did not create the aphorisms but expressed what they experienced. Kṛṣṇa Dvaipāyana compiled, classified and edited them and so became Veda Vyāsa.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From Veda to Gītā
- Brahma Sūtra: Vedānta text built by arranging statements of truth in order.
- Gītā: practical application of ancient lessons in real life circumstances.
- Vedas/Upaniṣads = sourcebooks; Brahma Sūtra = text; Bhagavadgītā = technology.
- Mahābhārata holds the technology of Vedānta: hence fifth Veda.
Check for understanding: Name and explain the three types of statements in the Vedas.
Model answer: Praśasti Vākya: decorative statements of fame or infamy, based on likes and dislikes. Vidhi Vākya: dos and don'ts that vary with context. Jñāna Vākya: statements of truth, like equations where word order does not change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 Eligibility vs competence
- Analogy: a degree makes one eligible for civil service, not necessarily competent.
- All beings are eligible for mokṣa; heaven is not final (impermanent; one returns).
- Vedic study demands rigorous vratas and training; many humans fall short.
- Mahābhārata: lofty ideas in simple words; teaches through life experiences.
- Principal purpose: show how Dharma operates in numerous contexts.
Check for understanding: Why are Saṃhitā statements called Praśasti Vākyas and not statements of truth?
Model answer: Because they narrate fame or infamy, which involves acts of commission and omission based on likes and dislikes, reducing veracity.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 Niṣkāma Karma: the essence of Dharma
- Vyāsa: essence of Dharma = Niṣkāma Karma, the theme of every anecdote.
- Meaning: karma without the touch of karmic elements; service to others with controlled senses and mind.
- Misconception: that it belongs only to the Bhagavadgītā.
- Logic: body is dynamic; inaction is inconceivable; act for everyone's benefit.
- Humans are social; everyone must commit to it at some time.
- Take responsibility for action or inaction; do not blame external forces; weigh pros and cons; control senses and manas.
Check for understanding: Give examples of order-independent truth statements.
Model answer: 2+2=4 and 4=2+2; Aham Brahmāsmi / Brahma aham asmi; tat tvam asi / asi tat tvam.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explain each term in their own words before showing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memorise these figures; they are frequently asked in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each name on the map of the story; ask who/what/why.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Sanskrit aloud slowly; students repeat; then discuss the meaning.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for a compare-and-contrast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revision sheet: ask students to redraw it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invent their own mnemonics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Universal truths about human nature, narrated as stories of humans and non-humans, including how truth is experienced, communicated, understood and verified.
Q2. Ṛṣis who experienced truths in meditation. They did not create the aphorisms but expressed what they experienced. Kṛṣṇa Dvaipāyana compiled, classified and edited them and so became Veda Vyāsa.
Q3. Praśasti Vākya: decorative statements of fame or infamy, based on likes and dislikes. Vidhi Vākya: dos and don'ts that vary with context. Jñāna Vākya: statements of truth, like equations where word order does not change meaning.
Q4. Because they narrate fame or infamy, which involves acts of commission and omission based on likes and dislikes, reducing veracity.
Q5. 2+2=4 and 4=2+2; Aham Brahmāsmi / Brahma aham asmi; tat tvam asi / asi tat tvam.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Q6. Vedas and Upaniṣads are sourcebooks, Brahma Sūtra is the systematic text, and the Bhagavadgītā is the technology to apply them. Mahābhārata holds this technology, so it is the fifth Veda.
Q7. A degree makes one eligible for civil service, but not all graduates are competent. Similarly all beings are eligible for mokṣa, yet not all humans are competent to follow the rigorous training for Vedic study.
Q8. It is not permanent; once the time is over a being may return to earth. Mokṣa is the ultimate purpose.
Q9. It presents lofty ideas in simple words and offers a distinctive means through the many life experiences it illustrates, showing how Dharma operates in varied contexts.
Q10. Performing karma without karmic attachment, serving others while controlling the senses and mind. Vyāsa says it is the central topic of every anecdote of Mahābhārata.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Q11. The human body is dynamic; whatever is dynamic acts and reacts, so one is always engaged in some action and must keep it beneficial to all.
Q12. One is responsible for one's actions or inaction, cannot blame external forces, must weigh pros and cons and control the sense organs and manas.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students attempt each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left part aloud; students answer; reveal the right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warm-up question and let students answer it now.
Model answer: Universal truths about human nature, narrated as stories of humans and non-humans, including how truth is experienced, communicated, understood and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0F1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4828032"/>
            <a:ext cx="6858000" cy="228600"/>
          </a:xfrm>
          <a:prstGeom prst="rect">
            <a:avLst/>
          </a:prstGeom>
          <a:noFill/>
          <a:ln/>
        </p:spPr>
        <p:txBody>
          <a:bodyPr wrap="square" lIns="0" tIns="0" rIns="0" bIns="0" rtlCol="0" anchor="ctr"/>
          <a:lstStyle/>
          <a:p>
            <a:pPr indent="0" marL="0">
              <a:buNone/>
            </a:pPr>
            <a:r>
              <a:rPr lang="en-US" sz="900" dirty="0">
                <a:solidFill>
                  <a:srgbClr val="9A8A8A"/>
                </a:solidFill>
                <a:latin typeface="Calibri" pitchFamily="34" charset="0"/>
                <a:ea typeface="Calibri" pitchFamily="34" charset="-122"/>
                <a:cs typeface="Calibri" pitchFamily="34" charset="-120"/>
              </a:rPr>
              <a:t>Chapter 3 · Mahābhārata: What's and What Nots</a:t>
            </a:r>
            <a:endParaRPr lang="en-US" sz="900" dirty="0"/>
          </a:p>
        </p:txBody>
      </p:sp>
      <p:sp>
        <p:nvSpPr>
          <p:cNvPr id="3" name="Text 1"/>
          <p:cNvSpPr/>
          <p:nvPr>
            <p:ph idx="101"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8C2F1B"/>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C">
    <p:bg>
      <p:bgPr>
        <a:solidFill>
          <a:srgbClr val="2B0F1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rtlCol="0"/>
          <a:lstStyle>
            <a:lvl1pPr indent="0" marL="0">
              <a:buNone/>
              <a:defRPr lang="en-US" b="1" dirty="0">
                <a:solidFill>
                  <a:srgbClr val="F2B632"/>
                </a:solidFill>
                <a:latin typeface="Cambria" pitchFamily="34" charset="0"/>
                <a:ea typeface="Cambria" pitchFamily="34" charset="-122"/>
                <a:cs typeface="Cambria" pitchFamily="34" charset="-120"/>
              </a:defRPr>
            </a:lvl1pPr>
          </a:lstStyle>
          <a:p>
            <a:pPr indent="0" marL="0">
              <a:buNone/>
            </a:pPr>
            <a:endParaRPr lang="en-US"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art" descr="/tmp/img/ch03_cover.png">    </p:cNvPr>
          <p:cNvPicPr>
            <a:picLocks noChangeAspect="1"/>
          </p:cNvPicPr>
          <p:nvPr/>
        </p:nvPicPr>
        <p:blipFill>
          <a:blip r:embed="rId1"/>
          <a:stretch>
            <a:fillRect/>
          </a:stretch>
        </p:blipFill>
        <p:spPr>
          <a:xfrm>
            <a:off x="5669280" y="777240"/>
            <a:ext cx="3291840" cy="3291840"/>
          </a:xfrm>
          <a:prstGeom prst="rect">
            <a:avLst/>
          </a:prstGeom>
        </p:spPr>
      </p:pic>
      <p:sp>
        <p:nvSpPr>
          <p:cNvPr id="3" name="Text 0"/>
          <p:cNvSpPr txBox="1"/>
          <p:nvPr/>
        </p:nvSpPr>
        <p:spPr>
          <a:xfrm>
            <a:off x="548640" y="914400"/>
            <a:ext cx="4937760" cy="365760"/>
          </a:xfrm>
          <a:prstGeom prst="rect">
            <a:avLst/>
          </a:prstGeom>
          <a:noFill/>
          <a:ln/>
        </p:spPr>
        <p:txBody>
          <a:bodyPr wrap="square" lIns="0" tIns="0" rIns="0" bIns="0" rtlCol="0" anchor="ctr"/>
          <a:lstStyle/>
          <a:p>
            <a:pPr indent="0" marL="0">
              <a:buNone/>
            </a:pPr>
            <a:r>
              <a:rPr lang="en-US" sz="1600" b="1" spc="600" kern="0" dirty="0">
                <a:solidFill>
                  <a:srgbClr val="F2B632"/>
                </a:solidFill>
                <a:latin typeface="Calibri" pitchFamily="34" charset="0"/>
                <a:ea typeface="Calibri" pitchFamily="34" charset="-122"/>
                <a:cs typeface="Calibri" pitchFamily="34" charset="-120"/>
              </a:rPr>
              <a:t>CHAPTER 3</a:t>
            </a:r>
            <a:endParaRPr lang="en-US" sz="1600" dirty="0"/>
          </a:p>
        </p:txBody>
      </p:sp>
      <p:sp>
        <p:nvSpPr>
          <p:cNvPr id="4" name="Text 1"/>
          <p:cNvSpPr txBox="1"/>
          <p:nvPr/>
        </p:nvSpPr>
        <p:spPr>
          <a:xfrm>
            <a:off x="548640" y="1325880"/>
            <a:ext cx="4937760" cy="173736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Mahābhārata: What's and What Nots</a:t>
            </a:r>
            <a:endParaRPr lang="en-US" sz="3600" dirty="0"/>
          </a:p>
        </p:txBody>
      </p:sp>
      <p:sp>
        <p:nvSpPr>
          <p:cNvPr id="5" name="Text 2"/>
          <p:cNvSpPr txBox="1"/>
          <p:nvPr/>
        </p:nvSpPr>
        <p:spPr>
          <a:xfrm>
            <a:off x="548640" y="3154680"/>
            <a:ext cx="4937760" cy="320040"/>
          </a:xfrm>
          <a:prstGeom prst="rect">
            <a:avLst/>
          </a:prstGeom>
          <a:noFill/>
          <a:ln/>
        </p:spPr>
        <p:txBody>
          <a:bodyPr wrap="square" lIns="0" tIns="0" rIns="0" bIns="0" rtlCol="0" anchor="ctr"/>
          <a:lstStyle/>
          <a:p>
            <a:pPr indent="0" marL="0">
              <a:buNone/>
            </a:pPr>
            <a:r>
              <a:rPr lang="en-US" sz="1500" i="1" dirty="0">
                <a:solidFill>
                  <a:srgbClr val="F6D9A0"/>
                </a:solidFill>
                <a:latin typeface="Cambria" pitchFamily="34" charset="0"/>
                <a:ea typeface="Cambria" pitchFamily="34" charset="-122"/>
                <a:cs typeface="Cambria" pitchFamily="34" charset="-120"/>
              </a:rPr>
              <a:t>Strategic Lessons from Mahābhārata</a:t>
            </a:r>
            <a:endParaRPr lang="en-US" sz="1500" dirty="0"/>
          </a:p>
        </p:txBody>
      </p:sp>
      <p:sp>
        <p:nvSpPr>
          <p:cNvPr id="6" name="Text 3"/>
          <p:cNvSpPr txBox="1"/>
          <p:nvPr/>
        </p:nvSpPr>
        <p:spPr>
          <a:xfrm>
            <a:off x="548640" y="3520440"/>
            <a:ext cx="4937760" cy="274320"/>
          </a:xfrm>
          <a:prstGeom prst="rect">
            <a:avLst/>
          </a:prstGeom>
          <a:noFill/>
          <a:ln/>
        </p:spPr>
        <p:txBody>
          <a:bodyPr wrap="square" lIns="0" tIns="0" rIns="0" bIns="0" rtlCol="0" anchor="ctr"/>
          <a:lstStyle/>
          <a:p>
            <a:pPr indent="0" marL="0">
              <a:buNone/>
            </a:pPr>
            <a:r>
              <a:rPr lang="en-US" sz="1200" dirty="0">
                <a:solidFill>
                  <a:srgbClr val="CDB8B8"/>
                </a:solidFill>
                <a:latin typeface="Calibri" pitchFamily="34" charset="0"/>
                <a:ea typeface="Calibri" pitchFamily="34" charset="-122"/>
                <a:cs typeface="Calibri" pitchFamily="34" charset="-120"/>
              </a:rPr>
              <a:t>Teaching deck · Book pages 35 to 39</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students will learn</a:t>
            </a:r>
            <a:endParaRPr lang="en-US" sz="2600" dirty="0"/>
          </a:p>
        </p:txBody>
      </p:sp>
      <p:sp>
        <p:nvSpPr>
          <p:cNvPr id="4" name="Objective card 1"/>
          <p:cNvSpPr/>
          <p:nvPr/>
        </p:nvSpPr>
        <p:spPr>
          <a:xfrm>
            <a:off x="365760" y="1005840"/>
            <a:ext cx="8412480" cy="640080"/>
          </a:xfrm>
          <a:prstGeom prst="roundRect">
            <a:avLst>
              <a:gd name="adj" fmla="val 11429"/>
            </a:avLst>
          </a:prstGeom>
          <a:solidFill>
            <a:srgbClr val="FFF4D6"/>
          </a:solidFill>
          <a:ln w="9525">
            <a:solidFill>
              <a:srgbClr val="EAD9C4"/>
            </a:solidFill>
            <a:prstDash val="solid"/>
          </a:ln>
        </p:spPr>
      </p:sp>
      <p:sp>
        <p:nvSpPr>
          <p:cNvPr id="5" name="Number 1"/>
          <p:cNvSpPr/>
          <p:nvPr/>
        </p:nvSpPr>
        <p:spPr>
          <a:xfrm>
            <a:off x="502920" y="1143000"/>
            <a:ext cx="365760" cy="365760"/>
          </a:xfrm>
          <a:prstGeom prst="ellipse">
            <a:avLst/>
          </a:prstGeom>
          <a:solidFill>
            <a:srgbClr val="8C2F1B"/>
          </a:solidFill>
          <a:ln w="12700">
            <a:solidFill>
              <a:srgbClr val="8C2F1B"/>
            </a:solidFill>
            <a:prstDash val="solid"/>
          </a:ln>
        </p:spPr>
      </p:sp>
      <p:sp>
        <p:nvSpPr>
          <p:cNvPr id="6" name="Text 3"/>
          <p:cNvSpPr txBox="1"/>
          <p:nvPr/>
        </p:nvSpPr>
        <p:spPr>
          <a:xfrm>
            <a:off x="502920" y="114300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7" name="Text 4"/>
          <p:cNvSpPr txBox="1"/>
          <p:nvPr/>
        </p:nvSpPr>
        <p:spPr>
          <a:xfrm>
            <a:off x="1005840" y="1005840"/>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Itihāsa conveys universal truths through stories of humans and non-humans; the truths come from Ṛṣis' experience (mantra-draṣṭā).</a:t>
            </a:r>
            <a:endParaRPr lang="en-US" sz="1400" dirty="0"/>
          </a:p>
        </p:txBody>
      </p:sp>
      <p:sp>
        <p:nvSpPr>
          <p:cNvPr id="8" name="Objective card 2"/>
          <p:cNvSpPr/>
          <p:nvPr/>
        </p:nvSpPr>
        <p:spPr>
          <a:xfrm>
            <a:off x="365760" y="1719072"/>
            <a:ext cx="8412480" cy="640080"/>
          </a:xfrm>
          <a:prstGeom prst="roundRect">
            <a:avLst>
              <a:gd name="adj" fmla="val 11429"/>
            </a:avLst>
          </a:prstGeom>
          <a:solidFill>
            <a:srgbClr val="FFF4D6"/>
          </a:solidFill>
          <a:ln w="9525">
            <a:solidFill>
              <a:srgbClr val="EAD9C4"/>
            </a:solidFill>
            <a:prstDash val="solid"/>
          </a:ln>
        </p:spPr>
      </p:sp>
      <p:sp>
        <p:nvSpPr>
          <p:cNvPr id="9" name="Number 2"/>
          <p:cNvSpPr/>
          <p:nvPr/>
        </p:nvSpPr>
        <p:spPr>
          <a:xfrm>
            <a:off x="502920" y="1856232"/>
            <a:ext cx="365760" cy="365760"/>
          </a:xfrm>
          <a:prstGeom prst="ellipse">
            <a:avLst/>
          </a:prstGeom>
          <a:solidFill>
            <a:srgbClr val="E07B00"/>
          </a:solidFill>
          <a:ln w="12700">
            <a:solidFill>
              <a:srgbClr val="E07B00"/>
            </a:solidFill>
            <a:prstDash val="solid"/>
          </a:ln>
        </p:spPr>
      </p:sp>
      <p:sp>
        <p:nvSpPr>
          <p:cNvPr id="10" name="Text 7"/>
          <p:cNvSpPr txBox="1"/>
          <p:nvPr/>
        </p:nvSpPr>
        <p:spPr>
          <a:xfrm>
            <a:off x="502920" y="18562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1" name="Text 8"/>
          <p:cNvSpPr txBox="1"/>
          <p:nvPr/>
        </p:nvSpPr>
        <p:spPr>
          <a:xfrm>
            <a:off x="1005840" y="1719072"/>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Kṛṣṇa Dvaipāyana compiled and classified the Vedic aphorisms, hence Veda Vyāsa.</a:t>
            </a:r>
            <a:endParaRPr lang="en-US" sz="1400" dirty="0"/>
          </a:p>
        </p:txBody>
      </p:sp>
      <p:sp>
        <p:nvSpPr>
          <p:cNvPr id="12" name="Objective card 3"/>
          <p:cNvSpPr/>
          <p:nvPr/>
        </p:nvSpPr>
        <p:spPr>
          <a:xfrm>
            <a:off x="365760" y="2432304"/>
            <a:ext cx="8412480" cy="640080"/>
          </a:xfrm>
          <a:prstGeom prst="roundRect">
            <a:avLst>
              <a:gd name="adj" fmla="val 11429"/>
            </a:avLst>
          </a:prstGeom>
          <a:solidFill>
            <a:srgbClr val="FFF4D6"/>
          </a:solidFill>
          <a:ln w="9525">
            <a:solidFill>
              <a:srgbClr val="EAD9C4"/>
            </a:solidFill>
            <a:prstDash val="solid"/>
          </a:ln>
        </p:spPr>
      </p:sp>
      <p:sp>
        <p:nvSpPr>
          <p:cNvPr id="13" name="Number 3"/>
          <p:cNvSpPr/>
          <p:nvPr/>
        </p:nvSpPr>
        <p:spPr>
          <a:xfrm>
            <a:off x="502920" y="2569464"/>
            <a:ext cx="365760" cy="365760"/>
          </a:xfrm>
          <a:prstGeom prst="ellipse">
            <a:avLst/>
          </a:prstGeom>
          <a:solidFill>
            <a:srgbClr val="2E7D32"/>
          </a:solidFill>
          <a:ln w="12700">
            <a:solidFill>
              <a:srgbClr val="2E7D32"/>
            </a:solidFill>
            <a:prstDash val="solid"/>
          </a:ln>
        </p:spPr>
      </p:sp>
      <p:sp>
        <p:nvSpPr>
          <p:cNvPr id="14" name="Text 11"/>
          <p:cNvSpPr txBox="1"/>
          <p:nvPr/>
        </p:nvSpPr>
        <p:spPr>
          <a:xfrm>
            <a:off x="502920" y="25694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5" name="Text 12"/>
          <p:cNvSpPr txBox="1"/>
          <p:nvPr/>
        </p:nvSpPr>
        <p:spPr>
          <a:xfrm>
            <a:off x="1005840" y="2432304"/>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Three kinds of Vedic statements: Praśasti, Vidhi, Jñāna Vākya (statement of truth).</a:t>
            </a:r>
            <a:endParaRPr lang="en-US" sz="1400" dirty="0"/>
          </a:p>
        </p:txBody>
      </p:sp>
      <p:sp>
        <p:nvSpPr>
          <p:cNvPr id="16" name="Objective card 4"/>
          <p:cNvSpPr/>
          <p:nvPr/>
        </p:nvSpPr>
        <p:spPr>
          <a:xfrm>
            <a:off x="365760" y="3145536"/>
            <a:ext cx="8412480" cy="640080"/>
          </a:xfrm>
          <a:prstGeom prst="roundRect">
            <a:avLst>
              <a:gd name="adj" fmla="val 11429"/>
            </a:avLst>
          </a:prstGeom>
          <a:solidFill>
            <a:srgbClr val="FFF4D6"/>
          </a:solidFill>
          <a:ln w="9525">
            <a:solidFill>
              <a:srgbClr val="EAD9C4"/>
            </a:solidFill>
            <a:prstDash val="solid"/>
          </a:ln>
        </p:spPr>
      </p:sp>
      <p:sp>
        <p:nvSpPr>
          <p:cNvPr id="17" name="Number 4"/>
          <p:cNvSpPr/>
          <p:nvPr/>
        </p:nvSpPr>
        <p:spPr>
          <a:xfrm>
            <a:off x="502920" y="3282696"/>
            <a:ext cx="365760" cy="365760"/>
          </a:xfrm>
          <a:prstGeom prst="ellipse">
            <a:avLst/>
          </a:prstGeom>
          <a:solidFill>
            <a:srgbClr val="6A1B9A"/>
          </a:solidFill>
          <a:ln w="12700">
            <a:solidFill>
              <a:srgbClr val="6A1B9A"/>
            </a:solidFill>
            <a:prstDash val="solid"/>
          </a:ln>
        </p:spPr>
      </p:sp>
      <p:sp>
        <p:nvSpPr>
          <p:cNvPr id="18" name="Text 15"/>
          <p:cNvSpPr txBox="1"/>
          <p:nvPr/>
        </p:nvSpPr>
        <p:spPr>
          <a:xfrm>
            <a:off x="502920" y="3282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9" name="Text 16"/>
          <p:cNvSpPr txBox="1"/>
          <p:nvPr/>
        </p:nvSpPr>
        <p:spPr>
          <a:xfrm>
            <a:off x="1005840" y="3145536"/>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Hierarchy: Vedas/Upaniṣads = sourcebooks; Brahma Sūtra = text; Bhagavadgītā = technology.</a:t>
            </a:r>
            <a:endParaRPr lang="en-US" sz="1400" dirty="0"/>
          </a:p>
        </p:txBody>
      </p:sp>
      <p:sp>
        <p:nvSpPr>
          <p:cNvPr id="20" name="Objective card 5"/>
          <p:cNvSpPr/>
          <p:nvPr/>
        </p:nvSpPr>
        <p:spPr>
          <a:xfrm>
            <a:off x="365760" y="3858768"/>
            <a:ext cx="8412480" cy="640080"/>
          </a:xfrm>
          <a:prstGeom prst="roundRect">
            <a:avLst>
              <a:gd name="adj" fmla="val 11429"/>
            </a:avLst>
          </a:prstGeom>
          <a:solidFill>
            <a:srgbClr val="FFF4D6"/>
          </a:solidFill>
          <a:ln w="9525">
            <a:solidFill>
              <a:srgbClr val="EAD9C4"/>
            </a:solidFill>
            <a:prstDash val="solid"/>
          </a:ln>
        </p:spPr>
      </p:sp>
      <p:sp>
        <p:nvSpPr>
          <p:cNvPr id="21" name="Number 5"/>
          <p:cNvSpPr/>
          <p:nvPr/>
        </p:nvSpPr>
        <p:spPr>
          <a:xfrm>
            <a:off x="502920" y="3995928"/>
            <a:ext cx="365760" cy="365760"/>
          </a:xfrm>
          <a:prstGeom prst="ellipse">
            <a:avLst/>
          </a:prstGeom>
          <a:solidFill>
            <a:srgbClr val="1565C0"/>
          </a:solidFill>
          <a:ln w="12700">
            <a:solidFill>
              <a:srgbClr val="1565C0"/>
            </a:solidFill>
            <a:prstDash val="solid"/>
          </a:ln>
        </p:spPr>
      </p:sp>
      <p:sp>
        <p:nvSpPr>
          <p:cNvPr id="22" name="Text 19"/>
          <p:cNvSpPr txBox="1"/>
          <p:nvPr/>
        </p:nvSpPr>
        <p:spPr>
          <a:xfrm>
            <a:off x="502920" y="39959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23" name="Text 20"/>
          <p:cNvSpPr txBox="1"/>
          <p:nvPr/>
        </p:nvSpPr>
        <p:spPr>
          <a:xfrm>
            <a:off x="1005840" y="3858768"/>
            <a:ext cx="7635240" cy="640080"/>
          </a:xfrm>
          <a:prstGeom prst="rect">
            <a:avLst/>
          </a:prstGeom>
          <a:noFill/>
          <a:ln/>
        </p:spPr>
        <p:txBody>
          <a:bodyPr wrap="square" lIns="0" tIns="0" rIns="0" bIns="0" rtlCol="0" anchor="ctr"/>
          <a:lstStyle/>
          <a:p>
            <a:pPr indent="0" marL="0">
              <a:buNone/>
            </a:pPr>
            <a:r>
              <a:rPr lang="en-US" sz="1400" dirty="0">
                <a:solidFill>
                  <a:srgbClr val="2A2A2A"/>
                </a:solidFill>
                <a:latin typeface="Calibri" pitchFamily="34" charset="0"/>
                <a:ea typeface="Calibri" pitchFamily="34" charset="-122"/>
                <a:cs typeface="Calibri" pitchFamily="34" charset="-120"/>
              </a:rPr>
              <a:t>Eligibility vs competence explains the need for the fifth Veda; Niṣkāma Karma = essence of Dharma.</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Warm-up: think first</a:t>
            </a:r>
            <a:endParaRPr lang="en-US" sz="2600" dirty="0"/>
          </a:p>
        </p:txBody>
      </p:sp>
      <p:sp>
        <p:nvSpPr>
          <p:cNvPr id="4" name="Question mark circle"/>
          <p:cNvSpPr/>
          <p:nvPr/>
        </p:nvSpPr>
        <p:spPr>
          <a:xfrm>
            <a:off x="548640" y="1325880"/>
            <a:ext cx="2103120" cy="2103120"/>
          </a:xfrm>
          <a:prstGeom prst="ellipse">
            <a:avLst/>
          </a:prstGeom>
          <a:solidFill>
            <a:srgbClr val="8C2F1B"/>
          </a:solidFill>
          <a:ln w="38100">
            <a:solidFill>
              <a:srgbClr val="F2B632"/>
            </a:solidFill>
            <a:prstDash val="solid"/>
          </a:ln>
        </p:spPr>
      </p:sp>
      <p:sp>
        <p:nvSpPr>
          <p:cNvPr id="5" name="Text 2"/>
          <p:cNvSpPr txBox="1"/>
          <p:nvPr/>
        </p:nvSpPr>
        <p:spPr>
          <a:xfrm>
            <a:off x="548640" y="1325880"/>
            <a:ext cx="2103120" cy="2103120"/>
          </a:xfrm>
          <a:prstGeom prst="rect">
            <a:avLst/>
          </a:prstGeom>
          <a:noFill/>
          <a:ln/>
        </p:spPr>
        <p:txBody>
          <a:bodyPr wrap="square" lIns="0" tIns="0" rIns="0" bIns="0" rtlCol="0" anchor="ctr"/>
          <a:lstStyle/>
          <a:p>
            <a:pPr algn="ctr" indent="0" marL="0">
              <a:buNone/>
            </a:pPr>
            <a:r>
              <a:rPr lang="en-US" sz="11000" b="1" dirty="0">
                <a:solidFill>
                  <a:srgbClr val="F2B632"/>
                </a:solidFill>
                <a:latin typeface="Cambria" pitchFamily="34" charset="0"/>
                <a:ea typeface="Cambria" pitchFamily="34" charset="-122"/>
                <a:cs typeface="Cambria" pitchFamily="34" charset="-120"/>
              </a:rPr>
              <a:t>?</a:t>
            </a:r>
            <a:endParaRPr lang="en-US" sz="11000" dirty="0"/>
          </a:p>
        </p:txBody>
      </p:sp>
      <p:sp>
        <p:nvSpPr>
          <p:cNvPr id="6" name="Warm-up card"/>
          <p:cNvSpPr/>
          <p:nvPr/>
        </p:nvSpPr>
        <p:spPr>
          <a:xfrm>
            <a:off x="3017520" y="1188720"/>
            <a:ext cx="5760720" cy="2377440"/>
          </a:xfrm>
          <a:prstGeom prst="roundRect">
            <a:avLst>
              <a:gd name="adj" fmla="val 3846"/>
            </a:avLst>
          </a:prstGeom>
          <a:solidFill>
            <a:srgbClr val="FFF4D6"/>
          </a:solidFill>
          <a:ln w="12700">
            <a:solidFill>
              <a:srgbClr val="EAD9C4"/>
            </a:solidFill>
            <a:prstDash val="solid"/>
          </a:ln>
        </p:spPr>
      </p:sp>
      <p:sp>
        <p:nvSpPr>
          <p:cNvPr id="7" name="Text 4"/>
          <p:cNvSpPr txBox="1"/>
          <p:nvPr/>
        </p:nvSpPr>
        <p:spPr>
          <a:xfrm>
            <a:off x="3246120" y="1188720"/>
            <a:ext cx="5303520" cy="2377440"/>
          </a:xfrm>
          <a:prstGeom prst="rect">
            <a:avLst/>
          </a:prstGeom>
          <a:noFill/>
          <a:ln/>
        </p:spPr>
        <p:txBody>
          <a:bodyPr wrap="square" lIns="0" tIns="0" rIns="0" bIns="0" rtlCol="0" anchor="ctr"/>
          <a:lstStyle/>
          <a:p>
            <a:pPr indent="0" marL="0">
              <a:buNone/>
            </a:pPr>
            <a:r>
              <a:rPr lang="en-US" sz="2400" b="1" dirty="0">
                <a:solidFill>
                  <a:srgbClr val="2A2A2A"/>
                </a:solidFill>
                <a:latin typeface="Cambria" pitchFamily="34" charset="0"/>
                <a:ea typeface="Cambria" pitchFamily="34" charset="-122"/>
                <a:cs typeface="Cambria" pitchFamily="34" charset="-120"/>
              </a:rPr>
              <a:t>What is an Itihāsa trying to convey, according to this chapter?</a:t>
            </a:r>
            <a:endParaRPr lang="en-US" sz="2400" dirty="0"/>
          </a:p>
        </p:txBody>
      </p:sp>
      <p:sp>
        <p:nvSpPr>
          <p:cNvPr id="8" name="Text 5"/>
          <p:cNvSpPr txBox="1"/>
          <p:nvPr/>
        </p:nvSpPr>
        <p:spPr>
          <a:xfrm>
            <a:off x="548640" y="3840480"/>
            <a:ext cx="8229600" cy="457200"/>
          </a:xfrm>
          <a:prstGeom prst="rect">
            <a:avLst/>
          </a:prstGeom>
          <a:noFill/>
          <a:ln/>
        </p:spPr>
        <p:txBody>
          <a:bodyPr wrap="square" lIns="0" tIns="0" rIns="0" bIns="0" rtlCol="0" anchor="ctr"/>
          <a:lstStyle/>
          <a:p>
            <a:pPr indent="0" marL="0">
              <a:buNone/>
            </a:pPr>
            <a:r>
              <a:rPr lang="en-US" sz="1400" i="1" dirty="0">
                <a:solidFill>
                  <a:srgbClr val="7A6A6A"/>
                </a:solidFill>
              </a:rPr>
              <a:t>Discuss with your partner for 2 minutes. We will return to this at the end of the lesson.</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Lesson roadmap</a:t>
            </a:r>
            <a:endParaRPr lang="en-US" sz="2600" dirty="0"/>
          </a:p>
        </p:txBody>
      </p:sp>
      <p:pic>
        <p:nvPicPr>
          <p:cNvPr id="4" name="Roadmap diagram" descr="Chapter roadmap">    </p:cNvPr>
          <p:cNvPicPr>
            <a:picLocks noChangeAspect="1"/>
          </p:cNvPicPr>
          <p:nvPr/>
        </p:nvPicPr>
        <p:blipFill>
          <a:blip r:embed="rId1"/>
          <a:stretch>
            <a:fillRect/>
          </a:stretch>
        </p:blipFill>
        <p:spPr>
          <a:xfrm>
            <a:off x="711724" y="1051560"/>
            <a:ext cx="7720553" cy="35661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What an Itihāsa conveys</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Current section"/>
          <p:cNvSpPr/>
          <p:nvPr/>
        </p:nvSpPr>
        <p:spPr>
          <a:xfrm>
            <a:off x="457200" y="1389888"/>
            <a:ext cx="2286000" cy="356616"/>
          </a:xfrm>
          <a:prstGeom prst="roundRect">
            <a:avLst>
              <a:gd name="adj" fmla="val 12821"/>
            </a:avLst>
          </a:prstGeom>
          <a:solidFill>
            <a:srgbClr val="F2B632"/>
          </a:solidFill>
          <a:ln w="12700">
            <a:solidFill>
              <a:srgbClr val="F2B632"/>
            </a:solidFill>
            <a:prstDash val="solid"/>
          </a:ln>
        </p:spPr>
      </p:sp>
      <p:sp>
        <p:nvSpPr>
          <p:cNvPr id="7" name="Text 4"/>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A  What an Itihāsa conveys</a:t>
            </a:r>
            <a:endParaRPr lang="en-US" sz="1050" dirty="0"/>
          </a:p>
        </p:txBody>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Structure of the Veda and …</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From Veda to Gītā</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Eligibility vs competence</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Niṣkāma Karma: the essence…</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8C2F1B"/>
          </a:solidFill>
          <a:ln w="12700">
            <a:solidFill>
              <a:srgbClr val="8C2F1B"/>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A</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Universal truth as stories of humans and non-humans.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Themes: how truth is experienced, communicated, understood and verified.</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Truths = fruit of thousands of years of observation by Ṛṣis.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Ṛṣis are mantra-draṣṭā ('one who has experienced it'), not creators of aphorisms.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Kṛṣṇa Dvaipāyana combined, classified and edited them: Veda Vyāsa.</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Structure of the Veda and types of statements</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What an Itihāsa conveys</a:t>
            </a:r>
            <a:endParaRPr lang="en-US" sz="1050" dirty="0"/>
          </a:p>
        </p:txBody>
      </p:sp>
      <p:sp>
        <p:nvSpPr>
          <p:cNvPr id="7" name="Current section"/>
          <p:cNvSpPr/>
          <p:nvPr/>
        </p:nvSpPr>
        <p:spPr>
          <a:xfrm>
            <a:off x="457200" y="1773936"/>
            <a:ext cx="2286000" cy="356616"/>
          </a:xfrm>
          <a:prstGeom prst="roundRect">
            <a:avLst>
              <a:gd name="adj" fmla="val 12821"/>
            </a:avLst>
          </a:prstGeom>
          <a:solidFill>
            <a:srgbClr val="F2B632"/>
          </a:solidFill>
          <a:ln w="12700">
            <a:solidFill>
              <a:srgbClr val="F2B632"/>
            </a:solidFill>
            <a:prstDash val="solid"/>
          </a:ln>
        </p:spPr>
      </p:sp>
      <p:sp>
        <p:nvSpPr>
          <p:cNvPr id="8" name="Text 5"/>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B  Structure of the Veda and …</a:t>
            </a:r>
            <a:endParaRPr lang="en-US" sz="1050" dirty="0"/>
          </a:p>
        </p:txBody>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From Veda to Gītā</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Eligibility vs competence</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Niṣkāma Karma: the essence…</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E07B00"/>
          </a:solidFill>
          <a:ln w="12700">
            <a:solidFill>
              <a:srgbClr val="E07B00"/>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B</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Each Veda has 4 texts: Saṃhitā, Āraṇyaka, Brāhmaṇa, Upaniṣad.</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Praśasti Vākya: decorative statements of fame/infamy; based on likes/dislikes; Saṃhitā statements are of this type.</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Vidhi Vākya: dos and don'ts; context-dependent and variable.</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Praśasti + Vidhi compiled in Brāhmaṇas and Āraṇyakas.</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Jñāna Vākya (statement of truth): like an equation, order-independent: 2+2=4 / 4=2+2; Aham Brahmāsmi / Brahma aham asmi; tat tvam asi / asi tat tvam.</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Upaniṣads mainly hold statements of truth.</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From Veda to Gītā</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What an Itihāsa conveys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Structure of the Veda and …</a:t>
            </a:r>
            <a:endParaRPr lang="en-US" sz="1050" dirty="0"/>
          </a:p>
        </p:txBody>
      </p:sp>
      <p:sp>
        <p:nvSpPr>
          <p:cNvPr id="8" name="Current section"/>
          <p:cNvSpPr/>
          <p:nvPr/>
        </p:nvSpPr>
        <p:spPr>
          <a:xfrm>
            <a:off x="457200" y="2157984"/>
            <a:ext cx="2286000" cy="356616"/>
          </a:xfrm>
          <a:prstGeom prst="roundRect">
            <a:avLst>
              <a:gd name="adj" fmla="val 12821"/>
            </a:avLst>
          </a:prstGeom>
          <a:solidFill>
            <a:srgbClr val="F2B632"/>
          </a:solidFill>
          <a:ln w="12700">
            <a:solidFill>
              <a:srgbClr val="F2B632"/>
            </a:solidFill>
            <a:prstDash val="solid"/>
          </a:ln>
        </p:spPr>
      </p:sp>
      <p:sp>
        <p:nvSpPr>
          <p:cNvPr id="9" name="Text 6"/>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C  From Veda to Gītā</a:t>
            </a:r>
            <a:endParaRPr lang="en-US" sz="1050" dirty="0"/>
          </a:p>
        </p:txBody>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Eligibility vs competence</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Niṣkāma Karma: the essence…</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2E7D32"/>
          </a:solidFill>
          <a:ln w="12700">
            <a:solidFill>
              <a:srgbClr val="2E7D32"/>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C</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Brahma Sūtra: Vedānta text built by arranging statements of truth in order.</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Gītā: practical application of ancient lessons in real life circumstances.</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Vedas/Upaniṣads = sourcebooks; Brahma Sūtra = text; Bhagavadgītā = technology.</a:t>
            </a:r>
            <a:endParaRPr lang="en-US" sz="1800" dirty="0"/>
          </a:p>
          <a:p>
            <a:pPr marL="177800" indent="-177800">
              <a:spcAft>
                <a:spcPts val="600"/>
              </a:spcAft>
              <a:buSzPct val="100000"/>
              <a:buChar char="•"/>
            </a:pPr>
            <a:r>
              <a:rPr lang="en-US" sz="1800" dirty="0">
                <a:solidFill>
                  <a:srgbClr val="2A2A2A"/>
                </a:solidFill>
                <a:latin typeface="Calibri" pitchFamily="34" charset="0"/>
                <a:ea typeface="Calibri" pitchFamily="34" charset="-122"/>
                <a:cs typeface="Calibri" pitchFamily="34" charset="-120"/>
              </a:rPr>
              <a:t>Mahābhārata holds the technology of Vedānta: hence fifth Veda.</a:t>
            </a:r>
            <a:endParaRPr lang="en-US" sz="18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Eligibility vs competence</a:t>
            </a:r>
            <a:endParaRPr lang="en-US" sz="26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What an Itihāsa conveys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Structure of the Veda and …</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From Veda to Gītā</a:t>
            </a:r>
            <a:endParaRPr lang="en-US" sz="1050" dirty="0"/>
          </a:p>
        </p:txBody>
      </p:sp>
      <p:sp>
        <p:nvSpPr>
          <p:cNvPr id="9" name="Current section"/>
          <p:cNvSpPr/>
          <p:nvPr/>
        </p:nvSpPr>
        <p:spPr>
          <a:xfrm>
            <a:off x="457200" y="2542032"/>
            <a:ext cx="2286000" cy="356616"/>
          </a:xfrm>
          <a:prstGeom prst="roundRect">
            <a:avLst>
              <a:gd name="adj" fmla="val 12821"/>
            </a:avLst>
          </a:prstGeom>
          <a:solidFill>
            <a:srgbClr val="F2B632"/>
          </a:solidFill>
          <a:ln w="12700">
            <a:solidFill>
              <a:srgbClr val="F2B632"/>
            </a:solidFill>
            <a:prstDash val="solid"/>
          </a:ln>
        </p:spPr>
      </p:sp>
      <p:sp>
        <p:nvSpPr>
          <p:cNvPr id="10" name="Text 7"/>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D  Eligibility vs competence</a:t>
            </a:r>
            <a:endParaRPr lang="en-US" sz="1050" dirty="0"/>
          </a:p>
        </p:txBody>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dirty="0">
                <a:solidFill>
                  <a:srgbClr val="E6D6D6"/>
                </a:solidFill>
              </a:rPr>
              <a:t>E  Niṣkāma Karma: the essence…</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6A1B9A"/>
          </a:solidFill>
          <a:ln w="12700">
            <a:solidFill>
              <a:srgbClr val="6A1B9A"/>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D</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Analogy: a degree makes one eligible for civil service, not necessarily competent.</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All beings are eligible for mokṣa; heaven is not final (impermanent; one returns).</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Vedic study demands rigorous vratas and training; many humans fall short.</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Mahābhārata: lofty ideas in simple words; teaches through life experiences.</a:t>
            </a:r>
            <a:endParaRPr lang="en-US" sz="1600" dirty="0"/>
          </a:p>
          <a:p>
            <a:pPr marL="177800" indent="-177800">
              <a:spcAft>
                <a:spcPts val="600"/>
              </a:spcAft>
              <a:buSzPct val="100000"/>
              <a:buChar char="•"/>
            </a:pPr>
            <a:r>
              <a:rPr lang="en-US" sz="1600" dirty="0">
                <a:solidFill>
                  <a:srgbClr val="2A2A2A"/>
                </a:solidFill>
                <a:latin typeface="Calibri" pitchFamily="34" charset="0"/>
                <a:ea typeface="Calibri" pitchFamily="34" charset="-122"/>
                <a:cs typeface="Calibri" pitchFamily="34" charset="-120"/>
              </a:rPr>
              <a:t>Principal purpose: show how Dharma operates in numerous contexts.</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200" b="1" dirty="0">
                <a:solidFill>
                  <a:srgbClr val="8C2F1B"/>
                </a:solidFill>
                <a:latin typeface="Cambria" pitchFamily="34" charset="0"/>
                <a:ea typeface="Cambria" pitchFamily="34" charset="-122"/>
                <a:cs typeface="Cambria" pitchFamily="34" charset="-120"/>
              </a:rPr>
              <a:t>Niṣkāma Karma: the essence of Dharma</a:t>
            </a:r>
            <a:endParaRPr lang="en-US" sz="2200" dirty="0"/>
          </a:p>
        </p:txBody>
      </p:sp>
      <p:sp>
        <p:nvSpPr>
          <p:cNvPr id="4" name="Agenda panel"/>
          <p:cNvSpPr/>
          <p:nvPr/>
        </p:nvSpPr>
        <p:spPr>
          <a:xfrm>
            <a:off x="365760" y="1005840"/>
            <a:ext cx="2468880" cy="3657600"/>
          </a:xfrm>
          <a:prstGeom prst="roundRect">
            <a:avLst>
              <a:gd name="adj" fmla="val 3704"/>
            </a:avLst>
          </a:prstGeom>
          <a:solidFill>
            <a:srgbClr val="2B0F1A"/>
          </a:solidFill>
          <a:ln w="12700">
            <a:solidFill>
              <a:srgbClr val="2B0F1A"/>
            </a:solidFill>
            <a:prstDash val="solid"/>
          </a:ln>
        </p:spPr>
      </p:sp>
      <p:sp>
        <p:nvSpPr>
          <p:cNvPr id="5" name="Text 2"/>
          <p:cNvSpPr txBox="1"/>
          <p:nvPr/>
        </p:nvSpPr>
        <p:spPr>
          <a:xfrm>
            <a:off x="502920" y="1078992"/>
            <a:ext cx="2194560" cy="274320"/>
          </a:xfrm>
          <a:prstGeom prst="rect">
            <a:avLst/>
          </a:prstGeom>
          <a:noFill/>
          <a:ln/>
        </p:spPr>
        <p:txBody>
          <a:bodyPr wrap="square" lIns="0" tIns="0" rIns="0" bIns="0" rtlCol="0" anchor="ctr"/>
          <a:lstStyle/>
          <a:p>
            <a:pPr indent="0" marL="0">
              <a:buNone/>
            </a:pPr>
            <a:r>
              <a:rPr lang="en-US" sz="1000" b="1" spc="300" kern="0" dirty="0">
                <a:solidFill>
                  <a:srgbClr val="F2B632"/>
                </a:solidFill>
              </a:rPr>
              <a:t>IN THIS CHAPTER</a:t>
            </a:r>
            <a:endParaRPr lang="en-US" sz="1000" dirty="0"/>
          </a:p>
        </p:txBody>
      </p:sp>
      <p:sp>
        <p:nvSpPr>
          <p:cNvPr id="6" name="Text 3"/>
          <p:cNvSpPr txBox="1"/>
          <p:nvPr/>
        </p:nvSpPr>
        <p:spPr>
          <a:xfrm>
            <a:off x="530352" y="1389888"/>
            <a:ext cx="2194560" cy="356616"/>
          </a:xfrm>
          <a:prstGeom prst="rect">
            <a:avLst/>
          </a:prstGeom>
          <a:noFill/>
          <a:ln/>
        </p:spPr>
        <p:txBody>
          <a:bodyPr wrap="square" lIns="0" tIns="0" rIns="0" bIns="0" rtlCol="0" anchor="ctr"/>
          <a:lstStyle/>
          <a:p>
            <a:pPr indent="0" marL="0">
              <a:buNone/>
            </a:pPr>
            <a:r>
              <a:rPr lang="en-US" sz="1050" dirty="0">
                <a:solidFill>
                  <a:srgbClr val="E6D6D6"/>
                </a:solidFill>
              </a:rPr>
              <a:t>A  What an Itihāsa conveys</a:t>
            </a:r>
            <a:endParaRPr lang="en-US" sz="1050" dirty="0"/>
          </a:p>
        </p:txBody>
      </p:sp>
      <p:sp>
        <p:nvSpPr>
          <p:cNvPr id="7" name="Text 4"/>
          <p:cNvSpPr txBox="1"/>
          <p:nvPr/>
        </p:nvSpPr>
        <p:spPr>
          <a:xfrm>
            <a:off x="530352" y="1773936"/>
            <a:ext cx="2194560" cy="356616"/>
          </a:xfrm>
          <a:prstGeom prst="rect">
            <a:avLst/>
          </a:prstGeom>
          <a:noFill/>
          <a:ln/>
        </p:spPr>
        <p:txBody>
          <a:bodyPr wrap="square" lIns="0" tIns="0" rIns="0" bIns="0" rtlCol="0" anchor="ctr"/>
          <a:lstStyle/>
          <a:p>
            <a:pPr indent="0" marL="0">
              <a:buNone/>
            </a:pPr>
            <a:r>
              <a:rPr lang="en-US" sz="1050" dirty="0">
                <a:solidFill>
                  <a:srgbClr val="E6D6D6"/>
                </a:solidFill>
              </a:rPr>
              <a:t>B  Structure of the Veda and …</a:t>
            </a:r>
            <a:endParaRPr lang="en-US" sz="1050" dirty="0"/>
          </a:p>
        </p:txBody>
      </p:sp>
      <p:sp>
        <p:nvSpPr>
          <p:cNvPr id="8" name="Text 5"/>
          <p:cNvSpPr txBox="1"/>
          <p:nvPr/>
        </p:nvSpPr>
        <p:spPr>
          <a:xfrm>
            <a:off x="530352" y="2157984"/>
            <a:ext cx="2194560" cy="356616"/>
          </a:xfrm>
          <a:prstGeom prst="rect">
            <a:avLst/>
          </a:prstGeom>
          <a:noFill/>
          <a:ln/>
        </p:spPr>
        <p:txBody>
          <a:bodyPr wrap="square" lIns="0" tIns="0" rIns="0" bIns="0" rtlCol="0" anchor="ctr"/>
          <a:lstStyle/>
          <a:p>
            <a:pPr indent="0" marL="0">
              <a:buNone/>
            </a:pPr>
            <a:r>
              <a:rPr lang="en-US" sz="1050" dirty="0">
                <a:solidFill>
                  <a:srgbClr val="E6D6D6"/>
                </a:solidFill>
              </a:rPr>
              <a:t>C  From Veda to Gītā</a:t>
            </a:r>
            <a:endParaRPr lang="en-US" sz="1050" dirty="0"/>
          </a:p>
        </p:txBody>
      </p:sp>
      <p:sp>
        <p:nvSpPr>
          <p:cNvPr id="9" name="Text 6"/>
          <p:cNvSpPr txBox="1"/>
          <p:nvPr/>
        </p:nvSpPr>
        <p:spPr>
          <a:xfrm>
            <a:off x="530352" y="2542032"/>
            <a:ext cx="2194560" cy="356616"/>
          </a:xfrm>
          <a:prstGeom prst="rect">
            <a:avLst/>
          </a:prstGeom>
          <a:noFill/>
          <a:ln/>
        </p:spPr>
        <p:txBody>
          <a:bodyPr wrap="square" lIns="0" tIns="0" rIns="0" bIns="0" rtlCol="0" anchor="ctr"/>
          <a:lstStyle/>
          <a:p>
            <a:pPr indent="0" marL="0">
              <a:buNone/>
            </a:pPr>
            <a:r>
              <a:rPr lang="en-US" sz="1050" dirty="0">
                <a:solidFill>
                  <a:srgbClr val="E6D6D6"/>
                </a:solidFill>
              </a:rPr>
              <a:t>D  Eligibility vs competence</a:t>
            </a:r>
            <a:endParaRPr lang="en-US" sz="1050" dirty="0"/>
          </a:p>
        </p:txBody>
      </p:sp>
      <p:sp>
        <p:nvSpPr>
          <p:cNvPr id="10" name="Current section"/>
          <p:cNvSpPr/>
          <p:nvPr/>
        </p:nvSpPr>
        <p:spPr>
          <a:xfrm>
            <a:off x="457200" y="2926080"/>
            <a:ext cx="2286000" cy="356616"/>
          </a:xfrm>
          <a:prstGeom prst="roundRect">
            <a:avLst>
              <a:gd name="adj" fmla="val 12821"/>
            </a:avLst>
          </a:prstGeom>
          <a:solidFill>
            <a:srgbClr val="F2B632"/>
          </a:solidFill>
          <a:ln w="12700">
            <a:solidFill>
              <a:srgbClr val="F2B632"/>
            </a:solidFill>
            <a:prstDash val="solid"/>
          </a:ln>
        </p:spPr>
      </p:sp>
      <p:sp>
        <p:nvSpPr>
          <p:cNvPr id="11" name="Text 8"/>
          <p:cNvSpPr txBox="1"/>
          <p:nvPr/>
        </p:nvSpPr>
        <p:spPr>
          <a:xfrm>
            <a:off x="530352" y="2926080"/>
            <a:ext cx="2194560" cy="356616"/>
          </a:xfrm>
          <a:prstGeom prst="rect">
            <a:avLst/>
          </a:prstGeom>
          <a:noFill/>
          <a:ln/>
        </p:spPr>
        <p:txBody>
          <a:bodyPr wrap="square" lIns="0" tIns="0" rIns="0" bIns="0" rtlCol="0" anchor="ctr"/>
          <a:lstStyle/>
          <a:p>
            <a:pPr indent="0" marL="0">
              <a:buNone/>
            </a:pPr>
            <a:r>
              <a:rPr lang="en-US" sz="1050" b="1" dirty="0">
                <a:solidFill>
                  <a:srgbClr val="2B0F1A"/>
                </a:solidFill>
              </a:rPr>
              <a:t>E  Niṣkāma Karma: the essence…</a:t>
            </a:r>
            <a:endParaRPr lang="en-US" sz="1050" dirty="0"/>
          </a:p>
        </p:txBody>
      </p:sp>
      <p:sp>
        <p:nvSpPr>
          <p:cNvPr id="12" name="Content card"/>
          <p:cNvSpPr/>
          <p:nvPr/>
        </p:nvSpPr>
        <p:spPr>
          <a:xfrm>
            <a:off x="3017520" y="1005840"/>
            <a:ext cx="5760720" cy="3657600"/>
          </a:xfrm>
          <a:prstGeom prst="roundRect">
            <a:avLst>
              <a:gd name="adj" fmla="val 2500"/>
            </a:avLst>
          </a:prstGeom>
          <a:solidFill>
            <a:srgbClr val="FFF4D6"/>
          </a:solidFill>
          <a:ln w="12700">
            <a:solidFill>
              <a:srgbClr val="EAD9C4"/>
            </a:solidFill>
            <a:prstDash val="solid"/>
          </a:ln>
        </p:spPr>
      </p:sp>
      <p:sp>
        <p:nvSpPr>
          <p:cNvPr id="13" name="Section letter"/>
          <p:cNvSpPr/>
          <p:nvPr/>
        </p:nvSpPr>
        <p:spPr>
          <a:xfrm>
            <a:off x="3154680" y="1097280"/>
            <a:ext cx="420624" cy="420624"/>
          </a:xfrm>
          <a:prstGeom prst="ellipse">
            <a:avLst/>
          </a:prstGeom>
          <a:solidFill>
            <a:srgbClr val="1565C0"/>
          </a:solidFill>
          <a:ln w="12700">
            <a:solidFill>
              <a:srgbClr val="1565C0"/>
            </a:solidFill>
            <a:prstDash val="solid"/>
          </a:ln>
        </p:spPr>
      </p:sp>
      <p:sp>
        <p:nvSpPr>
          <p:cNvPr id="14" name="Text 11"/>
          <p:cNvSpPr txBox="1"/>
          <p:nvPr/>
        </p:nvSpPr>
        <p:spPr>
          <a:xfrm>
            <a:off x="3154680" y="1097280"/>
            <a:ext cx="420624" cy="420624"/>
          </a:xfrm>
          <a:prstGeom prst="rect">
            <a:avLst/>
          </a:prstGeom>
          <a:noFill/>
          <a:ln/>
        </p:spPr>
        <p:txBody>
          <a:bodyPr wrap="square" lIns="0" tIns="0" rIns="0" bIns="0" rtlCol="0" anchor="ctr"/>
          <a:lstStyle/>
          <a:p>
            <a:pPr algn="ctr" indent="0" marL="0">
              <a:buNone/>
            </a:pPr>
            <a:r>
              <a:rPr lang="en-US" sz="1600" b="1" dirty="0">
                <a:solidFill>
                  <a:srgbClr val="FFFFFF"/>
                </a:solidFill>
              </a:rPr>
              <a:t>E</a:t>
            </a:r>
            <a:endParaRPr lang="en-US" sz="1600" dirty="0"/>
          </a:p>
        </p:txBody>
      </p:sp>
      <p:sp>
        <p:nvSpPr>
          <p:cNvPr id="15" name="Text 12"/>
          <p:cNvSpPr txBox="1"/>
          <p:nvPr/>
        </p:nvSpPr>
        <p:spPr>
          <a:xfrm>
            <a:off x="3200400" y="1600200"/>
            <a:ext cx="5486400" cy="301752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Vyāsa: essence of Dharma = Niṣkāma Karma, the theme of every anecdote.</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Meaning: karma without the touch of karmic elements; service to others with controlled senses and mind.</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Misconception: that it belongs only to the Bhagavadgītā.</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Logic: body is dynamic; inaction is inconceivable; act for everyone's benefit.</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Humans are social; everyone must commit to it at some time.</a:t>
            </a:r>
            <a:endParaRPr lang="en-US" sz="1400" dirty="0"/>
          </a:p>
          <a:p>
            <a:pPr marL="177800" indent="-177800">
              <a:spcAft>
                <a:spcPts val="600"/>
              </a:spcAft>
              <a:buSzPct val="100000"/>
              <a:buChar char="•"/>
            </a:pPr>
            <a:r>
              <a:rPr lang="en-US" sz="1400" dirty="0">
                <a:solidFill>
                  <a:srgbClr val="2A2A2A"/>
                </a:solidFill>
                <a:latin typeface="Calibri" pitchFamily="34" charset="0"/>
                <a:ea typeface="Calibri" pitchFamily="34" charset="-122"/>
                <a:cs typeface="Calibri" pitchFamily="34" charset="-120"/>
              </a:rPr>
              <a:t>Take responsibility for action or inaction; do not blame external forces; weigh pros and cons; control senses and manas.</a:t>
            </a:r>
            <a:endParaRPr lang="en-US" sz="14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(1/2)</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Mantra-draṣṭā (Dṛṣṭakāl in the book)</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Ṛṣi who has experienced the truth; not an author of aphorisms.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Veda Vyāsa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Kṛṣṇa Dvaipāyana, called so because he compiled, classified and edited the Vedas.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Saṃhitā, Āraṇyaka, Brāhmaṇa, Upaniṣad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The four texts into which each Veda is classified.</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Praśasti Vākya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Decorative statement of fame or infamy, reflecting likes and dislikes; not a statement of truth.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Vidhi Vākya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Statement of dos and don'ts; depends on context.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Jñāna Vākya (statement of truth)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Order-independent, equation-like statement, as in the Upaniṣads.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Brahma Sūtra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Systematic Vedānta text derived from statements of truth.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terms to know (2/2)</a:t>
            </a:r>
            <a:endParaRPr lang="en-US" sz="2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2194560"/>
                <a:gridCol w="6217920"/>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Term</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Meaning and why it matters</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Bhagavadgītā as 'technology'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The practical method by which Vedic lessons are applied in life.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Eligibility vs competence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Everyone is eligible for mokṣa; not everyone is competent for rigorous Vedic learning.</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Mokṣa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Ultimate purpose of every living being; heaven is not the final goal.</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Niṣkāma Karma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Selfless action without karmic attachment; essence of Dharma.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Manas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Mind, to be controlled along with the sense organs.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Numbers and facts at a glance</a:t>
            </a:r>
            <a:endParaRPr lang="en-US" sz="2600" dirty="0"/>
          </a:p>
        </p:txBody>
      </p:sp>
      <p:sp>
        <p:nvSpPr>
          <p:cNvPr id="4" name="Stat card 1"/>
          <p:cNvSpPr/>
          <p:nvPr/>
        </p:nvSpPr>
        <p:spPr>
          <a:xfrm>
            <a:off x="365760" y="1051560"/>
            <a:ext cx="2011680" cy="1691640"/>
          </a:xfrm>
          <a:prstGeom prst="roundRect">
            <a:avLst>
              <a:gd name="adj" fmla="val 5405"/>
            </a:avLst>
          </a:prstGeom>
          <a:solidFill>
            <a:srgbClr val="FFFFFF"/>
          </a:solidFill>
          <a:ln w="25400">
            <a:solidFill>
              <a:srgbClr val="8C2F1B"/>
            </a:solidFill>
            <a:prstDash val="solid"/>
          </a:ln>
          <a:effectLst>
            <a:outerShdw sx="100000" sy="100000" kx="0" ky="0" algn="bl" rotWithShape="0" blurRad="76200" dist="25400" dir="5400000">
              <a:srgbClr val="000000">
                <a:alpha val="15000"/>
              </a:srgbClr>
            </a:outerShdw>
          </a:effectLst>
        </p:spPr>
      </p:sp>
      <p:sp>
        <p:nvSpPr>
          <p:cNvPr id="5" name="Text 2"/>
          <p:cNvSpPr txBox="1"/>
          <p:nvPr/>
        </p:nvSpPr>
        <p:spPr>
          <a:xfrm>
            <a:off x="475488" y="1124712"/>
            <a:ext cx="1792224" cy="457200"/>
          </a:xfrm>
          <a:prstGeom prst="rect">
            <a:avLst/>
          </a:prstGeom>
          <a:noFill/>
          <a:ln/>
        </p:spPr>
        <p:txBody>
          <a:bodyPr wrap="square" lIns="0" tIns="0" rIns="0" bIns="0" rtlCol="0" anchor="t"/>
          <a:lstStyle/>
          <a:p>
            <a:pPr indent="0" marL="0">
              <a:buNone/>
            </a:pPr>
            <a:r>
              <a:rPr lang="en-US" sz="1100" b="1" dirty="0">
                <a:solidFill>
                  <a:srgbClr val="8C2F1B"/>
                </a:solidFill>
              </a:rPr>
              <a:t>Texts per Veda</a:t>
            </a:r>
            <a:endParaRPr lang="en-US" sz="1100" dirty="0"/>
          </a:p>
        </p:txBody>
      </p:sp>
      <p:sp>
        <p:nvSpPr>
          <p:cNvPr id="6" name="Text 3"/>
          <p:cNvSpPr txBox="1"/>
          <p:nvPr/>
        </p:nvSpPr>
        <p:spPr>
          <a:xfrm>
            <a:off x="47548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4 (Saṃhitā, Āraṇyaka, Brāhmaṇa, Upaniṣad)</a:t>
            </a:r>
            <a:endParaRPr lang="en-US" sz="1300" dirty="0"/>
          </a:p>
        </p:txBody>
      </p:sp>
      <p:sp>
        <p:nvSpPr>
          <p:cNvPr id="7" name="Stat card 2"/>
          <p:cNvSpPr/>
          <p:nvPr/>
        </p:nvSpPr>
        <p:spPr>
          <a:xfrm>
            <a:off x="2514600" y="1051560"/>
            <a:ext cx="2011680" cy="1691640"/>
          </a:xfrm>
          <a:prstGeom prst="roundRect">
            <a:avLst>
              <a:gd name="adj" fmla="val 5405"/>
            </a:avLst>
          </a:prstGeom>
          <a:solidFill>
            <a:srgbClr val="FFFFFF"/>
          </a:solidFill>
          <a:ln w="25400">
            <a:solidFill>
              <a:srgbClr val="E07B00"/>
            </a:solidFill>
            <a:prstDash val="solid"/>
          </a:ln>
          <a:effectLst>
            <a:outerShdw sx="100000" sy="100000" kx="0" ky="0" algn="bl" rotWithShape="0" blurRad="76200" dist="25400" dir="5400000">
              <a:srgbClr val="000000">
                <a:alpha val="15000"/>
              </a:srgbClr>
            </a:outerShdw>
          </a:effectLst>
        </p:spPr>
      </p:sp>
      <p:sp>
        <p:nvSpPr>
          <p:cNvPr id="8" name="Text 5"/>
          <p:cNvSpPr txBox="1"/>
          <p:nvPr/>
        </p:nvSpPr>
        <p:spPr>
          <a:xfrm>
            <a:off x="2624328" y="1124712"/>
            <a:ext cx="1792224" cy="457200"/>
          </a:xfrm>
          <a:prstGeom prst="rect">
            <a:avLst/>
          </a:prstGeom>
          <a:noFill/>
          <a:ln/>
        </p:spPr>
        <p:txBody>
          <a:bodyPr wrap="square" lIns="0" tIns="0" rIns="0" bIns="0" rtlCol="0" anchor="t"/>
          <a:lstStyle/>
          <a:p>
            <a:pPr indent="0" marL="0">
              <a:buNone/>
            </a:pPr>
            <a:r>
              <a:rPr lang="en-US" sz="1100" b="1" dirty="0">
                <a:solidFill>
                  <a:srgbClr val="E07B00"/>
                </a:solidFill>
              </a:rPr>
              <a:t>Types of Vedic statements</a:t>
            </a:r>
            <a:endParaRPr lang="en-US" sz="1100" dirty="0"/>
          </a:p>
        </p:txBody>
      </p:sp>
      <p:sp>
        <p:nvSpPr>
          <p:cNvPr id="9" name="Text 6"/>
          <p:cNvSpPr txBox="1"/>
          <p:nvPr/>
        </p:nvSpPr>
        <p:spPr>
          <a:xfrm>
            <a:off x="2624328" y="1600200"/>
            <a:ext cx="1792224" cy="1097280"/>
          </a:xfrm>
          <a:prstGeom prst="rect">
            <a:avLst/>
          </a:prstGeom>
          <a:noFill/>
          <a:ln/>
        </p:spPr>
        <p:txBody>
          <a:bodyPr wrap="square" lIns="0" tIns="0" rIns="0" bIns="0" rtlCol="0" anchor="t"/>
          <a:lstStyle/>
          <a:p>
            <a:pPr indent="0" marL="0">
              <a:buNone/>
            </a:pPr>
            <a:r>
              <a:rPr lang="en-US" sz="1300" b="1" dirty="0">
                <a:solidFill>
                  <a:srgbClr val="2A2A2A"/>
                </a:solidFill>
                <a:latin typeface="Cambria" pitchFamily="34" charset="0"/>
                <a:ea typeface="Cambria" pitchFamily="34" charset="-122"/>
                <a:cs typeface="Cambria" pitchFamily="34" charset="-120"/>
              </a:rPr>
              <a:t>3 (Praśasti, Vidhi, Jñāna/truth)</a:t>
            </a:r>
            <a:endParaRPr lang="en-US" sz="1300" dirty="0"/>
          </a:p>
        </p:txBody>
      </p:sp>
      <p:sp>
        <p:nvSpPr>
          <p:cNvPr id="10" name="Stat card 3"/>
          <p:cNvSpPr/>
          <p:nvPr/>
        </p:nvSpPr>
        <p:spPr>
          <a:xfrm>
            <a:off x="4663440" y="1051560"/>
            <a:ext cx="2011680" cy="1691640"/>
          </a:xfrm>
          <a:prstGeom prst="roundRect">
            <a:avLst>
              <a:gd name="adj" fmla="val 5405"/>
            </a:avLst>
          </a:prstGeom>
          <a:solidFill>
            <a:srgbClr val="FFFFFF"/>
          </a:solidFill>
          <a:ln w="25400">
            <a:solidFill>
              <a:srgbClr val="2E7D32"/>
            </a:solidFill>
            <a:prstDash val="solid"/>
          </a:ln>
          <a:effectLst>
            <a:outerShdw sx="100000" sy="100000" kx="0" ky="0" algn="bl" rotWithShape="0" blurRad="76200" dist="25400" dir="5400000">
              <a:srgbClr val="000000">
                <a:alpha val="15000"/>
              </a:srgbClr>
            </a:outerShdw>
          </a:effectLst>
        </p:spPr>
      </p:sp>
      <p:sp>
        <p:nvSpPr>
          <p:cNvPr id="11" name="Text 8"/>
          <p:cNvSpPr txBox="1"/>
          <p:nvPr/>
        </p:nvSpPr>
        <p:spPr>
          <a:xfrm>
            <a:off x="4773168" y="1124712"/>
            <a:ext cx="1792224" cy="457200"/>
          </a:xfrm>
          <a:prstGeom prst="rect">
            <a:avLst/>
          </a:prstGeom>
          <a:noFill/>
          <a:ln/>
        </p:spPr>
        <p:txBody>
          <a:bodyPr wrap="square" lIns="0" tIns="0" rIns="0" bIns="0" rtlCol="0" anchor="t"/>
          <a:lstStyle/>
          <a:p>
            <a:pPr indent="0" marL="0">
              <a:buNone/>
            </a:pPr>
            <a:r>
              <a:rPr lang="en-US" sz="1100" b="1" dirty="0">
                <a:solidFill>
                  <a:srgbClr val="2E7D32"/>
                </a:solidFill>
              </a:rPr>
              <a:t>Tiers of knowledge</a:t>
            </a:r>
            <a:endParaRPr lang="en-US" sz="1100" dirty="0"/>
          </a:p>
        </p:txBody>
      </p:sp>
      <p:sp>
        <p:nvSpPr>
          <p:cNvPr id="12" name="Text 9"/>
          <p:cNvSpPr txBox="1"/>
          <p:nvPr/>
        </p:nvSpPr>
        <p:spPr>
          <a:xfrm>
            <a:off x="4773168" y="1600200"/>
            <a:ext cx="1792224" cy="1097280"/>
          </a:xfrm>
          <a:prstGeom prst="rect">
            <a:avLst/>
          </a:prstGeom>
          <a:noFill/>
          <a:ln/>
        </p:spPr>
        <p:txBody>
          <a:bodyPr wrap="square" lIns="0" tIns="0" rIns="0" bIns="0" rtlCol="0" anchor="t"/>
          <a:lstStyle/>
          <a:p>
            <a:pPr indent="0" marL="0">
              <a:buNone/>
            </a:pPr>
            <a:r>
              <a:rPr lang="en-US" sz="1100" b="1" dirty="0">
                <a:solidFill>
                  <a:srgbClr val="2A2A2A"/>
                </a:solidFill>
                <a:latin typeface="Cambria" pitchFamily="34" charset="0"/>
                <a:ea typeface="Cambria" pitchFamily="34" charset="-122"/>
                <a:cs typeface="Cambria" pitchFamily="34" charset="-120"/>
              </a:rPr>
              <a:t>3: sourcebooks (Vedas/Upaniṣads), text (Brahma Sūtra), technology (Gītā)</a:t>
            </a:r>
            <a:endParaRPr lang="en-US" sz="1100" dirty="0"/>
          </a:p>
        </p:txBody>
      </p:sp>
      <p:sp>
        <p:nvSpPr>
          <p:cNvPr id="13" name="Stat card 4"/>
          <p:cNvSpPr/>
          <p:nvPr/>
        </p:nvSpPr>
        <p:spPr>
          <a:xfrm>
            <a:off x="6812280" y="1051560"/>
            <a:ext cx="2011680" cy="1691640"/>
          </a:xfrm>
          <a:prstGeom prst="roundRect">
            <a:avLst>
              <a:gd name="adj" fmla="val 5405"/>
            </a:avLst>
          </a:prstGeom>
          <a:solidFill>
            <a:srgbClr val="FFFFFF"/>
          </a:solidFill>
          <a:ln w="25400">
            <a:solidFill>
              <a:srgbClr val="6A1B9A"/>
            </a:solidFill>
            <a:prstDash val="solid"/>
          </a:ln>
          <a:effectLst>
            <a:outerShdw sx="100000" sy="100000" kx="0" ky="0" algn="bl" rotWithShape="0" blurRad="76200" dist="25400" dir="5400000">
              <a:srgbClr val="000000">
                <a:alpha val="15000"/>
              </a:srgbClr>
            </a:outerShdw>
          </a:effectLst>
        </p:spPr>
      </p:sp>
      <p:sp>
        <p:nvSpPr>
          <p:cNvPr id="14" name="Text 11"/>
          <p:cNvSpPr txBox="1"/>
          <p:nvPr/>
        </p:nvSpPr>
        <p:spPr>
          <a:xfrm>
            <a:off x="6922008" y="1124712"/>
            <a:ext cx="1792224" cy="457200"/>
          </a:xfrm>
          <a:prstGeom prst="rect">
            <a:avLst/>
          </a:prstGeom>
          <a:noFill/>
          <a:ln/>
        </p:spPr>
        <p:txBody>
          <a:bodyPr wrap="square" lIns="0" tIns="0" rIns="0" bIns="0" rtlCol="0" anchor="t"/>
          <a:lstStyle/>
          <a:p>
            <a:pPr indent="0" marL="0">
              <a:buNone/>
            </a:pPr>
            <a:r>
              <a:rPr lang="en-US" sz="1100" b="1" dirty="0">
                <a:solidFill>
                  <a:srgbClr val="6A1B9A"/>
                </a:solidFill>
              </a:rPr>
              <a:t>Equation example</a:t>
            </a:r>
            <a:endParaRPr lang="en-US" sz="1100" dirty="0"/>
          </a:p>
        </p:txBody>
      </p:sp>
      <p:sp>
        <p:nvSpPr>
          <p:cNvPr id="15" name="Text 12"/>
          <p:cNvSpPr txBox="1"/>
          <p:nvPr/>
        </p:nvSpPr>
        <p:spPr>
          <a:xfrm>
            <a:off x="6922008" y="1600200"/>
            <a:ext cx="1792224" cy="1097280"/>
          </a:xfrm>
          <a:prstGeom prst="rect">
            <a:avLst/>
          </a:prstGeom>
          <a:noFill/>
          <a:ln/>
        </p:spPr>
        <p:txBody>
          <a:bodyPr wrap="square" lIns="0" tIns="0" rIns="0" bIns="0" rtlCol="0" anchor="t"/>
          <a:lstStyle/>
          <a:p>
            <a:pPr indent="0" marL="0">
              <a:buNone/>
            </a:pPr>
            <a:r>
              <a:rPr lang="en-US" sz="1800" b="1" dirty="0">
                <a:solidFill>
                  <a:srgbClr val="2A2A2A"/>
                </a:solidFill>
                <a:latin typeface="Cambria" pitchFamily="34" charset="0"/>
                <a:ea typeface="Cambria" pitchFamily="34" charset="-122"/>
                <a:cs typeface="Cambria" pitchFamily="34" charset="-120"/>
              </a:rPr>
              <a:t>2+2=4 equals 4=2+2</a:t>
            </a:r>
            <a:endParaRPr lang="en-US" sz="1800" dirty="0"/>
          </a:p>
        </p:txBody>
      </p:sp>
      <p:sp>
        <p:nvSpPr>
          <p:cNvPr id="16" name="Stat card 5"/>
          <p:cNvSpPr/>
          <p:nvPr/>
        </p:nvSpPr>
        <p:spPr>
          <a:xfrm>
            <a:off x="365760" y="2880360"/>
            <a:ext cx="2011680" cy="1691640"/>
          </a:xfrm>
          <a:prstGeom prst="roundRect">
            <a:avLst>
              <a:gd name="adj" fmla="val 5405"/>
            </a:avLst>
          </a:prstGeom>
          <a:solidFill>
            <a:srgbClr val="FFFFFF"/>
          </a:solidFill>
          <a:ln w="25400">
            <a:solidFill>
              <a:srgbClr val="1565C0"/>
            </a:solidFill>
            <a:prstDash val="solid"/>
          </a:ln>
          <a:effectLst>
            <a:outerShdw sx="100000" sy="100000" kx="0" ky="0" algn="bl" rotWithShape="0" blurRad="76200" dist="25400" dir="5400000">
              <a:srgbClr val="000000">
                <a:alpha val="15000"/>
              </a:srgbClr>
            </a:outerShdw>
          </a:effectLst>
        </p:spPr>
      </p:sp>
      <p:sp>
        <p:nvSpPr>
          <p:cNvPr id="17" name="Text 14"/>
          <p:cNvSpPr txBox="1"/>
          <p:nvPr/>
        </p:nvSpPr>
        <p:spPr>
          <a:xfrm>
            <a:off x="475488" y="2953512"/>
            <a:ext cx="1792224" cy="457200"/>
          </a:xfrm>
          <a:prstGeom prst="rect">
            <a:avLst/>
          </a:prstGeom>
          <a:noFill/>
          <a:ln/>
        </p:spPr>
        <p:txBody>
          <a:bodyPr wrap="square" lIns="0" tIns="0" rIns="0" bIns="0" rtlCol="0" anchor="t"/>
          <a:lstStyle/>
          <a:p>
            <a:pPr indent="0" marL="0">
              <a:buNone/>
            </a:pPr>
            <a:r>
              <a:rPr lang="en-US" sz="1100" b="1" dirty="0">
                <a:solidFill>
                  <a:srgbClr val="1565C0"/>
                </a:solidFill>
              </a:rPr>
              <a:t>Truth sentences</a:t>
            </a:r>
            <a:endParaRPr lang="en-US" sz="1100" dirty="0"/>
          </a:p>
        </p:txBody>
      </p:sp>
      <p:sp>
        <p:nvSpPr>
          <p:cNvPr id="18" name="Text 15"/>
          <p:cNvSpPr txBox="1"/>
          <p:nvPr/>
        </p:nvSpPr>
        <p:spPr>
          <a:xfrm>
            <a:off x="475488" y="3429000"/>
            <a:ext cx="1792224" cy="1097280"/>
          </a:xfrm>
          <a:prstGeom prst="rect">
            <a:avLst/>
          </a:prstGeom>
          <a:noFill/>
          <a:ln/>
        </p:spPr>
        <p:txBody>
          <a:bodyPr wrap="square" lIns="0" tIns="0" rIns="0" bIns="0" rtlCol="0" anchor="t"/>
          <a:lstStyle/>
          <a:p>
            <a:pPr indent="0" marL="0">
              <a:buNone/>
            </a:pPr>
            <a:r>
              <a:rPr lang="en-US" sz="1100" b="1" dirty="0">
                <a:solidFill>
                  <a:srgbClr val="2A2A2A"/>
                </a:solidFill>
                <a:latin typeface="Cambria" pitchFamily="34" charset="0"/>
                <a:ea typeface="Cambria" pitchFamily="34" charset="-122"/>
                <a:cs typeface="Cambria" pitchFamily="34" charset="-120"/>
              </a:rPr>
              <a:t>Aham Brahmāsmi / Brahma aham asmi; tat tvam asi / asi tat tvam</a:t>
            </a:r>
            <a:endParaRPr lang="en-US" sz="11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Key people, places and texts</a:t>
            </a:r>
            <a:endParaRPr lang="en-US" sz="2600" dirty="0"/>
          </a:p>
        </p:txBody>
      </p:sp>
      <p:sp>
        <p:nvSpPr>
          <p:cNvPr id="4" name="Person row 1"/>
          <p:cNvSpPr/>
          <p:nvPr/>
        </p:nvSpPr>
        <p:spPr>
          <a:xfrm>
            <a:off x="365760" y="1005840"/>
            <a:ext cx="8412480" cy="530352"/>
          </a:xfrm>
          <a:prstGeom prst="roundRect">
            <a:avLst>
              <a:gd name="adj" fmla="val 10345"/>
            </a:avLst>
          </a:prstGeom>
          <a:solidFill>
            <a:srgbClr val="FFF4D6"/>
          </a:solidFill>
          <a:ln w="9525">
            <a:solidFill>
              <a:srgbClr val="EAD9C4"/>
            </a:solidFill>
            <a:prstDash val="solid"/>
          </a:ln>
        </p:spPr>
      </p:sp>
      <p:sp>
        <p:nvSpPr>
          <p:cNvPr id="5" name="Initial"/>
          <p:cNvSpPr/>
          <p:nvPr/>
        </p:nvSpPr>
        <p:spPr>
          <a:xfrm>
            <a:off x="457200" y="1069848"/>
            <a:ext cx="402336" cy="402336"/>
          </a:xfrm>
          <a:prstGeom prst="ellipse">
            <a:avLst/>
          </a:prstGeom>
          <a:solidFill>
            <a:srgbClr val="8C2F1B"/>
          </a:solidFill>
          <a:ln w="12700">
            <a:solidFill>
              <a:srgbClr val="8C2F1B"/>
            </a:solidFill>
            <a:prstDash val="solid"/>
          </a:ln>
        </p:spPr>
      </p:sp>
      <p:sp>
        <p:nvSpPr>
          <p:cNvPr id="6" name="Text 3"/>
          <p:cNvSpPr txBox="1"/>
          <p:nvPr/>
        </p:nvSpPr>
        <p:spPr>
          <a:xfrm>
            <a:off x="457200" y="10698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K</a:t>
            </a:r>
            <a:endParaRPr lang="en-US" sz="1400" dirty="0"/>
          </a:p>
        </p:txBody>
      </p:sp>
      <p:sp>
        <p:nvSpPr>
          <p:cNvPr id="7" name="Text 4"/>
          <p:cNvSpPr txBox="1"/>
          <p:nvPr/>
        </p:nvSpPr>
        <p:spPr>
          <a:xfrm>
            <a:off x="1005840" y="1005840"/>
            <a:ext cx="2468880" cy="530352"/>
          </a:xfrm>
          <a:prstGeom prst="rect">
            <a:avLst/>
          </a:prstGeom>
          <a:noFill/>
          <a:ln/>
        </p:spPr>
        <p:txBody>
          <a:bodyPr wrap="square" lIns="0" tIns="0" rIns="0" bIns="0" rtlCol="0" anchor="ctr"/>
          <a:lstStyle/>
          <a:p>
            <a:pPr indent="0" marL="0">
              <a:buNone/>
            </a:pPr>
            <a:r>
              <a:rPr lang="en-US" sz="1300" b="1" dirty="0">
                <a:solidFill>
                  <a:srgbClr val="8C2F1B"/>
                </a:solidFill>
              </a:rPr>
              <a:t>Kṛṣṇa Dvaipāyana (Veda Vyāsa)</a:t>
            </a:r>
            <a:endParaRPr lang="en-US" sz="1300" dirty="0"/>
          </a:p>
        </p:txBody>
      </p:sp>
      <p:sp>
        <p:nvSpPr>
          <p:cNvPr id="8" name="Text 5"/>
          <p:cNvSpPr txBox="1"/>
          <p:nvPr/>
        </p:nvSpPr>
        <p:spPr>
          <a:xfrm>
            <a:off x="3566160" y="1005840"/>
            <a:ext cx="5120640" cy="530352"/>
          </a:xfrm>
          <a:prstGeom prst="rect">
            <a:avLst/>
          </a:prstGeom>
          <a:noFill/>
          <a:ln/>
        </p:spPr>
        <p:txBody>
          <a:bodyPr wrap="square" lIns="0" tIns="0" rIns="0" bIns="0" rtlCol="0" anchor="ctr"/>
          <a:lstStyle/>
          <a:p>
            <a:pPr indent="0" marL="0">
              <a:buNone/>
            </a:pPr>
            <a:r>
              <a:rPr lang="en-US" sz="1200" dirty="0">
                <a:solidFill>
                  <a:srgbClr val="2A2A2A"/>
                </a:solidFill>
              </a:rPr>
              <a:t>Editor of the Vedas, composer of the fifth Veda.</a:t>
            </a:r>
            <a:endParaRPr lang="en-US" sz="1200" dirty="0"/>
          </a:p>
        </p:txBody>
      </p:sp>
      <p:sp>
        <p:nvSpPr>
          <p:cNvPr id="9" name="Person row 2"/>
          <p:cNvSpPr/>
          <p:nvPr/>
        </p:nvSpPr>
        <p:spPr>
          <a:xfrm>
            <a:off x="365760" y="1609344"/>
            <a:ext cx="8412480" cy="530352"/>
          </a:xfrm>
          <a:prstGeom prst="roundRect">
            <a:avLst>
              <a:gd name="adj" fmla="val 10345"/>
            </a:avLst>
          </a:prstGeom>
          <a:solidFill>
            <a:srgbClr val="FFFFFF"/>
          </a:solidFill>
          <a:ln w="9525">
            <a:solidFill>
              <a:srgbClr val="EAD9C4"/>
            </a:solidFill>
            <a:prstDash val="solid"/>
          </a:ln>
        </p:spPr>
      </p:sp>
      <p:sp>
        <p:nvSpPr>
          <p:cNvPr id="10" name="Initial"/>
          <p:cNvSpPr/>
          <p:nvPr/>
        </p:nvSpPr>
        <p:spPr>
          <a:xfrm>
            <a:off x="457200" y="1673352"/>
            <a:ext cx="402336" cy="402336"/>
          </a:xfrm>
          <a:prstGeom prst="ellipse">
            <a:avLst/>
          </a:prstGeom>
          <a:solidFill>
            <a:srgbClr val="E07B00"/>
          </a:solidFill>
          <a:ln w="12700">
            <a:solidFill>
              <a:srgbClr val="E07B00"/>
            </a:solidFill>
            <a:prstDash val="solid"/>
          </a:ln>
        </p:spPr>
      </p:sp>
      <p:sp>
        <p:nvSpPr>
          <p:cNvPr id="11" name="Text 8"/>
          <p:cNvSpPr txBox="1"/>
          <p:nvPr/>
        </p:nvSpPr>
        <p:spPr>
          <a:xfrm>
            <a:off x="457200" y="16733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Ṛ</a:t>
            </a:r>
            <a:endParaRPr lang="en-US" sz="1400" dirty="0"/>
          </a:p>
        </p:txBody>
      </p:sp>
      <p:sp>
        <p:nvSpPr>
          <p:cNvPr id="12" name="Text 9"/>
          <p:cNvSpPr txBox="1"/>
          <p:nvPr/>
        </p:nvSpPr>
        <p:spPr>
          <a:xfrm>
            <a:off x="1005840" y="1609344"/>
            <a:ext cx="2468880" cy="530352"/>
          </a:xfrm>
          <a:prstGeom prst="rect">
            <a:avLst/>
          </a:prstGeom>
          <a:noFill/>
          <a:ln/>
        </p:spPr>
        <p:txBody>
          <a:bodyPr wrap="square" lIns="0" tIns="0" rIns="0" bIns="0" rtlCol="0" anchor="ctr"/>
          <a:lstStyle/>
          <a:p>
            <a:pPr indent="0" marL="0">
              <a:buNone/>
            </a:pPr>
            <a:r>
              <a:rPr lang="en-US" sz="1300" b="1" dirty="0">
                <a:solidFill>
                  <a:srgbClr val="E07B00"/>
                </a:solidFill>
              </a:rPr>
              <a:t>Ṛṣis</a:t>
            </a:r>
            <a:endParaRPr lang="en-US" sz="1300" dirty="0"/>
          </a:p>
        </p:txBody>
      </p:sp>
      <p:sp>
        <p:nvSpPr>
          <p:cNvPr id="13" name="Text 10"/>
          <p:cNvSpPr txBox="1"/>
          <p:nvPr/>
        </p:nvSpPr>
        <p:spPr>
          <a:xfrm>
            <a:off x="3566160" y="1609344"/>
            <a:ext cx="5120640" cy="530352"/>
          </a:xfrm>
          <a:prstGeom prst="rect">
            <a:avLst/>
          </a:prstGeom>
          <a:noFill/>
          <a:ln/>
        </p:spPr>
        <p:txBody>
          <a:bodyPr wrap="square" lIns="0" tIns="0" rIns="0" bIns="0" rtlCol="0" anchor="ctr"/>
          <a:lstStyle/>
          <a:p>
            <a:pPr indent="0" marL="0">
              <a:buNone/>
            </a:pPr>
            <a:r>
              <a:rPr lang="en-US" sz="1200" dirty="0">
                <a:solidFill>
                  <a:srgbClr val="2A2A2A"/>
                </a:solidFill>
              </a:rPr>
              <a:t>Experiencers of truth through meditation.</a:t>
            </a:r>
            <a:endParaRPr lang="en-US" sz="1200" dirty="0"/>
          </a:p>
        </p:txBody>
      </p:sp>
      <p:sp>
        <p:nvSpPr>
          <p:cNvPr id="14" name="Person row 3"/>
          <p:cNvSpPr/>
          <p:nvPr/>
        </p:nvSpPr>
        <p:spPr>
          <a:xfrm>
            <a:off x="365760" y="2212848"/>
            <a:ext cx="8412480" cy="530352"/>
          </a:xfrm>
          <a:prstGeom prst="roundRect">
            <a:avLst>
              <a:gd name="adj" fmla="val 10345"/>
            </a:avLst>
          </a:prstGeom>
          <a:solidFill>
            <a:srgbClr val="FFF4D6"/>
          </a:solidFill>
          <a:ln w="9525">
            <a:solidFill>
              <a:srgbClr val="EAD9C4"/>
            </a:solidFill>
            <a:prstDash val="solid"/>
          </a:ln>
        </p:spPr>
      </p:sp>
      <p:sp>
        <p:nvSpPr>
          <p:cNvPr id="15" name="Initial"/>
          <p:cNvSpPr/>
          <p:nvPr/>
        </p:nvSpPr>
        <p:spPr>
          <a:xfrm>
            <a:off x="457200" y="2276856"/>
            <a:ext cx="402336" cy="402336"/>
          </a:xfrm>
          <a:prstGeom prst="ellipse">
            <a:avLst/>
          </a:prstGeom>
          <a:solidFill>
            <a:srgbClr val="2E7D32"/>
          </a:solidFill>
          <a:ln w="12700">
            <a:solidFill>
              <a:srgbClr val="2E7D32"/>
            </a:solidFill>
            <a:prstDash val="solid"/>
          </a:ln>
        </p:spPr>
      </p:sp>
      <p:sp>
        <p:nvSpPr>
          <p:cNvPr id="16" name="Text 13"/>
          <p:cNvSpPr txBox="1"/>
          <p:nvPr/>
        </p:nvSpPr>
        <p:spPr>
          <a:xfrm>
            <a:off x="457200" y="22768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17" name="Text 14"/>
          <p:cNvSpPr txBox="1"/>
          <p:nvPr/>
        </p:nvSpPr>
        <p:spPr>
          <a:xfrm>
            <a:off x="1005840" y="2212848"/>
            <a:ext cx="2468880" cy="530352"/>
          </a:xfrm>
          <a:prstGeom prst="rect">
            <a:avLst/>
          </a:prstGeom>
          <a:noFill/>
          <a:ln/>
        </p:spPr>
        <p:txBody>
          <a:bodyPr wrap="square" lIns="0" tIns="0" rIns="0" bIns="0" rtlCol="0" anchor="ctr"/>
          <a:lstStyle/>
          <a:p>
            <a:pPr indent="0" marL="0">
              <a:buNone/>
            </a:pPr>
            <a:r>
              <a:rPr lang="en-US" sz="1300" b="1" dirty="0">
                <a:solidFill>
                  <a:srgbClr val="2E7D32"/>
                </a:solidFill>
              </a:rPr>
              <a:t>Bhagavadgītā</a:t>
            </a:r>
            <a:endParaRPr lang="en-US" sz="1300" dirty="0"/>
          </a:p>
        </p:txBody>
      </p:sp>
      <p:sp>
        <p:nvSpPr>
          <p:cNvPr id="18" name="Text 15"/>
          <p:cNvSpPr txBox="1"/>
          <p:nvPr/>
        </p:nvSpPr>
        <p:spPr>
          <a:xfrm>
            <a:off x="3566160" y="2212848"/>
            <a:ext cx="5120640" cy="530352"/>
          </a:xfrm>
          <a:prstGeom prst="rect">
            <a:avLst/>
          </a:prstGeom>
          <a:noFill/>
          <a:ln/>
        </p:spPr>
        <p:txBody>
          <a:bodyPr wrap="square" lIns="0" tIns="0" rIns="0" bIns="0" rtlCol="0" anchor="ctr"/>
          <a:lstStyle/>
          <a:p>
            <a:pPr indent="0" marL="0">
              <a:buNone/>
            </a:pPr>
            <a:r>
              <a:rPr lang="en-US" sz="1200" dirty="0">
                <a:solidFill>
                  <a:srgbClr val="2A2A2A"/>
                </a:solidFill>
              </a:rPr>
              <a:t>Practical application of Vedic teaching within Mahābhārata.</a:t>
            </a:r>
            <a:endParaRPr lang="en-US" sz="1200" dirty="0"/>
          </a:p>
        </p:txBody>
      </p:sp>
      <p:sp>
        <p:nvSpPr>
          <p:cNvPr id="19" name="Person row 4"/>
          <p:cNvSpPr/>
          <p:nvPr/>
        </p:nvSpPr>
        <p:spPr>
          <a:xfrm>
            <a:off x="365760" y="2816352"/>
            <a:ext cx="8412480" cy="530352"/>
          </a:xfrm>
          <a:prstGeom prst="roundRect">
            <a:avLst>
              <a:gd name="adj" fmla="val 10345"/>
            </a:avLst>
          </a:prstGeom>
          <a:solidFill>
            <a:srgbClr val="FFFFFF"/>
          </a:solidFill>
          <a:ln w="9525">
            <a:solidFill>
              <a:srgbClr val="EAD9C4"/>
            </a:solidFill>
            <a:prstDash val="solid"/>
          </a:ln>
        </p:spPr>
      </p:sp>
      <p:sp>
        <p:nvSpPr>
          <p:cNvPr id="20" name="Initial"/>
          <p:cNvSpPr/>
          <p:nvPr/>
        </p:nvSpPr>
        <p:spPr>
          <a:xfrm>
            <a:off x="457200" y="2880360"/>
            <a:ext cx="402336" cy="402336"/>
          </a:xfrm>
          <a:prstGeom prst="ellipse">
            <a:avLst/>
          </a:prstGeom>
          <a:solidFill>
            <a:srgbClr val="6A1B9A"/>
          </a:solidFill>
          <a:ln w="12700">
            <a:solidFill>
              <a:srgbClr val="6A1B9A"/>
            </a:solidFill>
            <a:prstDash val="solid"/>
          </a:ln>
        </p:spPr>
      </p:sp>
      <p:sp>
        <p:nvSpPr>
          <p:cNvPr id="21" name="Text 18"/>
          <p:cNvSpPr txBox="1"/>
          <p:nvPr/>
        </p:nvSpPr>
        <p:spPr>
          <a:xfrm>
            <a:off x="457200" y="28803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rPr>
              <a:t>B</a:t>
            </a:r>
            <a:endParaRPr lang="en-US" sz="1400" dirty="0"/>
          </a:p>
        </p:txBody>
      </p:sp>
      <p:sp>
        <p:nvSpPr>
          <p:cNvPr id="22" name="Text 19"/>
          <p:cNvSpPr txBox="1"/>
          <p:nvPr/>
        </p:nvSpPr>
        <p:spPr>
          <a:xfrm>
            <a:off x="1005840" y="2816352"/>
            <a:ext cx="2468880" cy="530352"/>
          </a:xfrm>
          <a:prstGeom prst="rect">
            <a:avLst/>
          </a:prstGeom>
          <a:noFill/>
          <a:ln/>
        </p:spPr>
        <p:txBody>
          <a:bodyPr wrap="square" lIns="0" tIns="0" rIns="0" bIns="0" rtlCol="0" anchor="ctr"/>
          <a:lstStyle/>
          <a:p>
            <a:pPr indent="0" marL="0">
              <a:buNone/>
            </a:pPr>
            <a:r>
              <a:rPr lang="en-US" sz="1300" b="1" dirty="0">
                <a:solidFill>
                  <a:srgbClr val="6A1B9A"/>
                </a:solidFill>
              </a:rPr>
              <a:t>Brahma Sūtra</a:t>
            </a:r>
            <a:endParaRPr lang="en-US" sz="1300" dirty="0"/>
          </a:p>
        </p:txBody>
      </p:sp>
      <p:sp>
        <p:nvSpPr>
          <p:cNvPr id="23" name="Text 20"/>
          <p:cNvSpPr txBox="1"/>
          <p:nvPr/>
        </p:nvSpPr>
        <p:spPr>
          <a:xfrm>
            <a:off x="3566160" y="2816352"/>
            <a:ext cx="5120640" cy="530352"/>
          </a:xfrm>
          <a:prstGeom prst="rect">
            <a:avLst/>
          </a:prstGeom>
          <a:noFill/>
          <a:ln/>
        </p:spPr>
        <p:txBody>
          <a:bodyPr wrap="square" lIns="0" tIns="0" rIns="0" bIns="0" rtlCol="0" anchor="ctr"/>
          <a:lstStyle/>
          <a:p>
            <a:pPr indent="0" marL="0">
              <a:buNone/>
            </a:pPr>
            <a:r>
              <a:rPr lang="en-US" sz="1200" dirty="0">
                <a:solidFill>
                  <a:srgbClr val="2A2A2A"/>
                </a:solidFill>
              </a:rPr>
              <a:t>Systematic text of Vedānta.</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Ślokas, sayings and sources</a:t>
            </a:r>
            <a:endParaRPr lang="en-US" sz="2600" dirty="0"/>
          </a:p>
        </p:txBody>
      </p:sp>
      <p:sp>
        <p:nvSpPr>
          <p:cNvPr id="4" name="Sloka card 1"/>
          <p:cNvSpPr/>
          <p:nvPr/>
        </p:nvSpPr>
        <p:spPr>
          <a:xfrm>
            <a:off x="365760" y="1005840"/>
            <a:ext cx="8412480" cy="595630"/>
          </a:xfrm>
          <a:prstGeom prst="roundRect">
            <a:avLst>
              <a:gd name="adj" fmla="val 12281"/>
            </a:avLst>
          </a:prstGeom>
          <a:solidFill>
            <a:srgbClr val="FFF4D6"/>
          </a:solidFill>
          <a:ln w="12700">
            <a:solidFill>
              <a:srgbClr val="EAD9C4"/>
            </a:solidFill>
            <a:prstDash val="solid"/>
          </a:ln>
        </p:spPr>
      </p:sp>
      <p:sp>
        <p:nvSpPr>
          <p:cNvPr id="5" name="Text 2"/>
          <p:cNvSpPr txBox="1"/>
          <p:nvPr/>
        </p:nvSpPr>
        <p:spPr>
          <a:xfrm>
            <a:off x="548640" y="1005840"/>
            <a:ext cx="3840480" cy="595630"/>
          </a:xfrm>
          <a:prstGeom prst="rect">
            <a:avLst/>
          </a:prstGeom>
          <a:noFill/>
          <a:ln/>
        </p:spPr>
        <p:txBody>
          <a:bodyPr wrap="square" lIns="0" tIns="0" rIns="0" bIns="0" rtlCol="0" anchor="ctr"/>
          <a:lstStyle/>
          <a:p>
            <a:pPr indent="0" marL="0">
              <a:buNone/>
            </a:pPr>
            <a:r>
              <a:rPr lang="en-US" sz="1300" i="1" dirty="0">
                <a:solidFill>
                  <a:srgbClr val="8C2F1B"/>
                </a:solidFill>
                <a:latin typeface="Cambria" pitchFamily="34" charset="0"/>
                <a:ea typeface="Cambria" pitchFamily="34" charset="-122"/>
                <a:cs typeface="Cambria" pitchFamily="34" charset="-120"/>
              </a:rPr>
              <a:t>Aham Brahmāsmi / Brahma aham asmi</a:t>
            </a:r>
            <a:endParaRPr lang="en-US" sz="1300" dirty="0"/>
          </a:p>
        </p:txBody>
      </p:sp>
      <p:sp>
        <p:nvSpPr>
          <p:cNvPr id="6" name="Text 3"/>
          <p:cNvSpPr txBox="1"/>
          <p:nvPr/>
        </p:nvSpPr>
        <p:spPr>
          <a:xfrm>
            <a:off x="4572000" y="1005840"/>
            <a:ext cx="4069080" cy="595630"/>
          </a:xfrm>
          <a:prstGeom prst="rect">
            <a:avLst/>
          </a:prstGeom>
          <a:noFill/>
          <a:ln/>
        </p:spPr>
        <p:txBody>
          <a:bodyPr wrap="square" lIns="0" tIns="0" rIns="0" bIns="0" rtlCol="0" anchor="ctr"/>
          <a:lstStyle/>
          <a:p>
            <a:pPr indent="0" marL="0">
              <a:buNone/>
            </a:pPr>
            <a:r>
              <a:rPr lang="en-US" sz="1300" dirty="0">
                <a:solidFill>
                  <a:srgbClr val="2A2A2A"/>
                </a:solidFill>
              </a:rPr>
              <a:t>Examples of statements of truth: meaning does not change when words are reordered.</a:t>
            </a:r>
            <a:endParaRPr lang="en-US" sz="1300" dirty="0"/>
          </a:p>
        </p:txBody>
      </p:sp>
      <p:sp>
        <p:nvSpPr>
          <p:cNvPr id="7" name="Sloka card 2"/>
          <p:cNvSpPr/>
          <p:nvPr/>
        </p:nvSpPr>
        <p:spPr>
          <a:xfrm>
            <a:off x="365760" y="1711198"/>
            <a:ext cx="8412480" cy="389255"/>
          </a:xfrm>
          <a:prstGeom prst="roundRect">
            <a:avLst>
              <a:gd name="adj" fmla="val 18793"/>
            </a:avLst>
          </a:prstGeom>
          <a:solidFill>
            <a:srgbClr val="FFF4D6"/>
          </a:solidFill>
          <a:ln w="12700">
            <a:solidFill>
              <a:srgbClr val="EAD9C4"/>
            </a:solidFill>
            <a:prstDash val="solid"/>
          </a:ln>
        </p:spPr>
      </p:sp>
      <p:sp>
        <p:nvSpPr>
          <p:cNvPr id="8" name="Text 5"/>
          <p:cNvSpPr txBox="1"/>
          <p:nvPr/>
        </p:nvSpPr>
        <p:spPr>
          <a:xfrm>
            <a:off x="548640" y="1711198"/>
            <a:ext cx="3840480" cy="389255"/>
          </a:xfrm>
          <a:prstGeom prst="rect">
            <a:avLst/>
          </a:prstGeom>
          <a:noFill/>
          <a:ln/>
        </p:spPr>
        <p:txBody>
          <a:bodyPr wrap="square" lIns="0" tIns="0" rIns="0" bIns="0" rtlCol="0" anchor="ctr"/>
          <a:lstStyle/>
          <a:p>
            <a:pPr indent="0" marL="0">
              <a:buNone/>
            </a:pPr>
            <a:r>
              <a:rPr lang="en-US" sz="1300" i="1" dirty="0">
                <a:solidFill>
                  <a:srgbClr val="E07B00"/>
                </a:solidFill>
                <a:latin typeface="Cambria" pitchFamily="34" charset="0"/>
                <a:ea typeface="Cambria" pitchFamily="34" charset="-122"/>
                <a:cs typeface="Cambria" pitchFamily="34" charset="-120"/>
              </a:rPr>
              <a:t>Tat tvam asi / asi tat tvam</a:t>
            </a:r>
            <a:endParaRPr lang="en-US" sz="1300" dirty="0"/>
          </a:p>
        </p:txBody>
      </p:sp>
      <p:sp>
        <p:nvSpPr>
          <p:cNvPr id="9" name="Text 6"/>
          <p:cNvSpPr txBox="1"/>
          <p:nvPr/>
        </p:nvSpPr>
        <p:spPr>
          <a:xfrm>
            <a:off x="4572000" y="1711198"/>
            <a:ext cx="4069080" cy="389255"/>
          </a:xfrm>
          <a:prstGeom prst="rect">
            <a:avLst/>
          </a:prstGeom>
          <a:noFill/>
          <a:ln/>
        </p:spPr>
        <p:txBody>
          <a:bodyPr wrap="square" lIns="0" tIns="0" rIns="0" bIns="0" rtlCol="0" anchor="ctr"/>
          <a:lstStyle/>
          <a:p>
            <a:pPr indent="0" marL="0">
              <a:buNone/>
            </a:pPr>
            <a:r>
              <a:rPr lang="en-US" sz="1300" dirty="0">
                <a:solidFill>
                  <a:srgbClr val="2A2A2A"/>
                </a:solidFill>
              </a:rPr>
              <a:t>Same: order-independent statement of truth.</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Three kinds of Vedic statements</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4015087"/>
                <a:gridCol w="2477134"/>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Type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Where compiled</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Praśasti Vākya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Praise/blame, based on likes and dislikes; not a pure truth statement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Brāhmaṇas and Āraṇyakas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Vidhi Vākya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Dos and don'ts; vary with context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Brāhmaṇas and Āraṇyakas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Jñāna Vākya (truth)</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Equation-like; meaning fixed whatever the order</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Upaniṣads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Source, text and technology</a:t>
            </a:r>
            <a:endParaRPr lang="en-US" sz="2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2793104"/>
                <a:gridCol w="3699117"/>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Level</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Work</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Sourcebooks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Vedas and Upaniṣads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Origin of truths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Text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Brahma Sūtra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Systematic arrangement of truths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Technology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Bhagavadgītā (in Mahābhārata)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Applies the lessons in real situations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Eligibility vs competence</a:t>
            </a:r>
            <a:endParaRPr lang="en-US" sz="2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365760" y="1005840"/>
          <a:ext cx="8412480" cy="914400"/>
        </p:xfrm>
        <a:graphic>
          <a:graphicData uri="http://schemas.openxmlformats.org/drawingml/2006/table">
            <a:tbl>
              <a:tblPr/>
              <a:tblGrid>
                <a:gridCol w="1920259"/>
                <a:gridCol w="3246111"/>
                <a:gridCol w="3246111"/>
              </a:tblGrid>
              <a:tr h="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Aspect</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Eligibility</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Competence</a:t>
                      </a:r>
                      <a:endParaRPr lang="en-US" sz="1300" dirty="0">
                        <a:latin typeface="Calibri" charset="0"/>
                        <a:ea typeface="Calibri" charset="0"/>
                        <a:cs typeface="Calibri" charset="0"/>
                      </a:endParaRPr>
                    </a:p>
                  </a:txBody>
                  <a:tcPr marL="73152" marR="73152" marT="36576" marB="36576">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8C2F1B"/>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For mokṣa</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All beings, human and non-human</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Needs suitable means</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For Vedic study</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Humans are eligible</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Requires rigorous vratas and training</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2A2A2A"/>
                          </a:solidFill>
                          <a:latin typeface="Calibri" pitchFamily="34" charset="0"/>
                          <a:ea typeface="Calibri" pitchFamily="34" charset="-122"/>
                          <a:cs typeface="Calibri" pitchFamily="34" charset="-120"/>
                        </a:rPr>
                        <a:t>Role of MB</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r>
                        <a:rPr lang="en-US" sz="1300" dirty="0">
                          <a:solidFill>
                            <a:srgbClr val="2A2A2A"/>
                          </a:solidFill>
                          <a:latin typeface="Calibri" pitchFamily="34" charset="0"/>
                          <a:ea typeface="Calibri" pitchFamily="34" charset="-122"/>
                          <a:cs typeface="Calibri" pitchFamily="34" charset="-120"/>
                        </a:rPr>
                        <a:t>Offers a path through life-experiences to the eligible but incompetent</a:t>
                      </a: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c>
                  <a:txBody>
                    <a:bodyPr/>
                    <a:lstStyle/>
                    <a:p>
                      <a:pPr indent="0" marL="0">
                        <a:buNone/>
                      </a:pPr>
                      <a:endParaRPr lang="en-US" sz="1300" dirty="0">
                        <a:latin typeface="Calibri" charset="0"/>
                        <a:ea typeface="Calibri" charset="0"/>
                        <a:cs typeface="Calibri" charset="0"/>
                      </a:endParaRPr>
                    </a:p>
                  </a:txBody>
                  <a:tcPr marL="73152" marR="73152" marT="36576" marB="36576" anchor="ctr">
                    <a:lnL w="6350" cap="flat" cmpd="sng" algn="ctr">
                      <a:solidFill>
                        <a:srgbClr val="EAD9C4"/>
                      </a:solidFill>
                      <a:prstDash val="solid"/>
                      <a:round/>
                      <a:headEnd type="none" w="med" len="med"/>
                      <a:tailEnd type="none" w="med" len="med"/>
                    </a:lnL>
                    <a:lnR w="6350" cap="flat" cmpd="sng" algn="ctr">
                      <a:solidFill>
                        <a:srgbClr val="EAD9C4"/>
                      </a:solidFill>
                      <a:prstDash val="solid"/>
                      <a:round/>
                      <a:headEnd type="none" w="med" len="med"/>
                      <a:tailEnd type="none" w="med" len="med"/>
                    </a:lnR>
                    <a:lnT w="6350" cap="flat" cmpd="sng" algn="ctr">
                      <a:solidFill>
                        <a:srgbClr val="EAD9C4"/>
                      </a:solidFill>
                      <a:prstDash val="solid"/>
                      <a:round/>
                      <a:headEnd type="none" w="med" len="med"/>
                      <a:tailEnd type="none" w="med" len="med"/>
                    </a:lnT>
                    <a:lnB w="6350" cap="flat" cmpd="sng" algn="ctr">
                      <a:solidFill>
                        <a:srgbClr val="EAD9C4"/>
                      </a:solidFill>
                      <a:prstDash val="solid"/>
                      <a:round/>
                      <a:headEnd type="none" w="med" len="med"/>
                      <a:tailEnd type="none" w="med" len="med"/>
                    </a:lnB>
                    <a:solidFill>
                      <a:srgbClr val="FFF4D6"/>
                    </a:solidFill>
                  </a:tcPr>
                </a:tc>
              </a:tr>
            </a:tbl>
          </a:graphicData>
        </a:graphic>
      </p:graphicFrame>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Mind map of the chapter</a:t>
            </a:r>
            <a:endParaRPr lang="en-US" sz="2600" dirty="0"/>
          </a:p>
        </p:txBody>
      </p:sp>
      <p:pic>
        <p:nvPicPr>
          <p:cNvPr id="4" name="Mind map" descr="Chapter mind map">    </p:cNvPr>
          <p:cNvPicPr>
            <a:picLocks noChangeAspect="1"/>
          </p:cNvPicPr>
          <p:nvPr/>
        </p:nvPicPr>
        <p:blipFill>
          <a:blip r:embed="rId1"/>
          <a:stretch>
            <a:fillRect/>
          </a:stretch>
        </p:blipFill>
        <p:spPr>
          <a:xfrm>
            <a:off x="1041991" y="914400"/>
            <a:ext cx="7060019" cy="3794760"/>
          </a:xfrm>
          <a:prstGeom prst="rect">
            <a:avLst/>
          </a:prstGeom>
        </p:spPr>
      </p:pic>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Memory aids</a:t>
            </a:r>
            <a:endParaRPr lang="en-US" sz="2600" dirty="0"/>
          </a:p>
        </p:txBody>
      </p:sp>
      <p:sp>
        <p:nvSpPr>
          <p:cNvPr id="4" name="Memory card 1"/>
          <p:cNvSpPr/>
          <p:nvPr/>
        </p:nvSpPr>
        <p:spPr>
          <a:xfrm>
            <a:off x="365760" y="1005840"/>
            <a:ext cx="4114800" cy="1115568"/>
          </a:xfrm>
          <a:prstGeom prst="roundRect">
            <a:avLst>
              <a:gd name="adj" fmla="val 8197"/>
            </a:avLst>
          </a:prstGeom>
          <a:solidFill>
            <a:srgbClr val="FFF4D6"/>
          </a:solidFill>
          <a:ln w="19050">
            <a:solidFill>
              <a:srgbClr val="8C2F1B"/>
            </a:solidFill>
            <a:prstDash val="solid"/>
          </a:ln>
        </p:spPr>
      </p:sp>
      <p:sp>
        <p:nvSpPr>
          <p:cNvPr id="5" name="Badge"/>
          <p:cNvSpPr/>
          <p:nvPr/>
        </p:nvSpPr>
        <p:spPr>
          <a:xfrm>
            <a:off x="475488" y="1115568"/>
            <a:ext cx="347472" cy="347472"/>
          </a:xfrm>
          <a:prstGeom prst="ellipse">
            <a:avLst/>
          </a:prstGeom>
          <a:solidFill>
            <a:srgbClr val="8C2F1B"/>
          </a:solidFill>
          <a:ln w="12700">
            <a:solidFill>
              <a:srgbClr val="8C2F1B"/>
            </a:solidFill>
            <a:prstDash val="solid"/>
          </a:ln>
        </p:spPr>
      </p:sp>
      <p:sp>
        <p:nvSpPr>
          <p:cNvPr id="6" name="Text 3"/>
          <p:cNvSpPr txBox="1"/>
          <p:nvPr/>
        </p:nvSpPr>
        <p:spPr>
          <a:xfrm>
            <a:off x="47548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7" name="Text 4"/>
          <p:cNvSpPr txBox="1"/>
          <p:nvPr/>
        </p:nvSpPr>
        <p:spPr>
          <a:xfrm>
            <a:off x="91440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P-V-J = Praśasti, Vidhi, Jñāna: the 3 statements.</a:t>
            </a:r>
            <a:endParaRPr lang="en-US" sz="1300" dirty="0"/>
          </a:p>
        </p:txBody>
      </p:sp>
      <p:sp>
        <p:nvSpPr>
          <p:cNvPr id="8" name="Memory card 2"/>
          <p:cNvSpPr/>
          <p:nvPr/>
        </p:nvSpPr>
        <p:spPr>
          <a:xfrm>
            <a:off x="4663440" y="1005840"/>
            <a:ext cx="4114800" cy="1115568"/>
          </a:xfrm>
          <a:prstGeom prst="roundRect">
            <a:avLst>
              <a:gd name="adj" fmla="val 8197"/>
            </a:avLst>
          </a:prstGeom>
          <a:solidFill>
            <a:srgbClr val="FFF4D6"/>
          </a:solidFill>
          <a:ln w="19050">
            <a:solidFill>
              <a:srgbClr val="E07B00"/>
            </a:solidFill>
            <a:prstDash val="solid"/>
          </a:ln>
        </p:spPr>
      </p:sp>
      <p:sp>
        <p:nvSpPr>
          <p:cNvPr id="9" name="Badge"/>
          <p:cNvSpPr/>
          <p:nvPr/>
        </p:nvSpPr>
        <p:spPr>
          <a:xfrm>
            <a:off x="4773168" y="1115568"/>
            <a:ext cx="347472" cy="347472"/>
          </a:xfrm>
          <a:prstGeom prst="ellipse">
            <a:avLst/>
          </a:prstGeom>
          <a:solidFill>
            <a:srgbClr val="E07B00"/>
          </a:solidFill>
          <a:ln w="12700">
            <a:solidFill>
              <a:srgbClr val="E07B00"/>
            </a:solidFill>
            <a:prstDash val="solid"/>
          </a:ln>
        </p:spPr>
      </p:sp>
      <p:sp>
        <p:nvSpPr>
          <p:cNvPr id="10" name="Text 7"/>
          <p:cNvSpPr txBox="1"/>
          <p:nvPr/>
        </p:nvSpPr>
        <p:spPr>
          <a:xfrm>
            <a:off x="4773168" y="111556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11" name="Text 8"/>
          <p:cNvSpPr txBox="1"/>
          <p:nvPr/>
        </p:nvSpPr>
        <p:spPr>
          <a:xfrm>
            <a:off x="5212080" y="100584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S-A-B-U = Saṃhitā, Āraṇyaka, Brāhmaṇa, Upaniṣad.</a:t>
            </a:r>
            <a:endParaRPr lang="en-US" sz="1300" dirty="0"/>
          </a:p>
        </p:txBody>
      </p:sp>
      <p:sp>
        <p:nvSpPr>
          <p:cNvPr id="12" name="Memory card 3"/>
          <p:cNvSpPr/>
          <p:nvPr/>
        </p:nvSpPr>
        <p:spPr>
          <a:xfrm>
            <a:off x="365760" y="2240280"/>
            <a:ext cx="4114800" cy="1115568"/>
          </a:xfrm>
          <a:prstGeom prst="roundRect">
            <a:avLst>
              <a:gd name="adj" fmla="val 8197"/>
            </a:avLst>
          </a:prstGeom>
          <a:solidFill>
            <a:srgbClr val="FFF4D6"/>
          </a:solidFill>
          <a:ln w="19050">
            <a:solidFill>
              <a:srgbClr val="2E7D32"/>
            </a:solidFill>
            <a:prstDash val="solid"/>
          </a:ln>
        </p:spPr>
      </p:sp>
      <p:sp>
        <p:nvSpPr>
          <p:cNvPr id="13" name="Badge"/>
          <p:cNvSpPr/>
          <p:nvPr/>
        </p:nvSpPr>
        <p:spPr>
          <a:xfrm>
            <a:off x="475488" y="2350008"/>
            <a:ext cx="347472" cy="347472"/>
          </a:xfrm>
          <a:prstGeom prst="ellipse">
            <a:avLst/>
          </a:prstGeom>
          <a:solidFill>
            <a:srgbClr val="2E7D32"/>
          </a:solidFill>
          <a:ln w="12700">
            <a:solidFill>
              <a:srgbClr val="2E7D32"/>
            </a:solidFill>
            <a:prstDash val="solid"/>
          </a:ln>
        </p:spPr>
      </p:sp>
      <p:sp>
        <p:nvSpPr>
          <p:cNvPr id="14" name="Text 11"/>
          <p:cNvSpPr txBox="1"/>
          <p:nvPr/>
        </p:nvSpPr>
        <p:spPr>
          <a:xfrm>
            <a:off x="47548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15" name="Text 12"/>
          <p:cNvSpPr txBox="1"/>
          <p:nvPr/>
        </p:nvSpPr>
        <p:spPr>
          <a:xfrm>
            <a:off x="91440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Source, Text, Technology = Vedas/Upaniṣads, Brahma Sūtra, Gītā.</a:t>
            </a:r>
            <a:endParaRPr lang="en-US" sz="1300" dirty="0"/>
          </a:p>
        </p:txBody>
      </p:sp>
      <p:sp>
        <p:nvSpPr>
          <p:cNvPr id="16" name="Memory card 4"/>
          <p:cNvSpPr/>
          <p:nvPr/>
        </p:nvSpPr>
        <p:spPr>
          <a:xfrm>
            <a:off x="4663440" y="2240280"/>
            <a:ext cx="4114800" cy="1115568"/>
          </a:xfrm>
          <a:prstGeom prst="roundRect">
            <a:avLst>
              <a:gd name="adj" fmla="val 8197"/>
            </a:avLst>
          </a:prstGeom>
          <a:solidFill>
            <a:srgbClr val="FFF4D6"/>
          </a:solidFill>
          <a:ln w="19050">
            <a:solidFill>
              <a:srgbClr val="6A1B9A"/>
            </a:solidFill>
            <a:prstDash val="solid"/>
          </a:ln>
        </p:spPr>
      </p:sp>
      <p:sp>
        <p:nvSpPr>
          <p:cNvPr id="17" name="Badge"/>
          <p:cNvSpPr/>
          <p:nvPr/>
        </p:nvSpPr>
        <p:spPr>
          <a:xfrm>
            <a:off x="4773168" y="2350008"/>
            <a:ext cx="347472" cy="347472"/>
          </a:xfrm>
          <a:prstGeom prst="ellipse">
            <a:avLst/>
          </a:prstGeom>
          <a:solidFill>
            <a:srgbClr val="6A1B9A"/>
          </a:solidFill>
          <a:ln w="12700">
            <a:solidFill>
              <a:srgbClr val="6A1B9A"/>
            </a:solidFill>
            <a:prstDash val="solid"/>
          </a:ln>
        </p:spPr>
      </p:sp>
      <p:sp>
        <p:nvSpPr>
          <p:cNvPr id="18" name="Text 15"/>
          <p:cNvSpPr txBox="1"/>
          <p:nvPr/>
        </p:nvSpPr>
        <p:spPr>
          <a:xfrm>
            <a:off x="4773168" y="235000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19" name="Text 16"/>
          <p:cNvSpPr txBox="1"/>
          <p:nvPr/>
        </p:nvSpPr>
        <p:spPr>
          <a:xfrm>
            <a:off x="5212080" y="224028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E vs C: Everyone is Eligible, but not everyone is Competent.</a:t>
            </a:r>
            <a:endParaRPr lang="en-US" sz="1300" dirty="0"/>
          </a:p>
        </p:txBody>
      </p:sp>
      <p:sp>
        <p:nvSpPr>
          <p:cNvPr id="20" name="Memory card 5"/>
          <p:cNvSpPr/>
          <p:nvPr/>
        </p:nvSpPr>
        <p:spPr>
          <a:xfrm>
            <a:off x="365760" y="3474720"/>
            <a:ext cx="4114800" cy="1115568"/>
          </a:xfrm>
          <a:prstGeom prst="roundRect">
            <a:avLst>
              <a:gd name="adj" fmla="val 8197"/>
            </a:avLst>
          </a:prstGeom>
          <a:solidFill>
            <a:srgbClr val="FFF4D6"/>
          </a:solidFill>
          <a:ln w="19050">
            <a:solidFill>
              <a:srgbClr val="1565C0"/>
            </a:solidFill>
            <a:prstDash val="solid"/>
          </a:ln>
        </p:spPr>
      </p:sp>
      <p:sp>
        <p:nvSpPr>
          <p:cNvPr id="21" name="Badge"/>
          <p:cNvSpPr/>
          <p:nvPr/>
        </p:nvSpPr>
        <p:spPr>
          <a:xfrm>
            <a:off x="475488" y="3584448"/>
            <a:ext cx="347472" cy="347472"/>
          </a:xfrm>
          <a:prstGeom prst="ellipse">
            <a:avLst/>
          </a:prstGeom>
          <a:solidFill>
            <a:srgbClr val="1565C0"/>
          </a:solidFill>
          <a:ln w="12700">
            <a:solidFill>
              <a:srgbClr val="1565C0"/>
            </a:solidFill>
            <a:prstDash val="solid"/>
          </a:ln>
        </p:spPr>
      </p:sp>
      <p:sp>
        <p:nvSpPr>
          <p:cNvPr id="22" name="Text 19"/>
          <p:cNvSpPr txBox="1"/>
          <p:nvPr/>
        </p:nvSpPr>
        <p:spPr>
          <a:xfrm>
            <a:off x="47548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23" name="Text 20"/>
          <p:cNvSpPr txBox="1"/>
          <p:nvPr/>
        </p:nvSpPr>
        <p:spPr>
          <a:xfrm>
            <a:off x="91440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Truth is like an equation: reorder the words, the meaning stays.</a:t>
            </a:r>
            <a:endParaRPr lang="en-US" sz="1300" dirty="0"/>
          </a:p>
        </p:txBody>
      </p:sp>
      <p:sp>
        <p:nvSpPr>
          <p:cNvPr id="24" name="Memory card 6"/>
          <p:cNvSpPr/>
          <p:nvPr/>
        </p:nvSpPr>
        <p:spPr>
          <a:xfrm>
            <a:off x="4663440" y="3474720"/>
            <a:ext cx="4114800" cy="1115568"/>
          </a:xfrm>
          <a:prstGeom prst="roundRect">
            <a:avLst>
              <a:gd name="adj" fmla="val 8197"/>
            </a:avLst>
          </a:prstGeom>
          <a:solidFill>
            <a:srgbClr val="FFF4D6"/>
          </a:solidFill>
          <a:ln w="19050">
            <a:solidFill>
              <a:srgbClr val="00796B"/>
            </a:solidFill>
            <a:prstDash val="solid"/>
          </a:ln>
        </p:spPr>
      </p:sp>
      <p:sp>
        <p:nvSpPr>
          <p:cNvPr id="25" name="Badge"/>
          <p:cNvSpPr/>
          <p:nvPr/>
        </p:nvSpPr>
        <p:spPr>
          <a:xfrm>
            <a:off x="4773168" y="3584448"/>
            <a:ext cx="347472" cy="347472"/>
          </a:xfrm>
          <a:prstGeom prst="ellipse">
            <a:avLst/>
          </a:prstGeom>
          <a:solidFill>
            <a:srgbClr val="00796B"/>
          </a:solidFill>
          <a:ln w="12700">
            <a:solidFill>
              <a:srgbClr val="00796B"/>
            </a:solidFill>
            <a:prstDash val="solid"/>
          </a:ln>
        </p:spPr>
      </p:sp>
      <p:sp>
        <p:nvSpPr>
          <p:cNvPr id="26" name="Text 23"/>
          <p:cNvSpPr txBox="1"/>
          <p:nvPr/>
        </p:nvSpPr>
        <p:spPr>
          <a:xfrm>
            <a:off x="4773168" y="358444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27" name="Text 24"/>
          <p:cNvSpPr txBox="1"/>
          <p:nvPr/>
        </p:nvSpPr>
        <p:spPr>
          <a:xfrm>
            <a:off x="5212080" y="3474720"/>
            <a:ext cx="3474720" cy="1115568"/>
          </a:xfrm>
          <a:prstGeom prst="rect">
            <a:avLst/>
          </a:prstGeom>
          <a:noFill/>
          <a:ln/>
        </p:spPr>
        <p:txBody>
          <a:bodyPr wrap="square" lIns="0" tIns="0" rIns="0" bIns="0" rtlCol="0" anchor="ctr"/>
          <a:lstStyle/>
          <a:p>
            <a:pPr indent="0" marL="0">
              <a:buNone/>
            </a:pPr>
            <a:r>
              <a:rPr lang="en-US" sz="1300" dirty="0">
                <a:solidFill>
                  <a:srgbClr val="2A2A2A"/>
                </a:solidFill>
                <a:latin typeface="Calibri" pitchFamily="34" charset="0"/>
                <a:ea typeface="Calibri" pitchFamily="34" charset="-122"/>
                <a:cs typeface="Calibri" pitchFamily="34" charset="-120"/>
              </a:rPr>
              <a:t>Niṣkāma Karma is not only a Gītā idea; it is in every anecdote.</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 to Q5)</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  What is an Itihāsa trying to convey, according to this chapter?</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Q2.  Who are the mantra-draṣṭās and what is their role?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Q3.  Name and explain the three types of statements in the Vedas.</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Q4.  Why are Saṃhitā statements called Praśasti Vākyas and not statements of truth?</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Q5.  Give examples of order-independent truth statements.</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(Q6 to Q10)</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Q6.  Explain how Vedas, Brahma Sūtra and the Gītā relate.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Q7.  Explain eligibility and competence with the book's example.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Q8.  Why is heaven not the final goal in Indian thought?</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Q9.  How does Mahābhārata help those who are eligible but not competent?</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Q10.  What is Niṣkāma Karma and why is it the essence of Dharma?</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Quick quiz (Q11 to Q12)</a:t>
            </a:r>
            <a:endParaRPr lang="en-US" sz="2600" dirty="0"/>
          </a:p>
        </p:txBody>
      </p:sp>
      <p:sp>
        <p:nvSpPr>
          <p:cNvPr id="4" name="Text 1"/>
          <p:cNvSpPr txBox="1"/>
          <p:nvPr/>
        </p:nvSpPr>
        <p:spPr>
          <a:xfrm>
            <a:off x="457200" y="1005840"/>
            <a:ext cx="8229600" cy="3657600"/>
          </a:xfrm>
          <a:prstGeom prst="rect">
            <a:avLst/>
          </a:prstGeom>
          <a:noFill/>
          <a:ln/>
        </p:spPr>
        <p:txBody>
          <a:bodyPr wrap="square" lIns="0" tIns="0" rIns="0" bIns="0" rtlCol="0" anchor="t"/>
          <a:lstStyle/>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Q11.  Why does the chapter say inaction is inconceivable?</a:t>
            </a:r>
            <a:endParaRPr lang="en-US" sz="1600" dirty="0"/>
          </a:p>
          <a:p>
            <a:pPr indent="0" marL="0">
              <a:spcAft>
                <a:spcPts val="1000"/>
              </a:spcAft>
              <a:buNone/>
            </a:pPr>
            <a:r>
              <a:rPr lang="en-US" sz="1600" dirty="0">
                <a:solidFill>
                  <a:srgbClr val="2A2A2A"/>
                </a:solidFill>
                <a:latin typeface="Calibri" pitchFamily="34" charset="0"/>
                <a:ea typeface="Calibri" pitchFamily="34" charset="-122"/>
                <a:cs typeface="Calibri" pitchFamily="34" charset="-120"/>
              </a:rPr>
              <a:t>Q12.  What personal responsibility does Niṣkāma Karma imply?</a:t>
            </a:r>
            <a:endParaRPr lang="en-US" sz="16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(1/3)</a:t>
            </a:r>
            <a:endParaRPr lang="en-US" sz="2600" dirty="0"/>
          </a:p>
        </p:txBody>
      </p:sp>
      <p:sp>
        <p:nvSpPr>
          <p:cNvPr id="4" name="Answer 1"/>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 What is an Itihāsa trying to convey, according to this chapter?</a:t>
            </a:r>
            <a:endParaRPr lang="en-US" sz="1200" dirty="0"/>
          </a:p>
          <a:p>
            <a:pPr indent="0" marL="0">
              <a:buNone/>
            </a:pPr>
            <a:r>
              <a:rPr lang="en-US" sz="1200" dirty="0">
                <a:solidFill>
                  <a:srgbClr val="2A2A2A"/>
                </a:solidFill>
              </a:rPr>
              <a:t>Universal truths about human nature, narrated as stories of humans and non-humans, including how truth is experienced, communicated, understood and verified.</a:t>
            </a:r>
            <a:endParaRPr lang="en-US" sz="1200" dirty="0"/>
          </a:p>
        </p:txBody>
      </p:sp>
      <p:sp>
        <p:nvSpPr>
          <p:cNvPr id="6" name="Answer 2"/>
          <p:cNvSpPr/>
          <p:nvPr/>
        </p:nvSpPr>
        <p:spPr>
          <a:xfrm>
            <a:off x="365760" y="1751076"/>
            <a:ext cx="8412480" cy="890016"/>
          </a:xfrm>
          <a:prstGeom prst="roundRect">
            <a:avLst>
              <a:gd name="adj" fmla="val 6164"/>
            </a:avLst>
          </a:prstGeom>
          <a:solidFill>
            <a:srgbClr val="FFF4D6"/>
          </a:solidFill>
          <a:ln w="9525">
            <a:solidFill>
              <a:srgbClr val="EAD9C4"/>
            </a:solidFill>
            <a:prstDash val="solid"/>
          </a:ln>
        </p:spPr>
      </p:sp>
      <p:sp>
        <p:nvSpPr>
          <p:cNvPr id="7" name="Text 4"/>
          <p:cNvSpPr txBox="1"/>
          <p:nvPr/>
        </p:nvSpPr>
        <p:spPr>
          <a:xfrm>
            <a:off x="457200" y="1751076"/>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Q2. Who are the mantra-draṣṭās and what is their role?</a:t>
            </a:r>
            <a:endParaRPr lang="en-US" sz="1200" dirty="0"/>
          </a:p>
          <a:p>
            <a:pPr indent="0" marL="0">
              <a:buNone/>
            </a:pPr>
            <a:r>
              <a:rPr lang="en-US" sz="1200" dirty="0">
                <a:solidFill>
                  <a:srgbClr val="2A2A2A"/>
                </a:solidFill>
              </a:rPr>
              <a:t>Ṛṣis who experienced truths in meditation. They did not create the aphorisms but expressed what they experienced. Kṛṣṇa Dvaipāyana compiled, classified and edited them and so became Veda Vyāsa.</a:t>
            </a:r>
            <a:endParaRPr lang="en-US" sz="1200" dirty="0"/>
          </a:p>
        </p:txBody>
      </p:sp>
      <p:sp>
        <p:nvSpPr>
          <p:cNvPr id="8" name="Answer 3"/>
          <p:cNvSpPr/>
          <p:nvPr/>
        </p:nvSpPr>
        <p:spPr>
          <a:xfrm>
            <a:off x="365760" y="2705100"/>
            <a:ext cx="8412480" cy="890016"/>
          </a:xfrm>
          <a:prstGeom prst="roundRect">
            <a:avLst>
              <a:gd name="adj" fmla="val 6164"/>
            </a:avLst>
          </a:prstGeom>
          <a:solidFill>
            <a:srgbClr val="FFF4D6"/>
          </a:solidFill>
          <a:ln w="9525">
            <a:solidFill>
              <a:srgbClr val="EAD9C4"/>
            </a:solidFill>
            <a:prstDash val="solid"/>
          </a:ln>
        </p:spPr>
      </p:sp>
      <p:sp>
        <p:nvSpPr>
          <p:cNvPr id="9" name="Text 6"/>
          <p:cNvSpPr txBox="1"/>
          <p:nvPr/>
        </p:nvSpPr>
        <p:spPr>
          <a:xfrm>
            <a:off x="457200" y="2705100"/>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Q3. Name and explain the three types of statements in the Vedas.</a:t>
            </a:r>
            <a:endParaRPr lang="en-US" sz="1200" dirty="0"/>
          </a:p>
          <a:p>
            <a:pPr indent="0" marL="0">
              <a:buNone/>
            </a:pPr>
            <a:r>
              <a:rPr lang="en-US" sz="1200" dirty="0">
                <a:solidFill>
                  <a:srgbClr val="2A2A2A"/>
                </a:solidFill>
              </a:rPr>
              <a:t>Praśasti Vākya: decorative statements of fame or infamy, based on likes and dislikes. Vidhi Vākya: dos and don'ts that vary with context. Jñāna Vākya: statements of truth, like equations where word order does not change meaning.</a:t>
            </a:r>
            <a:endParaRPr lang="en-US" sz="1200" dirty="0"/>
          </a:p>
        </p:txBody>
      </p:sp>
      <p:sp>
        <p:nvSpPr>
          <p:cNvPr id="10" name="Answer 4"/>
          <p:cNvSpPr/>
          <p:nvPr/>
        </p:nvSpPr>
        <p:spPr>
          <a:xfrm>
            <a:off x="365760" y="36591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659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Q4. Why are Saṃhitā statements called Praśasti Vākyas and not statements of truth?</a:t>
            </a:r>
            <a:endParaRPr lang="en-US" sz="1200" dirty="0"/>
          </a:p>
          <a:p>
            <a:pPr indent="0" marL="0">
              <a:buNone/>
            </a:pPr>
            <a:r>
              <a:rPr lang="en-US" sz="1200" dirty="0">
                <a:solidFill>
                  <a:srgbClr val="2A2A2A"/>
                </a:solidFill>
              </a:rPr>
              <a:t>Because they narrate fame or infamy, which involves acts of commission and omission based on likes and dislikes, reducing veracity.</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(2/3)</a:t>
            </a:r>
            <a:endParaRPr lang="en-US" sz="2600" dirty="0"/>
          </a:p>
        </p:txBody>
      </p:sp>
      <p:sp>
        <p:nvSpPr>
          <p:cNvPr id="4" name="Answer 5"/>
          <p:cNvSpPr/>
          <p:nvPr/>
        </p:nvSpPr>
        <p:spPr>
          <a:xfrm>
            <a:off x="365760" y="987552"/>
            <a:ext cx="8412480" cy="509016"/>
          </a:xfrm>
          <a:prstGeom prst="roundRect">
            <a:avLst>
              <a:gd name="adj" fmla="val 10778"/>
            </a:avLst>
          </a:prstGeom>
          <a:solidFill>
            <a:srgbClr val="FFFFFF"/>
          </a:solidFill>
          <a:ln w="9525">
            <a:solidFill>
              <a:srgbClr val="EAD9C4"/>
            </a:solidFill>
            <a:prstDash val="solid"/>
          </a:ln>
        </p:spPr>
      </p:sp>
      <p:sp>
        <p:nvSpPr>
          <p:cNvPr id="5" name="Text 2"/>
          <p:cNvSpPr txBox="1"/>
          <p:nvPr/>
        </p:nvSpPr>
        <p:spPr>
          <a:xfrm>
            <a:off x="457200" y="987552"/>
            <a:ext cx="8229600" cy="509016"/>
          </a:xfrm>
          <a:prstGeom prst="rect">
            <a:avLst/>
          </a:prstGeom>
          <a:noFill/>
          <a:ln/>
        </p:spPr>
        <p:txBody>
          <a:bodyPr wrap="square" lIns="0" tIns="0" rIns="0" bIns="0" rtlCol="0" anchor="ctr"/>
          <a:lstStyle/>
          <a:p>
            <a:pPr indent="0" marL="0">
              <a:buNone/>
            </a:pPr>
            <a:r>
              <a:rPr lang="en-US" sz="1200" b="1" dirty="0">
                <a:solidFill>
                  <a:srgbClr val="8C2F1B"/>
                </a:solidFill>
              </a:rPr>
              <a:t>Q5. Give examples of order-independent truth statements.</a:t>
            </a:r>
            <a:endParaRPr lang="en-US" sz="1200" dirty="0"/>
          </a:p>
          <a:p>
            <a:pPr indent="0" marL="0">
              <a:buNone/>
            </a:pPr>
            <a:r>
              <a:rPr lang="en-US" sz="1200" dirty="0">
                <a:solidFill>
                  <a:srgbClr val="2A2A2A"/>
                </a:solidFill>
              </a:rPr>
              <a:t>2+2=4 and 4=2+2; Aham Brahmāsmi / Brahma aham asmi; tat tvam asi / asi tat tvam.</a:t>
            </a:r>
            <a:endParaRPr lang="en-US" sz="1200" dirty="0"/>
          </a:p>
        </p:txBody>
      </p:sp>
      <p:sp>
        <p:nvSpPr>
          <p:cNvPr id="6" name="Answer 6"/>
          <p:cNvSpPr/>
          <p:nvPr/>
        </p:nvSpPr>
        <p:spPr>
          <a:xfrm>
            <a:off x="365760" y="1560576"/>
            <a:ext cx="8412480" cy="699516"/>
          </a:xfrm>
          <a:prstGeom prst="roundRect">
            <a:avLst>
              <a:gd name="adj" fmla="val 7843"/>
            </a:avLst>
          </a:prstGeom>
          <a:solidFill>
            <a:srgbClr val="FFFFFF"/>
          </a:solidFill>
          <a:ln w="9525">
            <a:solidFill>
              <a:srgbClr val="EAD9C4"/>
            </a:solidFill>
            <a:prstDash val="solid"/>
          </a:ln>
        </p:spPr>
      </p:sp>
      <p:sp>
        <p:nvSpPr>
          <p:cNvPr id="7" name="Text 4"/>
          <p:cNvSpPr txBox="1"/>
          <p:nvPr/>
        </p:nvSpPr>
        <p:spPr>
          <a:xfrm>
            <a:off x="457200" y="15605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Q6. Explain how Vedas, Brahma Sūtra and the Gītā relate.</a:t>
            </a:r>
            <a:endParaRPr lang="en-US" sz="1200" dirty="0"/>
          </a:p>
          <a:p>
            <a:pPr indent="0" marL="0">
              <a:buNone/>
            </a:pPr>
            <a:r>
              <a:rPr lang="en-US" sz="1200" dirty="0">
                <a:solidFill>
                  <a:srgbClr val="2A2A2A"/>
                </a:solidFill>
              </a:rPr>
              <a:t>Vedas and Upaniṣads are sourcebooks, Brahma Sūtra is the systematic text, and the Bhagavadgītā is the technology to apply them. Mahābhārata holds this technology, so it is the fifth Veda.</a:t>
            </a:r>
            <a:endParaRPr lang="en-US" sz="1200" dirty="0"/>
          </a:p>
        </p:txBody>
      </p:sp>
      <p:sp>
        <p:nvSpPr>
          <p:cNvPr id="8" name="Answer 7"/>
          <p:cNvSpPr/>
          <p:nvPr/>
        </p:nvSpPr>
        <p:spPr>
          <a:xfrm>
            <a:off x="365760" y="2324100"/>
            <a:ext cx="8412480" cy="890016"/>
          </a:xfrm>
          <a:prstGeom prst="roundRect">
            <a:avLst>
              <a:gd name="adj" fmla="val 6164"/>
            </a:avLst>
          </a:prstGeom>
          <a:solidFill>
            <a:srgbClr val="FFFFFF"/>
          </a:solidFill>
          <a:ln w="9525">
            <a:solidFill>
              <a:srgbClr val="EAD9C4"/>
            </a:solidFill>
            <a:prstDash val="solid"/>
          </a:ln>
        </p:spPr>
      </p:sp>
      <p:sp>
        <p:nvSpPr>
          <p:cNvPr id="9" name="Text 6"/>
          <p:cNvSpPr txBox="1"/>
          <p:nvPr/>
        </p:nvSpPr>
        <p:spPr>
          <a:xfrm>
            <a:off x="457200" y="2324100"/>
            <a:ext cx="8229600" cy="890016"/>
          </a:xfrm>
          <a:prstGeom prst="rect">
            <a:avLst/>
          </a:prstGeom>
          <a:noFill/>
          <a:ln/>
        </p:spPr>
        <p:txBody>
          <a:bodyPr wrap="square" lIns="0" tIns="0" rIns="0" bIns="0" rtlCol="0" anchor="ctr"/>
          <a:lstStyle/>
          <a:p>
            <a:pPr indent="0" marL="0">
              <a:buNone/>
            </a:pPr>
            <a:r>
              <a:rPr lang="en-US" sz="1200" b="1" dirty="0">
                <a:solidFill>
                  <a:srgbClr val="8C2F1B"/>
                </a:solidFill>
              </a:rPr>
              <a:t>Q7. Explain eligibility and competence with the book's example.</a:t>
            </a:r>
            <a:endParaRPr lang="en-US" sz="1200" dirty="0"/>
          </a:p>
          <a:p>
            <a:pPr indent="0" marL="0">
              <a:buNone/>
            </a:pPr>
            <a:r>
              <a:rPr lang="en-US" sz="1200" dirty="0">
                <a:solidFill>
                  <a:srgbClr val="2A2A2A"/>
                </a:solidFill>
              </a:rPr>
              <a:t>A degree makes one eligible for civil service, but not all graduates are competent. Similarly all beings are eligible for mokṣa, yet not all humans are competent to follow the rigorous training for Vedic study.</a:t>
            </a:r>
            <a:endParaRPr lang="en-US" sz="1200" dirty="0"/>
          </a:p>
        </p:txBody>
      </p:sp>
      <p:sp>
        <p:nvSpPr>
          <p:cNvPr id="10" name="Answer 8"/>
          <p:cNvSpPr/>
          <p:nvPr/>
        </p:nvSpPr>
        <p:spPr>
          <a:xfrm>
            <a:off x="365760" y="3278124"/>
            <a:ext cx="8412480" cy="699516"/>
          </a:xfrm>
          <a:prstGeom prst="roundRect">
            <a:avLst>
              <a:gd name="adj" fmla="val 7843"/>
            </a:avLst>
          </a:prstGeom>
          <a:solidFill>
            <a:srgbClr val="FFFFFF"/>
          </a:solidFill>
          <a:ln w="9525">
            <a:solidFill>
              <a:srgbClr val="EAD9C4"/>
            </a:solidFill>
            <a:prstDash val="solid"/>
          </a:ln>
        </p:spPr>
      </p:sp>
      <p:sp>
        <p:nvSpPr>
          <p:cNvPr id="11" name="Text 8"/>
          <p:cNvSpPr txBox="1"/>
          <p:nvPr/>
        </p:nvSpPr>
        <p:spPr>
          <a:xfrm>
            <a:off x="457200" y="3278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Q8. Why is heaven not the final goal in Indian thought?</a:t>
            </a:r>
            <a:endParaRPr lang="en-US" sz="1200" dirty="0"/>
          </a:p>
          <a:p>
            <a:pPr indent="0" marL="0">
              <a:buNone/>
            </a:pPr>
            <a:r>
              <a:rPr lang="en-US" sz="1200" dirty="0">
                <a:solidFill>
                  <a:srgbClr val="2A2A2A"/>
                </a:solidFill>
              </a:rPr>
              <a:t>It is not permanent; once the time is over a being may return to earth. Mokṣa is the ultimate purpose.</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Answer key (3/3)</a:t>
            </a:r>
            <a:endParaRPr lang="en-US" sz="2600" dirty="0"/>
          </a:p>
        </p:txBody>
      </p:sp>
      <p:sp>
        <p:nvSpPr>
          <p:cNvPr id="4" name="Answer 9"/>
          <p:cNvSpPr/>
          <p:nvPr/>
        </p:nvSpPr>
        <p:spPr>
          <a:xfrm>
            <a:off x="365760" y="987552"/>
            <a:ext cx="8412480" cy="699516"/>
          </a:xfrm>
          <a:prstGeom prst="roundRect">
            <a:avLst>
              <a:gd name="adj" fmla="val 7843"/>
            </a:avLst>
          </a:prstGeom>
          <a:solidFill>
            <a:srgbClr val="FFF4D6"/>
          </a:solidFill>
          <a:ln w="9525">
            <a:solidFill>
              <a:srgbClr val="EAD9C4"/>
            </a:solidFill>
            <a:prstDash val="solid"/>
          </a:ln>
        </p:spPr>
      </p:sp>
      <p:sp>
        <p:nvSpPr>
          <p:cNvPr id="5" name="Text 2"/>
          <p:cNvSpPr txBox="1"/>
          <p:nvPr/>
        </p:nvSpPr>
        <p:spPr>
          <a:xfrm>
            <a:off x="457200" y="987552"/>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Q9. How does Mahābhārata help those who are eligible but not competent?</a:t>
            </a:r>
            <a:endParaRPr lang="en-US" sz="1200" dirty="0"/>
          </a:p>
          <a:p>
            <a:pPr indent="0" marL="0">
              <a:buNone/>
            </a:pPr>
            <a:r>
              <a:rPr lang="en-US" sz="1200" dirty="0">
                <a:solidFill>
                  <a:srgbClr val="2A2A2A"/>
                </a:solidFill>
              </a:rPr>
              <a:t>It presents lofty ideas in simple words and offers a distinctive means through the many life experiences it illustrates, showing how Dharma operates in varied contexts.</a:t>
            </a:r>
            <a:endParaRPr lang="en-US" sz="1200" dirty="0"/>
          </a:p>
        </p:txBody>
      </p:sp>
      <p:sp>
        <p:nvSpPr>
          <p:cNvPr id="6" name="Answer 10"/>
          <p:cNvSpPr/>
          <p:nvPr/>
        </p:nvSpPr>
        <p:spPr>
          <a:xfrm>
            <a:off x="365760" y="1751076"/>
            <a:ext cx="8412480" cy="699516"/>
          </a:xfrm>
          <a:prstGeom prst="roundRect">
            <a:avLst>
              <a:gd name="adj" fmla="val 7843"/>
            </a:avLst>
          </a:prstGeom>
          <a:solidFill>
            <a:srgbClr val="FFF4D6"/>
          </a:solidFill>
          <a:ln w="9525">
            <a:solidFill>
              <a:srgbClr val="EAD9C4"/>
            </a:solidFill>
            <a:prstDash val="solid"/>
          </a:ln>
        </p:spPr>
      </p:sp>
      <p:sp>
        <p:nvSpPr>
          <p:cNvPr id="7" name="Text 4"/>
          <p:cNvSpPr txBox="1"/>
          <p:nvPr/>
        </p:nvSpPr>
        <p:spPr>
          <a:xfrm>
            <a:off x="457200" y="1751076"/>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Q10. What is Niṣkāma Karma and why is it the essence of Dharma?</a:t>
            </a:r>
            <a:endParaRPr lang="en-US" sz="1200" dirty="0"/>
          </a:p>
          <a:p>
            <a:pPr indent="0" marL="0">
              <a:buNone/>
            </a:pPr>
            <a:r>
              <a:rPr lang="en-US" sz="1200" dirty="0">
                <a:solidFill>
                  <a:srgbClr val="2A2A2A"/>
                </a:solidFill>
              </a:rPr>
              <a:t>Performing karma without karmic attachment, serving others while controlling the senses and mind. Vyāsa says it is the central topic of every anecdote of Mahābhārata.</a:t>
            </a:r>
            <a:endParaRPr lang="en-US" sz="1200" dirty="0"/>
          </a:p>
        </p:txBody>
      </p:sp>
      <p:sp>
        <p:nvSpPr>
          <p:cNvPr id="8" name="Answer 11"/>
          <p:cNvSpPr/>
          <p:nvPr/>
        </p:nvSpPr>
        <p:spPr>
          <a:xfrm>
            <a:off x="365760" y="2514600"/>
            <a:ext cx="8412480" cy="699516"/>
          </a:xfrm>
          <a:prstGeom prst="roundRect">
            <a:avLst>
              <a:gd name="adj" fmla="val 7843"/>
            </a:avLst>
          </a:prstGeom>
          <a:solidFill>
            <a:srgbClr val="FFF4D6"/>
          </a:solidFill>
          <a:ln w="9525">
            <a:solidFill>
              <a:srgbClr val="EAD9C4"/>
            </a:solidFill>
            <a:prstDash val="solid"/>
          </a:ln>
        </p:spPr>
      </p:sp>
      <p:sp>
        <p:nvSpPr>
          <p:cNvPr id="9" name="Text 6"/>
          <p:cNvSpPr txBox="1"/>
          <p:nvPr/>
        </p:nvSpPr>
        <p:spPr>
          <a:xfrm>
            <a:off x="457200" y="2514600"/>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Q11. Why does the chapter say inaction is inconceivable?</a:t>
            </a:r>
            <a:endParaRPr lang="en-US" sz="1200" dirty="0"/>
          </a:p>
          <a:p>
            <a:pPr indent="0" marL="0">
              <a:buNone/>
            </a:pPr>
            <a:r>
              <a:rPr lang="en-US" sz="1200" dirty="0">
                <a:solidFill>
                  <a:srgbClr val="2A2A2A"/>
                </a:solidFill>
              </a:rPr>
              <a:t>The human body is dynamic; whatever is dynamic acts and reacts, so one is always engaged in some action and must keep it beneficial to all.</a:t>
            </a:r>
            <a:endParaRPr lang="en-US" sz="1200" dirty="0"/>
          </a:p>
        </p:txBody>
      </p:sp>
      <p:sp>
        <p:nvSpPr>
          <p:cNvPr id="10" name="Answer 12"/>
          <p:cNvSpPr/>
          <p:nvPr/>
        </p:nvSpPr>
        <p:spPr>
          <a:xfrm>
            <a:off x="365760" y="3278124"/>
            <a:ext cx="8412480" cy="699516"/>
          </a:xfrm>
          <a:prstGeom prst="roundRect">
            <a:avLst>
              <a:gd name="adj" fmla="val 7843"/>
            </a:avLst>
          </a:prstGeom>
          <a:solidFill>
            <a:srgbClr val="FFF4D6"/>
          </a:solidFill>
          <a:ln w="9525">
            <a:solidFill>
              <a:srgbClr val="EAD9C4"/>
            </a:solidFill>
            <a:prstDash val="solid"/>
          </a:ln>
        </p:spPr>
      </p:sp>
      <p:sp>
        <p:nvSpPr>
          <p:cNvPr id="11" name="Text 8"/>
          <p:cNvSpPr txBox="1"/>
          <p:nvPr/>
        </p:nvSpPr>
        <p:spPr>
          <a:xfrm>
            <a:off x="457200" y="3278124"/>
            <a:ext cx="8229600" cy="699516"/>
          </a:xfrm>
          <a:prstGeom prst="rect">
            <a:avLst/>
          </a:prstGeom>
          <a:noFill/>
          <a:ln/>
        </p:spPr>
        <p:txBody>
          <a:bodyPr wrap="square" lIns="0" tIns="0" rIns="0" bIns="0" rtlCol="0" anchor="ctr"/>
          <a:lstStyle/>
          <a:p>
            <a:pPr indent="0" marL="0">
              <a:buNone/>
            </a:pPr>
            <a:r>
              <a:rPr lang="en-US" sz="1200" b="1" dirty="0">
                <a:solidFill>
                  <a:srgbClr val="8C2F1B"/>
                </a:solidFill>
              </a:rPr>
              <a:t>Q12. What personal responsibility does Niṣkāma Karma imply?</a:t>
            </a:r>
            <a:endParaRPr lang="en-US" sz="1200" dirty="0"/>
          </a:p>
          <a:p>
            <a:pPr indent="0" marL="0">
              <a:buNone/>
            </a:pPr>
            <a:r>
              <a:rPr lang="en-US" sz="1200" dirty="0">
                <a:solidFill>
                  <a:srgbClr val="2A2A2A"/>
                </a:solidFill>
              </a:rPr>
              <a:t>One is responsible for one's actions or inaction, cannot blame external forces, must weigh pros and cons and control the sense organs and manas.</a:t>
            </a:r>
            <a:endParaRPr lang="en-US" sz="12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8C2F1B"/>
                </a:solidFill>
                <a:latin typeface="Cambria" pitchFamily="34" charset="0"/>
                <a:ea typeface="Cambria" pitchFamily="34" charset="-122"/>
                <a:cs typeface="Cambria" pitchFamily="34" charset="-120"/>
              </a:rPr>
              <a:t>Rapid-fire recall</a:t>
            </a:r>
            <a:endParaRPr lang="en-US" sz="2600" dirty="0"/>
          </a:p>
        </p:txBody>
      </p:sp>
      <p:sp>
        <p:nvSpPr>
          <p:cNvPr id="4" name="Recall 1"/>
          <p:cNvSpPr/>
          <p:nvPr/>
        </p:nvSpPr>
        <p:spPr>
          <a:xfrm>
            <a:off x="365760" y="1005840"/>
            <a:ext cx="4114800" cy="1051560"/>
          </a:xfrm>
          <a:prstGeom prst="roundRect">
            <a:avLst>
              <a:gd name="adj" fmla="val 8696"/>
            </a:avLst>
          </a:prstGeom>
          <a:solidFill>
            <a:srgbClr val="FFFFFF"/>
          </a:solidFill>
          <a:ln w="25400">
            <a:solidFill>
              <a:srgbClr val="8C2F1B"/>
            </a:solidFill>
            <a:prstDash val="solid"/>
          </a:ln>
          <a:effectLst>
            <a:outerShdw sx="100000" sy="100000" kx="0" ky="0" algn="bl" rotWithShape="0" blurRad="63500" dist="25400" dir="5400000">
              <a:srgbClr val="000000">
                <a:alpha val="12000"/>
              </a:srgbClr>
            </a:outerShdw>
          </a:effectLst>
        </p:spPr>
      </p:sp>
      <p:sp>
        <p:nvSpPr>
          <p:cNvPr id="5" name="Text 2"/>
          <p:cNvSpPr txBox="1"/>
          <p:nvPr/>
        </p:nvSpPr>
        <p:spPr>
          <a:xfrm>
            <a:off x="502920" y="1060704"/>
            <a:ext cx="3840480" cy="502920"/>
          </a:xfrm>
          <a:prstGeom prst="rect">
            <a:avLst/>
          </a:prstGeom>
          <a:noFill/>
          <a:ln/>
        </p:spPr>
        <p:txBody>
          <a:bodyPr wrap="square" lIns="0" tIns="0" rIns="0" bIns="0" rtlCol="0" anchor="ctr"/>
          <a:lstStyle/>
          <a:p>
            <a:pPr indent="0" marL="0">
              <a:buNone/>
            </a:pPr>
            <a:r>
              <a:rPr lang="en-US" sz="1400" b="1" dirty="0">
                <a:solidFill>
                  <a:srgbClr val="8C2F1B"/>
                </a:solidFill>
              </a:rPr>
              <a:t>Fourfold Vedic texts = ?</a:t>
            </a:r>
            <a:endParaRPr lang="en-US" sz="1400" dirty="0"/>
          </a:p>
        </p:txBody>
      </p:sp>
      <p:sp>
        <p:nvSpPr>
          <p:cNvPr id="6" name="Text 3"/>
          <p:cNvSpPr txBox="1"/>
          <p:nvPr/>
        </p:nvSpPr>
        <p:spPr>
          <a:xfrm>
            <a:off x="50292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Saṃhitā, Āraṇyaka, Brāhmaṇa, Upaniṣad.</a:t>
            </a:r>
            <a:endParaRPr lang="en-US" sz="1300" dirty="0"/>
          </a:p>
        </p:txBody>
      </p:sp>
      <p:sp>
        <p:nvSpPr>
          <p:cNvPr id="7" name="Recall 2"/>
          <p:cNvSpPr/>
          <p:nvPr/>
        </p:nvSpPr>
        <p:spPr>
          <a:xfrm>
            <a:off x="4663440" y="1005840"/>
            <a:ext cx="4114800" cy="1051560"/>
          </a:xfrm>
          <a:prstGeom prst="roundRect">
            <a:avLst>
              <a:gd name="adj" fmla="val 8696"/>
            </a:avLst>
          </a:prstGeom>
          <a:solidFill>
            <a:srgbClr val="FFFFFF"/>
          </a:solidFill>
          <a:ln w="25400">
            <a:solidFill>
              <a:srgbClr val="E07B00"/>
            </a:solidFill>
            <a:prstDash val="solid"/>
          </a:ln>
          <a:effectLst>
            <a:outerShdw sx="100000" sy="100000" kx="0" ky="0" algn="bl" rotWithShape="0" blurRad="63500" dist="25400" dir="5400000">
              <a:srgbClr val="000000">
                <a:alpha val="12000"/>
              </a:srgbClr>
            </a:outerShdw>
          </a:effectLst>
        </p:spPr>
      </p:sp>
      <p:sp>
        <p:nvSpPr>
          <p:cNvPr id="8" name="Text 5"/>
          <p:cNvSpPr txBox="1"/>
          <p:nvPr/>
        </p:nvSpPr>
        <p:spPr>
          <a:xfrm>
            <a:off x="4800600" y="1060704"/>
            <a:ext cx="3840480" cy="502920"/>
          </a:xfrm>
          <a:prstGeom prst="rect">
            <a:avLst/>
          </a:prstGeom>
          <a:noFill/>
          <a:ln/>
        </p:spPr>
        <p:txBody>
          <a:bodyPr wrap="square" lIns="0" tIns="0" rIns="0" bIns="0" rtlCol="0" anchor="ctr"/>
          <a:lstStyle/>
          <a:p>
            <a:pPr indent="0" marL="0">
              <a:buNone/>
            </a:pPr>
            <a:r>
              <a:rPr lang="en-US" sz="1400" b="1" dirty="0">
                <a:solidFill>
                  <a:srgbClr val="E07B00"/>
                </a:solidFill>
              </a:rPr>
              <a:t>Gītā's role = ?</a:t>
            </a:r>
            <a:endParaRPr lang="en-US" sz="1400" dirty="0"/>
          </a:p>
        </p:txBody>
      </p:sp>
      <p:sp>
        <p:nvSpPr>
          <p:cNvPr id="9" name="Text 6"/>
          <p:cNvSpPr txBox="1"/>
          <p:nvPr/>
        </p:nvSpPr>
        <p:spPr>
          <a:xfrm>
            <a:off x="4800600" y="1572768"/>
            <a:ext cx="3840480" cy="438912"/>
          </a:xfrm>
          <a:prstGeom prst="rect">
            <a:avLst/>
          </a:prstGeom>
          <a:noFill/>
          <a:ln/>
        </p:spPr>
        <p:txBody>
          <a:bodyPr wrap="square" lIns="0" tIns="0" rIns="0" bIns="0" rtlCol="0" anchor="ctr"/>
          <a:lstStyle/>
          <a:p>
            <a:pPr indent="0" marL="0">
              <a:buNone/>
            </a:pPr>
            <a:r>
              <a:rPr lang="en-US" sz="1300" dirty="0">
                <a:solidFill>
                  <a:srgbClr val="2A2A2A"/>
                </a:solidFill>
              </a:rPr>
              <a:t>Technology of Vedānta.</a:t>
            </a:r>
            <a:endParaRPr lang="en-US" sz="1300" dirty="0"/>
          </a:p>
        </p:txBody>
      </p:sp>
      <p:sp>
        <p:nvSpPr>
          <p:cNvPr id="10" name="Recall 3"/>
          <p:cNvSpPr/>
          <p:nvPr/>
        </p:nvSpPr>
        <p:spPr>
          <a:xfrm>
            <a:off x="365760" y="2194560"/>
            <a:ext cx="4114800" cy="1051560"/>
          </a:xfrm>
          <a:prstGeom prst="roundRect">
            <a:avLst>
              <a:gd name="adj" fmla="val 8696"/>
            </a:avLst>
          </a:prstGeom>
          <a:solidFill>
            <a:srgbClr val="FFFFFF"/>
          </a:solidFill>
          <a:ln w="25400">
            <a:solidFill>
              <a:srgbClr val="2E7D32"/>
            </a:solidFill>
            <a:prstDash val="solid"/>
          </a:ln>
          <a:effectLst>
            <a:outerShdw sx="100000" sy="100000" kx="0" ky="0" algn="bl" rotWithShape="0" blurRad="63500" dist="25400" dir="5400000">
              <a:srgbClr val="000000">
                <a:alpha val="12000"/>
              </a:srgbClr>
            </a:outerShdw>
          </a:effectLst>
        </p:spPr>
      </p:sp>
      <p:sp>
        <p:nvSpPr>
          <p:cNvPr id="11" name="Text 8"/>
          <p:cNvSpPr txBox="1"/>
          <p:nvPr/>
        </p:nvSpPr>
        <p:spPr>
          <a:xfrm>
            <a:off x="502920" y="2249424"/>
            <a:ext cx="3840480" cy="502920"/>
          </a:xfrm>
          <a:prstGeom prst="rect">
            <a:avLst/>
          </a:prstGeom>
          <a:noFill/>
          <a:ln/>
        </p:spPr>
        <p:txBody>
          <a:bodyPr wrap="square" lIns="0" tIns="0" rIns="0" bIns="0" rtlCol="0" anchor="ctr"/>
          <a:lstStyle/>
          <a:p>
            <a:pPr indent="0" marL="0">
              <a:buNone/>
            </a:pPr>
            <a:r>
              <a:rPr lang="en-US" sz="1400" b="1" dirty="0">
                <a:solidFill>
                  <a:srgbClr val="2E7D32"/>
                </a:solidFill>
              </a:rPr>
              <a:t>Essence of Dharma = ?</a:t>
            </a:r>
            <a:endParaRPr lang="en-US" sz="1400" dirty="0"/>
          </a:p>
        </p:txBody>
      </p:sp>
      <p:sp>
        <p:nvSpPr>
          <p:cNvPr id="12" name="Text 9"/>
          <p:cNvSpPr txBox="1"/>
          <p:nvPr/>
        </p:nvSpPr>
        <p:spPr>
          <a:xfrm>
            <a:off x="50292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Niṣkāma Karma.</a:t>
            </a:r>
            <a:endParaRPr lang="en-US" sz="1300" dirty="0"/>
          </a:p>
        </p:txBody>
      </p:sp>
      <p:sp>
        <p:nvSpPr>
          <p:cNvPr id="13" name="Recall 4"/>
          <p:cNvSpPr/>
          <p:nvPr/>
        </p:nvSpPr>
        <p:spPr>
          <a:xfrm>
            <a:off x="4663440" y="2194560"/>
            <a:ext cx="4114800" cy="1051560"/>
          </a:xfrm>
          <a:prstGeom prst="roundRect">
            <a:avLst>
              <a:gd name="adj" fmla="val 8696"/>
            </a:avLst>
          </a:prstGeom>
          <a:solidFill>
            <a:srgbClr val="FFFFFF"/>
          </a:solidFill>
          <a:ln w="25400">
            <a:solidFill>
              <a:srgbClr val="6A1B9A"/>
            </a:solidFill>
            <a:prstDash val="solid"/>
          </a:ln>
          <a:effectLst>
            <a:outerShdw sx="100000" sy="100000" kx="0" ky="0" algn="bl" rotWithShape="0" blurRad="63500" dist="25400" dir="5400000">
              <a:srgbClr val="000000">
                <a:alpha val="12000"/>
              </a:srgbClr>
            </a:outerShdw>
          </a:effectLst>
        </p:spPr>
      </p:sp>
      <p:sp>
        <p:nvSpPr>
          <p:cNvPr id="14" name="Text 11"/>
          <p:cNvSpPr txBox="1"/>
          <p:nvPr/>
        </p:nvSpPr>
        <p:spPr>
          <a:xfrm>
            <a:off x="4800600" y="2249424"/>
            <a:ext cx="3840480" cy="502920"/>
          </a:xfrm>
          <a:prstGeom prst="rect">
            <a:avLst/>
          </a:prstGeom>
          <a:noFill/>
          <a:ln/>
        </p:spPr>
        <p:txBody>
          <a:bodyPr wrap="square" lIns="0" tIns="0" rIns="0" bIns="0" rtlCol="0" anchor="ctr"/>
          <a:lstStyle/>
          <a:p>
            <a:pPr indent="0" marL="0">
              <a:buNone/>
            </a:pPr>
            <a:r>
              <a:rPr lang="en-US" sz="1400" b="1" dirty="0">
                <a:solidFill>
                  <a:srgbClr val="6A1B9A"/>
                </a:solidFill>
              </a:rPr>
              <a:t>Is heaven final?</a:t>
            </a:r>
            <a:endParaRPr lang="en-US" sz="1400" dirty="0"/>
          </a:p>
        </p:txBody>
      </p:sp>
      <p:sp>
        <p:nvSpPr>
          <p:cNvPr id="15" name="Text 12"/>
          <p:cNvSpPr txBox="1"/>
          <p:nvPr/>
        </p:nvSpPr>
        <p:spPr>
          <a:xfrm>
            <a:off x="4800600" y="2761488"/>
            <a:ext cx="3840480" cy="438912"/>
          </a:xfrm>
          <a:prstGeom prst="rect">
            <a:avLst/>
          </a:prstGeom>
          <a:noFill/>
          <a:ln/>
        </p:spPr>
        <p:txBody>
          <a:bodyPr wrap="square" lIns="0" tIns="0" rIns="0" bIns="0" rtlCol="0" anchor="ctr"/>
          <a:lstStyle/>
          <a:p>
            <a:pPr indent="0" marL="0">
              <a:buNone/>
            </a:pPr>
            <a:r>
              <a:rPr lang="en-US" sz="1300" dirty="0">
                <a:solidFill>
                  <a:srgbClr val="2A2A2A"/>
                </a:solidFill>
              </a:rPr>
              <a:t>No, it is impermanent.</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9A8A8A"/>
                </a:solidFill>
                <a:latin typeface="Calibri"/>
                <a:ea typeface="Calibri"/>
                <a:cs typeface="Calibri"/>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365760" y="201168"/>
            <a:ext cx="8412480" cy="640080"/>
          </a:xfrm>
          <a:prstGeom prst="rect">
            <a:avLst/>
          </a:prstGeom>
          <a:noFill/>
          <a:ln/>
        </p:spPr>
        <p:txBody>
          <a:bodyPr wrap="square" lIns="0" tIns="0" rIns="0" bIns="0" rtlCol="0" anchor="ctr"/>
          <a:lstStyle/>
          <a:p>
            <a:pPr algn="l" indent="0" marL="0">
              <a:buNone/>
            </a:pPr>
            <a:r>
              <a:rPr lang="en-US" sz="2600" b="1" dirty="0">
                <a:solidFill>
                  <a:srgbClr val="F2B632"/>
                </a:solidFill>
                <a:latin typeface="Cambria" pitchFamily="34" charset="0"/>
                <a:ea typeface="Cambria" pitchFamily="34" charset="-122"/>
                <a:cs typeface="Cambria" pitchFamily="34" charset="-120"/>
              </a:rPr>
              <a:t>Remember and revise</a:t>
            </a:r>
            <a:endParaRPr lang="en-US" sz="2600" dirty="0"/>
          </a:p>
        </p:txBody>
      </p:sp>
      <p:sp>
        <p:nvSpPr>
          <p:cNvPr id="4" name="Text 1"/>
          <p:cNvSpPr txBox="1"/>
          <p:nvPr/>
        </p:nvSpPr>
        <p:spPr>
          <a:xfrm>
            <a:off x="457200" y="1005840"/>
            <a:ext cx="5120640" cy="3657600"/>
          </a:xfrm>
          <a:prstGeom prst="rect">
            <a:avLst/>
          </a:prstGeom>
          <a:noFill/>
          <a:ln/>
        </p:spPr>
        <p:txBody>
          <a:bodyPr wrap="square" lIns="0" tIns="0" rIns="0" bIns="0" rtlCol="0" anchor="t"/>
          <a:lstStyle/>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Itihāsa conveys universal truths through stories of humans and non-humans; the truths come from Ṛṣis' experience (mantra-draṣṭā).</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Kṛṣṇa Dvaipāyana compiled and classified the Vedic aphorisms, hence Veda Vyāsa.</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Three kinds of Vedic statements: Praśasti, Vidhi, Jñāna Vākya (statement of truth).</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Hierarchy: Vedas/Upaniṣads = sourcebooks; Brahma Sūtra = text; Bhagavadgītā = technology.</a:t>
            </a:r>
            <a:endParaRPr lang="en-US" sz="1300" dirty="0"/>
          </a:p>
          <a:p>
            <a:pPr marL="177800" indent="-177800">
              <a:spcAft>
                <a:spcPts val="700"/>
              </a:spcAft>
              <a:buSzPct val="100000"/>
              <a:buChar char="•"/>
            </a:pPr>
            <a:r>
              <a:rPr lang="en-US" sz="1300" dirty="0">
                <a:solidFill>
                  <a:srgbClr val="FFFFFF"/>
                </a:solidFill>
                <a:latin typeface="Calibri" pitchFamily="34" charset="0"/>
                <a:ea typeface="Calibri" pitchFamily="34" charset="-122"/>
                <a:cs typeface="Calibri" pitchFamily="34" charset="-120"/>
              </a:rPr>
              <a:t>Eligibility vs competence explains the need for the fifth Veda; Niṣkāma Karma = essence of Dharma.</a:t>
            </a:r>
            <a:endParaRPr lang="en-US" sz="1300" dirty="0"/>
          </a:p>
        </p:txBody>
      </p:sp>
      <p:sp>
        <p:nvSpPr>
          <p:cNvPr id="5" name="Homework card"/>
          <p:cNvSpPr/>
          <p:nvPr/>
        </p:nvSpPr>
        <p:spPr>
          <a:xfrm>
            <a:off x="5852160" y="1005840"/>
            <a:ext cx="2926080" cy="3566160"/>
          </a:xfrm>
          <a:prstGeom prst="roundRect">
            <a:avLst>
              <a:gd name="adj" fmla="val 3750"/>
            </a:avLst>
          </a:prstGeom>
          <a:solidFill>
            <a:srgbClr val="8C2F1B"/>
          </a:solidFill>
          <a:ln w="25400">
            <a:solidFill>
              <a:srgbClr val="F2B632"/>
            </a:solidFill>
            <a:prstDash val="solid"/>
          </a:ln>
        </p:spPr>
      </p:sp>
      <p:sp>
        <p:nvSpPr>
          <p:cNvPr id="6" name="Text 3"/>
          <p:cNvSpPr txBox="1"/>
          <p:nvPr/>
        </p:nvSpPr>
        <p:spPr>
          <a:xfrm>
            <a:off x="6035040" y="1097280"/>
            <a:ext cx="2560320" cy="320040"/>
          </a:xfrm>
          <a:prstGeom prst="rect">
            <a:avLst/>
          </a:prstGeom>
          <a:noFill/>
          <a:ln/>
        </p:spPr>
        <p:txBody>
          <a:bodyPr wrap="square" lIns="0" tIns="0" rIns="0" bIns="0" rtlCol="0" anchor="ctr"/>
          <a:lstStyle/>
          <a:p>
            <a:pPr indent="0" marL="0">
              <a:buNone/>
            </a:pPr>
            <a:r>
              <a:rPr lang="en-US" sz="1300" b="1" spc="400" kern="0" dirty="0">
                <a:solidFill>
                  <a:srgbClr val="F2B632"/>
                </a:solidFill>
              </a:rPr>
              <a:t>HOMEWORK</a:t>
            </a:r>
            <a:endParaRPr lang="en-US" sz="1300" dirty="0"/>
          </a:p>
        </p:txBody>
      </p:sp>
      <p:sp>
        <p:nvSpPr>
          <p:cNvPr id="7" name="Text 4"/>
          <p:cNvSpPr txBox="1"/>
          <p:nvPr/>
        </p:nvSpPr>
        <p:spPr>
          <a:xfrm>
            <a:off x="6035040" y="1508760"/>
            <a:ext cx="2560320" cy="29260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Redraw the mind map from memory.</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Answer Q1 and Q2 of the quiz in writing.</a:t>
            </a:r>
            <a:endParaRPr lang="en-US" sz="1300" dirty="0"/>
          </a:p>
          <a:p>
            <a:pPr marL="177800" indent="-1778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Learn the numbers slide by heart.</a:t>
            </a:r>
            <a:endParaRPr lang="en-US" sz="1300" dirty="0"/>
          </a:p>
          <a:p>
            <a:pPr marL="177800" indent="-177800">
              <a:buSzPct val="100000"/>
              <a:buChar char="•"/>
            </a:pPr>
            <a:r>
              <a:rPr lang="en-US" sz="1300" dirty="0">
                <a:solidFill>
                  <a:srgbClr val="FFFFFF"/>
                </a:solidFill>
                <a:latin typeface="Calibri" pitchFamily="34" charset="0"/>
                <a:ea typeface="Calibri" pitchFamily="34" charset="-122"/>
                <a:cs typeface="Calibri" pitchFamily="34" charset="-120"/>
              </a:rPr>
              <a:t>Prepare one question to ask the class tomorrow.</a:t>
            </a:r>
            <a:endParaRPr lang="en-US" sz="1300" dirty="0"/>
          </a:p>
        </p:txBody>
      </p:sp>
      <p:sp>
        <p:nvSpPr>
          <p:cNvPr id="25" name="Slide Number Placeholder 0"/>
          <p:cNvSpPr>
            <a:spLocks noGrp="1"/>
          </p:cNvSpPr>
          <p:nvPr>
            <p:ph type="sldNum" sz="quarter" idx="4294967295"/>
          </p:nvPr>
        </p:nvSpPr>
        <p:spPr>
          <a:xfrm>
            <a:off x="8229600" y="4809744"/>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BFA9A9"/>
                </a:solidFill>
                <a:latin typeface="Calibri"/>
                <a:ea typeface="Calibri"/>
                <a:cs typeface="Calibri"/>
              </a:defRPr>
            </a:lvl1pPr>
          </a:lstStyle>
          <a:p>
            <a:pPr algn="l"/>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Mahabharata Teaching">
  <a:themeElements>
    <a:clrScheme name="Mahabharata Teaching">
      <a:dk1>
        <a:srgbClr val="2A2A2A"/>
      </a:dk1>
      <a:lt1>
        <a:srgbClr val="FFFFFF"/>
      </a:lt1>
      <a:dk2>
        <a:srgbClr val="2B0F1A"/>
      </a:dk2>
      <a:lt2>
        <a:srgbClr val="FFF4D6"/>
      </a:lt2>
      <a:accent1>
        <a:srgbClr val="8C2F1B"/>
      </a:accent1>
      <a:accent2>
        <a:srgbClr val="E07B00"/>
      </a:accent2>
      <a:accent3>
        <a:srgbClr val="F2B632"/>
      </a:accent3>
      <a:accent4>
        <a:srgbClr val="2E7D32"/>
      </a:accent4>
      <a:accent5>
        <a:srgbClr val="6A1B9A"/>
      </a:accent5>
      <a:accent6>
        <a:srgbClr val="1565C0"/>
      </a:accent6>
      <a:hlink>
        <a:srgbClr val="8C2F1B"/>
      </a:hlink>
      <a:folHlink>
        <a:srgbClr val="6A1B9A"/>
      </a:folHlink>
    </a:clrScheme>
    <a:fontScheme name="Mahabharata Teaching">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Mahābhārata: What's and What Nots</dc:title>
  <dc:subject>PptxGenJS Presentation</dc:subject>
  <dc:creator>ADM Teaching Deck</dc:creator>
  <cp:lastModifiedBy>ADM Teaching Deck</cp:lastModifiedBy>
  <cp:revision>1</cp:revision>
  <dcterms:created xsi:type="dcterms:W3CDTF">2026-10-04T11:54:21Z</dcterms:created>
  <dcterms:modified xsi:type="dcterms:W3CDTF">2026-10-04T11:54:21Z</dcterms:modified>
</cp:coreProperties>
</file>